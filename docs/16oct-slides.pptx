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5150CD51-1416-0605-1040-B230BCCF54B9}">
          <p14:sldIdLst>
            <p14:sldId id="256"/>
            <p14:sldId id="257"/>
            <p14:sldId id="258"/>
            <p14:sldId id="259"/>
            <p14:sldId id="260"/>
          </p14:sldIdLst>
        </p14:section>
        <p14:section name="Frontend" id="{67FC9484-EC9C-0A77-6BF1-BEA3B80E5917}">
          <p14:sldIdLst>
            <p14:sldId id="261"/>
            <p14:sldId id="262"/>
            <p14:sldId id="263"/>
          </p14:sldIdLst>
        </p14:section>
        <p14:section name="Backend" id="{2E96F242-9B41-AEF1-C8A1-6A70D79B7031}">
          <p14:sldIdLst>
            <p14:sldId id="264"/>
            <p14:sldId id="265"/>
            <p14:sldId id="266"/>
            <p14:sldId id="267"/>
            <p14:sldId id="268"/>
            <p14:sldId id="269"/>
            <p14:sldId id="270"/>
          </p14:sldIdLst>
        </p14:section>
        <p14:section name="Security, cost and status" id="{8CC6CD5F-6710-3726-3746-549FE7F6F86A}">
          <p14:sldIdLst>
            <p14:sldId id="271"/>
            <p14:sldId id="272"/>
            <p14:sldId id="273"/>
          </p14:sldIdLst>
        </p14:section>
        <p14:section name="Your questions" id="{415E222C-7935-077E-2CB2-95AB2EF37AD0}">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962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the Prodia News Desk works. Every slide has two layers: the plain idea on the left, and an “Under the hood” box that names the actual technology, for anyone who wants to go deeper. First comes an overview, then the frontend (what you see), then the backend (what runs in the cloud), then security, cost and status. The last three slides answer your questions: how the stock chart turns numbers into a picture, what open-weight and closed-weight AI models are, and how we could build our own model with open-source tools. All screenshots come from the public demo, which uses fictional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News Desk does four jobs on one screen. News: every morning it searches for articles about Prodia and its group companies, and an AI model suggests topics and a likely effect on the PRDA share price. Review: nothing goes into the archive until you approve it, so you decide what counts as saved news. Chat: an assistant answers questions using only the saved articles and PRDA prices, and shows its sources. Stock: the right-hand panel shows PRDA price and volume, with your saved news plotted on the chart. Telegram ties it together: one short message after each daily run, and alerts when trading volume is unusual or a run fails.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typical day, in Singapore time. At 06:00 the daily run starts </a:t>
            </a:r>
            <a:r>
              <a:rPr lang="en-US" dirty="0"/>
              <a:t>on its own: it searches for news published since the last successful run, filters it and tags it. When it finishes, a short digest arrives on Telegram with a button that opens the Review tab. You review the new items in the morning: save, skip or correct the suggestions</a:t>
            </a:r>
            <a:r>
              <a:rPr lang="en-US"/>
              <a:t>. On weekdays from 10:00 to 17:45, which covers the Indonesia Stock Exchange’s trading hours (09:00 to 16:45 in Jakarta), the PRDA price refreshes </a:t>
            </a:r>
            <a:r>
              <a:rPr lang="en-US" dirty="0"/>
              <a:t>every 15 minutes; if trading volume reaches 2.5 times its 20-day average you get one alert that day</a:t>
            </a:r>
            <a:r>
              <a:rPr lang="en-US"/>
              <a:t>. At 18:30 (17:30 in Jakarta) there is an </a:t>
            </a:r>
            <a:r>
              <a:rPr lang="en-US" dirty="0"/>
              <a:t>end-of-day refresh. The chat is available any time. The 06:00 start is a default that you can change in Settings.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in one picture. On the left is you, using a browser on a computer or a phone. In the middle is our part of Amazon Web Services: a website host, a login service, a front door that every request passes through, small worker programs that do the actual work, an alarm clock that starts scheduled jobs, and storage. On the right are the outside services we rely on: Google News and GDELT to find news, Yahoo Finance for prices, AI providers such as Anthropic for the language models, and Telegram for messages. Your browser never talks to those outside services directly; everything goes through our cloud. The box on the right maps each plain name to the AWS product behind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restaurant is a useful way to think about frontend and backend. The frontend is the dining room: everything you see and touch, such as the tabs, the buttons and the chart. It runs inside your browser. The backend is the kitchen: it finds the news, runs the AI, keeps the schedule and stores everything. It runs in AWS. The API is the waiter. It carries each order from the dining room to the kitchen and brings back the result, and it checks your login pass on every single order. For example, when you open the News tab, the browser asks the API for saved news from the last 30 days, the backend returns a list, and the screen turns that list into cards.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screen, from the demo with fictional data. One: the tabs. News holds the articles you have saved, Review holds new items waiting for you, and Chat is the assistant. Two: search and filters for keywords, topics, sentiment and time range. Three: an article card with its sentiment badge, source, summary, topic chips and a link to the original article. Four: the divider; drag it to give more room to the news or to the chart, or collapse the stock panel completely. Five: the PRDA panel with the latest price, the chart and the unusual-volume list. Six: the digest banner with the latest summary and a button that jumps to Review. The page remembers your layout.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when you open the dashboard. First, CloudFront, Amazon’s content delivery network, sends the app’s files from a server near you, so it loads quickly. Second, you sign in through Amazon Cognito. It checks your password, plus your authenticator code if you set one up, and gives the browser a digital pass: a signed token that expires after a while. Third, each tab asks the API for the data it needs and shows the pass; API Gateway refuses any request without a valid one. Fourth, the answer comes back as JSON, like the small example at the bottom, and the app draws it. It also keeps a copy, so switching tabs is instant, and refreshes it quietly in the background.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is where you stay in control. Each card shows the AI’s suggestion: topics, sentiment, a one-line reason and its confidence. One: change the sentiment with one click. Two: remove a topic with the cross or add one with the plus. Three: edit the reason or the summary in place; the AI’s confidence is shown underneath. Four: Save or Skip. Keyboard shortcuts make it fast: J and K move between cards, S saves and X skips, and “Save all as suggested” approves a whole batch. When you save, the article appears in News, the chat can find it, and your decision, including what you changed, is stored as a training example. Skipped articles never come back in later runs.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“serverless”. That does not mean there are no computers; it means AWS runs them for us. Instead of renting a server that is on all day and that we must patch and monitor, we give AWS small pieces of code. AWS runs each piece only when there is work, for example when you open a tab or when the 06:00 alarm fires, and bills by the millisecond. At this scale the AWS bill is under ten dollars a month. These are the ten building blocks, each with its plain role and its AWS name. The whole setup is written as code with the AWS CDK, so it can be rebuilt in another account or region with one command, and cdk-nag checks it against AWS security rules on every build.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every morning, run by AWS Step Functions. One: search. For each topic, the run sends its search queries to Google News and to GDELT, in Indonesian and English, covering the time since the last successful run. Two: remove duplicates. The same article found by several searches is merged, and anything already seen or skipped before is dropped. Three: a quick AI screen reads only the headlines and sets obvious noise aside; you can still restore those items for 30 days. Four: for the rest, it opens the publisher’s page and extracts the article text. Five: the AI tags each article. Six: it writes a digest and sends it to Telegram. The numbers are only an example. When you add a topic, the same workflow runs over past months: the backfill.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Tagging is one carefully instructed AI call per article. The model receives background about Prodia and its group companies, your topic definitions, the sentiment rules and the article text. The article is clearly marked as untrusted data, so if a web page contains hidden instructions, the model treats them as content, not commands. The model must answer in a fixed format: topics, sentiment, reason, summary and confidence. The app checks that format before saving anything, retries once if something goes wrong, and can fall back to a backup model. Positive and negative mean a likely effect on the share price. Neutral means relevant but unlikely to move it. Undecided means it could matter, but the direction is unclear.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lives in four places, each suited to one kind of data. DynamoDB is a fast database of records: articles and their tags, topics, daily runs, digests, price candles, settings and your feedback. S3 stores larger files, such as the full text of each article and your chat conversations; raw search results are deleted automatically after 90 days. S3 Vectors holds the “meaning index” that lets the chat search by meaning instead of exact words. Secrets Manager is a vault for the API keys of the AI providers and the Telegram bot. At the bottom is one record in its stored format: a single trading day of PRDA prices. Slide 19 shows how rows like this become the chart.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assistant does research before it answers. Take the question “What negative news appeared last month and how did the PRDA share price react?” The model decides which tools it needs. It searches your saved news by meaning, limited to last month and to negative items, and looks up PRDA prices for that period. Only then does it write the answer, citing the articles it used, and the text streams in as it is written. Search by meaning works because each saved article is turned into a list of 768 numbers that capture what it is about. Similar meanings get similar numbers, so a search for “tariff cut” can also find an article about lower BPJS reimbursement. The assistant can only read; it cannot change or delete anything.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come from Yahoo Finance, which is free but unofficial</a:t>
            </a:r>
            <a:r>
              <a:rPr lang="en-US"/>
              <a:t>. On weekdays from 10:00 to 17:45 Singapore time, which is 09:00 to 16:45 in Jakarta where the exchange trades, the system fetches the PRDA price </a:t>
            </a:r>
            <a:r>
              <a:rPr lang="en-US" dirty="0"/>
              <a:t>every 15 minutes; the data is about 15 minutes delayed</a:t>
            </a:r>
            <a:r>
              <a:rPr lang="en-US"/>
              <a:t>. At 18:30 Singapore time an end-of-day </a:t>
            </a:r>
            <a:r>
              <a:rPr lang="en-US" dirty="0"/>
              <a:t>refresh fills in the daily figures. The system also watches trading volume: if a day’s volume reaches 2.5 times the average of the previous 20 trading days, that bar is drawn in bold, the day is listed under Unusual volume, and you get one Telegram alert that day. If Yahoo fails three times in a row, the panel shows “Not updating” and you get an alert. If Yahoo becomes unreliable for good, one setting switches to EODHD, a paid data provider at about twenty dollars a month.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layer is not tied to one company. Every AI task, from suggesting search queries to tagging, writing the digest and answering chat questions, has its own model setting. The default everywhere is Claude Opus 5.5 from Anthropic, but any task can switch to another Claude model, to OpenAI or Google models, or to hundreds of models through OpenRouter. Each task can also have a backup model and an “effort” level that controls how hard the model thinks. Before switching the tagging model, a script scores the candidate against your own past decisions, so the choice is based on evidence. Model choice is also the main cost lever: tagging costs roughly 30 to 45 dollars a month with Opus and 1 to 3 dollars with Haiku.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into every layer. Only invited users can sign in; there is no public sign-up, and you can add an authenticator app as a second factor. Every request to the API must carry a valid login pass, and an automated test checks that every route is protected. Storage is private and encrypted. API keys are kept in AWS Secrets Manager, never in the code. The chat assistant can only read data, and article text is treated as untrusted, so a malicious web page cannot instruct the AI to do anything. The article reader refuses to visit internal network addresses, which blocks a common attack. Each function has only the permissions it needs, and AWS security rules are checked on every build.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costs are small. AWS itself is under ten dollars a month at this scale. The news and price sources are free, and so is Telegram. The AI is the main cost: about 30 to 45 dollars a month for daily tagging with Claude Opus, which drops to 1 to 3 dollars with Claude Haiku, and roughly ten cents per chat question. The main risk is that the free sources are unofficial. Google News links are decoded with an unofficial method that can break; if it does, we keep the Google link, and GDELT already gives direct links. Yahoo may block cloud servers; the panel shows it and alerts you. GDELT only reaches back about three months. Each risk has a documented paid fallback; prices were checked in October 2026.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The dashboard, the news pipeline, the chat assistant and the stock panel are built</a:t>
            </a:r>
            <a:r>
              <a:rPr lang="en-US"/>
              <a:t>. 96 automated tests </a:t>
            </a:r>
            <a:r>
              <a:rPr lang="en-US" dirty="0"/>
              <a:t>and the AWS security checks pass, and the public demo shows the whole interface with fictional data</a:t>
            </a:r>
            <a:r>
              <a:rPr lang="en-US"/>
              <a:t>. Nothing runs on AWS yet: it is set up for the AWS Singapore region, close to you, and goes live after a final review. </a:t>
            </a:r>
            <a:r>
              <a:rPr lang="en-US" dirty="0"/>
              <a:t>Going live takes one command, followed by a few setup steps: add the AI and Telegram keys, invite you as a user, connect Telegram, and add the topics to follow; each new topic automatically searches past news. Ideas for later: letting other AI tools query the archive through an MCP endpoint, saving or skipping directly from Telegram, grouping near-duplicate stories, and watching IDX company disclosures.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how the chart stores a CSV, and why it shows a chart instead of a grid like Excel. The key point: a CSV is just text, numbers separated by commas. It has no look of its own; every program decides how to show it, and Excel chooses a grid. Our app stores prices as one database record per trading day rather than as a CSV file, and sends them to your browser as JSON, but it is the same kind of data: date, open, high, low, close and volume. The chart library, TradingView Lightweight Charts, then draws each row. The date sets the horizontal position and the prices set the height. Open and close form the thick body, high and low the thin wick, green if the price closed higher than it opened and red if lower, with volume as a bar underneath. The chart stores nothing itself; it redraws from the data every time you zoom, drag or hover. The table button in the stock panel shows the same rows as a grid.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model is essentially a very large file of numbers called weights. Training sets those numbers; using the model means doing arithmetic with them. A model with 70 billion weights at 16-bit precision is about 140 gigabytes. Closed-weight models such as Claude, GPT and Gemini never leave the company that made them: you send text to their service and get an answer back, paying per use, and they handle the hardware and the improvements. Open-weight models such as Llama, Qwen, DeepSeek, Mistral, Gemma or OpenAI’s gpt-oss can be downloaded, run on your own servers or cloud, and fine-tuned on your data, which never leaves your control; but you pay for GPUs and upkeep, and licenses differ. Open-weight is not the same as open source. In News Desk the defaults are closed Claude models, but any task can switch to an open-weight model through OpenRouter.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this question as: how could we build our own AI model with open-source tools? Almost nobody trains a model from scratch; that takes trillions of words and millions of dollars. Instead you start from an existing open-weight model and teach it your task with your own examples. The good news is that the app already collects them: every save, skip and edit is stored next to the AI’s original suggestion. The options form a ladder. One: examples in the prompt, which the app can already do. Two: a small classifier trained on your decisions, cheap to run. Three: fine-tuning a small open-weight model with a technique called LoRA, a few hours on a rented GPU, after which we must host it, at hundreds of dollars a month. A project would collect, clean, train, test against your past decisions, plug the model in and keep monitoring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202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83080"/>
            <a:ext cx="5257800" cy="1463040"/>
          </a:xfrm>
          <a:prstGeom prst="rect">
            <a:avLst/>
          </a:prstGeom>
          <a:noFill/>
          <a:ln/>
        </p:spPr>
        <p:txBody>
          <a:bodyPr wrap="square" rtlCol="0"/>
          <a:lstStyle>
            <a:lvl1pPr marL="0" indent="0" algn="l">
              <a:buNone/>
              <a:defRPr lang="en-US" sz="4000" b="1" dirty="0">
                <a:solidFill>
                  <a:srgbClr val="FFFFFF"/>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3401568"/>
            <a:ext cx="5120640" cy="868680"/>
          </a:xfrm>
          <a:prstGeom prst="rect">
            <a:avLst/>
          </a:prstGeom>
          <a:noFill/>
          <a:ln/>
        </p:spPr>
        <p:txBody>
          <a:bodyPr wrap="square" rtlCol="0"/>
          <a:lstStyle>
            <a:lvl1pPr marL="0" indent="0">
              <a:buNone/>
              <a:defRPr lang="en-US" sz="2000" dirty="0">
                <a:solidFill>
                  <a:srgbClr val="DCE3EA"/>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94944"/>
            <a:ext cx="11094415" cy="676656"/>
          </a:xfrm>
          <a:prstGeom prst="rect">
            <a:avLst/>
          </a:prstGeom>
          <a:noFill/>
          <a:ln/>
        </p:spPr>
        <p:txBody>
          <a:bodyPr wrap="square" rtlCol="0"/>
          <a:lstStyle>
            <a:lvl1pPr marL="0" indent="0" algn="l">
              <a:buNone/>
              <a:defRPr lang="en-US" sz="3400" b="1" dirty="0">
                <a:solidFill>
                  <a:srgbClr val="16202C"/>
                </a:solidFill>
              </a:defRPr>
            </a:lvl1pPr>
          </a:lstStyle>
          <a:p>
            <a:pPr marL="0" indent="0" algn="l">
              <a:buNone/>
            </a:pPr>
            <a:endParaRPr lang="en-US" sz="3400" dirty="0"/>
          </a:p>
        </p:txBody>
      </p:sp>
      <p:sp>
        <p:nvSpPr>
          <p:cNvPr id="3" name="Text 0"/>
          <p:cNvSpPr>
            <a:spLocks noGrp="1"/>
          </p:cNvSpPr>
          <p:nvPr>
            <p:ph type="body" idx="101" hasCustomPrompt="1"/>
          </p:nvPr>
        </p:nvSpPr>
        <p:spPr>
          <a:xfrm>
            <a:off x="548640" y="1371600"/>
            <a:ext cx="11094415" cy="621792"/>
          </a:xfrm>
          <a:prstGeom prst="rect">
            <a:avLst/>
          </a:prstGeom>
          <a:noFill/>
          <a:ln/>
        </p:spPr>
        <p:txBody>
          <a:bodyPr wrap="square" rtlCol="0"/>
          <a:lstStyle>
            <a:lvl1pPr marL="0" indent="0">
              <a:buNone/>
              <a:defRPr lang="en-US" sz="1800" dirty="0">
                <a:solidFill>
                  <a:srgbClr val="4A5563"/>
                </a:solidFill>
              </a:defRPr>
            </a:lvl1pPr>
          </a:lstStyle>
          <a:p>
            <a:pPr marL="0" indent="0">
              <a:buNone/>
            </a:pPr>
            <a:endParaRPr lang="en-US" sz="1800" dirty="0"/>
          </a:p>
        </p:txBody>
      </p:sp>
      <p:sp>
        <p:nvSpPr>
          <p:cNvPr id="4" name="Text 0"/>
          <p:cNvSpPr/>
          <p:nvPr/>
        </p:nvSpPr>
        <p:spPr>
          <a:xfrm>
            <a:off x="548640" y="6428232"/>
            <a:ext cx="5486400" cy="256032"/>
          </a:xfrm>
          <a:prstGeom prst="rect">
            <a:avLst/>
          </a:prstGeom>
          <a:noFill/>
          <a:ln/>
        </p:spPr>
        <p:txBody>
          <a:bodyPr wrap="square" lIns="0" tIns="0" rIns="0" bIns="0" rtlCol="0" anchor="ctr"/>
          <a:lstStyle/>
          <a:p>
            <a:pPr marL="0" indent="0">
              <a:buNone/>
            </a:pPr>
            <a:r>
              <a:rPr lang="en-US" sz="1000" dirty="0">
                <a:solidFill>
                  <a:srgbClr val="6B7280"/>
                </a:solidFill>
              </a:rPr>
              <a:t>Prodia News Desk · How it works</a:t>
            </a:r>
            <a:endParaRPr lang="en-US" sz="1000" dirty="0"/>
          </a:p>
        </p:txBody>
      </p:sp>
      <p:sp>
        <p:nvSpPr>
          <p:cNvPr id="25"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7.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32.png"/><Relationship Id="rId3" Type="http://schemas.openxmlformats.org/officeDocument/2006/relationships/image" Target="../media/image15.png"/><Relationship Id="rId7" Type="http://schemas.openxmlformats.org/officeDocument/2006/relationships/image" Target="../media/image13.png"/><Relationship Id="rId12"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image" Target="../media/image12.png"/><Relationship Id="rId4" Type="http://schemas.openxmlformats.org/officeDocument/2006/relationships/image" Target="../media/image14.png"/><Relationship Id="rId9" Type="http://schemas.openxmlformats.org/officeDocument/2006/relationships/image" Target="../media/image29.png"/><Relationship Id="rId1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33.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9.jp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50.png"/><Relationship Id="rId4" Type="http://schemas.openxmlformats.org/officeDocument/2006/relationships/hyperlink" Target="https://news-desk-demo.vercel.app"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417320"/>
            <a:ext cx="5029200" cy="292608"/>
          </a:xfrm>
          <a:prstGeom prst="rect">
            <a:avLst/>
          </a:prstGeom>
          <a:noFill/>
          <a:ln/>
        </p:spPr>
        <p:txBody>
          <a:bodyPr wrap="square" lIns="0" tIns="0" rIns="0" bIns="0" rtlCol="0" anchor="t"/>
          <a:lstStyle/>
          <a:p>
            <a:pPr marL="0" indent="0">
              <a:buNone/>
            </a:pPr>
            <a:r>
              <a:rPr lang="en-US" sz="1100" b="1" kern="0" spc="200" dirty="0">
                <a:solidFill>
                  <a:srgbClr val="93A4B8"/>
                </a:solidFill>
              </a:rPr>
              <a:t>16 OCTOBER 2026</a:t>
            </a:r>
            <a:endParaRPr lang="en-US" sz="1100" dirty="0"/>
          </a:p>
        </p:txBody>
      </p:sp>
      <p:sp>
        <p:nvSpPr>
          <p:cNvPr id="3" name="Text 0"/>
          <p:cNvSpPr>
            <a:spLocks noGrp="1"/>
          </p:cNvSpPr>
          <p:nvPr>
            <p:ph type="title" idx="100" hasCustomPrompt="1"/>
          </p:nvPr>
        </p:nvSpPr>
        <p:spPr>
          <a:xfrm>
            <a:off x="640080" y="1783080"/>
            <a:ext cx="5257800" cy="1463040"/>
          </a:xfrm>
          <a:prstGeom prst="rect">
            <a:avLst/>
          </a:prstGeom>
          <a:noFill/>
          <a:ln/>
        </p:spPr>
        <p:txBody>
          <a:bodyPr wrap="square" lIns="0" tIns="0" rIns="0" bIns="0" rtlCol="0" anchor="b"/>
          <a:lstStyle/>
          <a:p>
            <a:pPr marL="0" indent="0" algn="l">
              <a:buNone/>
            </a:pPr>
            <a:r>
              <a:rPr lang="en-US" sz="4000" b="1" dirty="0" err="1">
                <a:solidFill>
                  <a:srgbClr val="FFFFFF"/>
                </a:solidFill>
              </a:rPr>
              <a:t>Prodia</a:t>
            </a:r>
            <a:r>
              <a:rPr lang="en-US" sz="4000" b="1" dirty="0">
                <a:solidFill>
                  <a:srgbClr val="FFFFFF"/>
                </a:solidFill>
              </a:rPr>
              <a:t> News Desk</a:t>
            </a:r>
            <a:endParaRPr lang="en-US" sz="4000" dirty="0"/>
          </a:p>
        </p:txBody>
      </p:sp>
      <p:sp>
        <p:nvSpPr>
          <p:cNvPr id="4" name="Text 0"/>
          <p:cNvSpPr>
            <a:spLocks noGrp="1"/>
          </p:cNvSpPr>
          <p:nvPr>
            <p:ph type="body" idx="101" hasCustomPrompt="1"/>
          </p:nvPr>
        </p:nvSpPr>
        <p:spPr>
          <a:xfrm>
            <a:off x="640080" y="3401568"/>
            <a:ext cx="5120640" cy="868680"/>
          </a:xfrm>
          <a:prstGeom prst="rect">
            <a:avLst/>
          </a:prstGeom>
          <a:noFill/>
          <a:ln/>
        </p:spPr>
        <p:txBody>
          <a:bodyPr wrap="square" lIns="0" tIns="0" rIns="0" bIns="0" rtlCol="0" anchor="t"/>
          <a:lstStyle/>
          <a:p>
            <a:pPr marL="0" indent="0">
              <a:buNone/>
            </a:pPr>
            <a:r>
              <a:rPr lang="en-US" sz="2000" dirty="0">
                <a:solidFill>
                  <a:srgbClr val="DCE3EA"/>
                </a:solidFill>
              </a:rPr>
              <a:t>Use case and overview of the implementation</a:t>
            </a:r>
            <a:endParaRPr lang="en-US" sz="2000" dirty="0"/>
          </a:p>
        </p:txBody>
      </p:sp>
      <p:sp>
        <p:nvSpPr>
          <p:cNvPr id="5" name="Text 3"/>
          <p:cNvSpPr txBox="1"/>
          <p:nvPr/>
        </p:nvSpPr>
        <p:spPr>
          <a:xfrm>
            <a:off x="640080" y="4480560"/>
            <a:ext cx="5120640" cy="1005840"/>
          </a:xfrm>
          <a:prstGeom prst="rect">
            <a:avLst/>
          </a:prstGeom>
          <a:noFill/>
          <a:ln/>
        </p:spPr>
        <p:txBody>
          <a:bodyPr wrap="square" lIns="0" tIns="0" rIns="0" bIns="0" rtlCol="0" anchor="t"/>
          <a:lstStyle/>
          <a:p>
            <a:pPr marL="0" indent="0">
              <a:buNone/>
            </a:pPr>
            <a:endParaRPr lang="en-US" sz="1400" dirty="0"/>
          </a:p>
        </p:txBody>
      </p:sp>
      <p:sp>
        <p:nvSpPr>
          <p:cNvPr id="6" name="Shape 4"/>
          <p:cNvSpPr/>
          <p:nvPr/>
        </p:nvSpPr>
        <p:spPr>
          <a:xfrm>
            <a:off x="5882335" y="1600200"/>
            <a:ext cx="5852160" cy="3371850"/>
          </a:xfrm>
          <a:prstGeom prst="roundRect">
            <a:avLst>
              <a:gd name="adj" fmla="val 3254"/>
            </a:avLst>
          </a:prstGeom>
          <a:solidFill>
            <a:srgbClr val="2A3646"/>
          </a:solidFill>
          <a:ln/>
        </p:spPr>
        <p:txBody>
          <a:bodyPr/>
          <a:lstStyle/>
          <a:p>
            <a:endParaRPr lang="en-US"/>
          </a:p>
        </p:txBody>
      </p:sp>
      <p:pic>
        <p:nvPicPr>
          <p:cNvPr id="7" name="Dashboard screenshot" descr="C:\Users\juanf\AppData\Local\Temp\claude\D--projects-local-code-bio-majesty\af963771-534c-477c-a7ea-371a585f8f2d\scratchpad\deck\assets\crop-news.jpg"/>
          <p:cNvPicPr>
            <a:picLocks noChangeAspect="1"/>
          </p:cNvPicPr>
          <p:nvPr/>
        </p:nvPicPr>
        <p:blipFill>
          <a:blip r:embed="rId3"/>
          <a:stretch>
            <a:fillRect/>
          </a:stretch>
        </p:blipFill>
        <p:spPr>
          <a:xfrm>
            <a:off x="5973775" y="1691640"/>
            <a:ext cx="5669280" cy="3188970"/>
          </a:xfrm>
          <a:prstGeom prst="rect">
            <a:avLst/>
          </a:prstGeom>
        </p:spPr>
      </p:pic>
      <p:sp>
        <p:nvSpPr>
          <p:cNvPr id="8" name="Text 5"/>
          <p:cNvSpPr txBox="1"/>
          <p:nvPr/>
        </p:nvSpPr>
        <p:spPr>
          <a:xfrm>
            <a:off x="5973775" y="5063490"/>
            <a:ext cx="5669280" cy="274320"/>
          </a:xfrm>
          <a:prstGeom prst="rect">
            <a:avLst/>
          </a:prstGeom>
          <a:noFill/>
          <a:ln/>
        </p:spPr>
        <p:txBody>
          <a:bodyPr wrap="square" lIns="0" tIns="0" rIns="0" bIns="0" rtlCol="0" anchor="t"/>
          <a:lstStyle/>
          <a:p>
            <a:pPr marL="0" indent="0">
              <a:buNone/>
            </a:pPr>
            <a:r>
              <a:rPr lang="en-US" sz="1100" dirty="0">
                <a:solidFill>
                  <a:srgbClr val="93A4B8"/>
                </a:solidFill>
              </a:rPr>
              <a:t>Dashboard demo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E2E8F0"/>
          </a:solidFill>
          <a:ln/>
        </p:spPr>
        <p:txBody>
          <a:bodyPr wrap="square" lIns="0" tIns="0" rIns="0" bIns="0" rtlCol="0" anchor="ctr"/>
          <a:lstStyle/>
          <a:p>
            <a:pPr marL="0" indent="0" algn="ctr">
              <a:buNone/>
            </a:pPr>
            <a:r>
              <a:rPr lang="en-US" sz="1050" b="1" kern="0" spc="150" dirty="0">
                <a:solidFill>
                  <a:srgbClr val="334155"/>
                </a:solidFill>
              </a:rPr>
              <a:t>OVERVIEW</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What the News Desk does</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Four jobs on one screen, plus a Telegram message when something needs you.</a:t>
            </a:r>
            <a:endParaRPr lang="en-US" sz="1800" dirty="0"/>
          </a:p>
        </p:txBody>
      </p:sp>
      <p:sp>
        <p:nvSpPr>
          <p:cNvPr id="5" name="News card"/>
          <p:cNvSpPr/>
          <p:nvPr/>
        </p:nvSpPr>
        <p:spPr>
          <a:xfrm>
            <a:off x="548640" y="2103120"/>
            <a:ext cx="3360420" cy="1627632"/>
          </a:xfrm>
          <a:prstGeom prst="roundRect">
            <a:avLst>
              <a:gd name="adj" fmla="val 5618"/>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749808" y="2304288"/>
            <a:ext cx="512064" cy="512064"/>
          </a:xfrm>
          <a:prstGeom prst="ellipse">
            <a:avLst/>
          </a:prstGeom>
          <a:solidFill>
            <a:srgbClr val="E2E8F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7583" y="2422063"/>
            <a:ext cx="276515" cy="276515"/>
          </a:xfrm>
          <a:prstGeom prst="rect">
            <a:avLst/>
          </a:prstGeom>
        </p:spPr>
      </p:pic>
      <p:sp>
        <p:nvSpPr>
          <p:cNvPr id="8" name="Text 5"/>
          <p:cNvSpPr txBox="1"/>
          <p:nvPr/>
        </p:nvSpPr>
        <p:spPr>
          <a:xfrm>
            <a:off x="1389888" y="2350008"/>
            <a:ext cx="2354580" cy="420624"/>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News</a:t>
            </a:r>
            <a:endParaRPr lang="en-US" sz="2000" dirty="0"/>
          </a:p>
        </p:txBody>
      </p:sp>
      <p:sp>
        <p:nvSpPr>
          <p:cNvPr id="9" name="Text 6"/>
          <p:cNvSpPr txBox="1"/>
          <p:nvPr/>
        </p:nvSpPr>
        <p:spPr>
          <a:xfrm>
            <a:off x="749808" y="2944368"/>
            <a:ext cx="2958084" cy="713232"/>
          </a:xfrm>
          <a:prstGeom prst="rect">
            <a:avLst/>
          </a:prstGeom>
          <a:noFill/>
          <a:ln/>
        </p:spPr>
        <p:txBody>
          <a:bodyPr wrap="square" lIns="0" tIns="0" rIns="0" bIns="0" rtlCol="0" anchor="t"/>
          <a:lstStyle/>
          <a:p>
            <a:pPr marL="0" indent="0">
              <a:buNone/>
            </a:pPr>
            <a:r>
              <a:rPr lang="en-US" sz="1400" dirty="0">
                <a:solidFill>
                  <a:srgbClr val="4A5563"/>
                </a:solidFill>
              </a:rPr>
              <a:t>Finds news about Prodia every morning and tags each article: its topic and likely share‑price effect.</a:t>
            </a:r>
            <a:endParaRPr lang="en-US" sz="1400" dirty="0"/>
          </a:p>
        </p:txBody>
      </p:sp>
      <p:sp>
        <p:nvSpPr>
          <p:cNvPr id="10" name="Review card"/>
          <p:cNvSpPr/>
          <p:nvPr/>
        </p:nvSpPr>
        <p:spPr>
          <a:xfrm>
            <a:off x="4183380" y="2103120"/>
            <a:ext cx="3360420" cy="1627632"/>
          </a:xfrm>
          <a:prstGeom prst="roundRect">
            <a:avLst>
              <a:gd name="adj" fmla="val 5618"/>
            </a:avLst>
          </a:prstGeom>
          <a:solidFill>
            <a:srgbClr val="FFFFFF"/>
          </a:solidFill>
          <a:ln w="12700">
            <a:solidFill>
              <a:srgbClr val="E5E7EB"/>
            </a:solidFill>
            <a:prstDash val="solid"/>
          </a:ln>
        </p:spPr>
        <p:txBody>
          <a:bodyPr/>
          <a:lstStyle/>
          <a:p>
            <a:endParaRPr lang="en-US"/>
          </a:p>
        </p:txBody>
      </p:sp>
      <p:sp>
        <p:nvSpPr>
          <p:cNvPr id="11" name="Shape 8"/>
          <p:cNvSpPr/>
          <p:nvPr/>
        </p:nvSpPr>
        <p:spPr>
          <a:xfrm>
            <a:off x="4384548" y="2304288"/>
            <a:ext cx="512064" cy="512064"/>
          </a:xfrm>
          <a:prstGeom prst="ellipse">
            <a:avLst/>
          </a:prstGeom>
          <a:solidFill>
            <a:srgbClr val="E2E8F0"/>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502323" y="2422063"/>
            <a:ext cx="276515" cy="276515"/>
          </a:xfrm>
          <a:prstGeom prst="rect">
            <a:avLst/>
          </a:prstGeom>
        </p:spPr>
      </p:pic>
      <p:sp>
        <p:nvSpPr>
          <p:cNvPr id="13" name="Text 9"/>
          <p:cNvSpPr txBox="1"/>
          <p:nvPr/>
        </p:nvSpPr>
        <p:spPr>
          <a:xfrm>
            <a:off x="5024628" y="2350008"/>
            <a:ext cx="2354580" cy="420624"/>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Review</a:t>
            </a:r>
            <a:endParaRPr lang="en-US" sz="2000" dirty="0"/>
          </a:p>
        </p:txBody>
      </p:sp>
      <p:sp>
        <p:nvSpPr>
          <p:cNvPr id="14" name="Text 10"/>
          <p:cNvSpPr txBox="1"/>
          <p:nvPr/>
        </p:nvSpPr>
        <p:spPr>
          <a:xfrm>
            <a:off x="4384548" y="2944368"/>
            <a:ext cx="2958084" cy="713232"/>
          </a:xfrm>
          <a:prstGeom prst="rect">
            <a:avLst/>
          </a:prstGeom>
          <a:noFill/>
          <a:ln/>
        </p:spPr>
        <p:txBody>
          <a:bodyPr wrap="square" lIns="0" tIns="0" rIns="0" bIns="0" rtlCol="0" anchor="t"/>
          <a:lstStyle/>
          <a:p>
            <a:pPr marL="0" indent="0">
              <a:buNone/>
            </a:pPr>
            <a:r>
              <a:rPr lang="en-US" sz="1400" dirty="0">
                <a:solidFill>
                  <a:srgbClr val="4A5563"/>
                </a:solidFill>
              </a:rPr>
              <a:t>Nothing is saved until you approve it. Save, skip or correct the AI’s tags in a click.</a:t>
            </a:r>
            <a:endParaRPr lang="en-US" sz="1400" dirty="0"/>
          </a:p>
        </p:txBody>
      </p:sp>
      <p:sp>
        <p:nvSpPr>
          <p:cNvPr id="15" name="Chat card"/>
          <p:cNvSpPr/>
          <p:nvPr/>
        </p:nvSpPr>
        <p:spPr>
          <a:xfrm>
            <a:off x="548640" y="3913632"/>
            <a:ext cx="3360420" cy="1627632"/>
          </a:xfrm>
          <a:prstGeom prst="roundRect">
            <a:avLst>
              <a:gd name="adj" fmla="val 5618"/>
            </a:avLst>
          </a:prstGeom>
          <a:solidFill>
            <a:srgbClr val="FFFFFF"/>
          </a:solidFill>
          <a:ln w="12700">
            <a:solidFill>
              <a:srgbClr val="E5E7EB"/>
            </a:solidFill>
            <a:prstDash val="solid"/>
          </a:ln>
        </p:spPr>
        <p:txBody>
          <a:bodyPr/>
          <a:lstStyle/>
          <a:p>
            <a:endParaRPr lang="en-US"/>
          </a:p>
        </p:txBody>
      </p:sp>
      <p:sp>
        <p:nvSpPr>
          <p:cNvPr id="16" name="Shape 12"/>
          <p:cNvSpPr/>
          <p:nvPr/>
        </p:nvSpPr>
        <p:spPr>
          <a:xfrm>
            <a:off x="749808" y="4114800"/>
            <a:ext cx="512064" cy="512064"/>
          </a:xfrm>
          <a:prstGeom prst="ellipse">
            <a:avLst/>
          </a:prstGeom>
          <a:solidFill>
            <a:srgbClr val="E2E8F0"/>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67583" y="4232575"/>
            <a:ext cx="276515" cy="276515"/>
          </a:xfrm>
          <a:prstGeom prst="rect">
            <a:avLst/>
          </a:prstGeom>
        </p:spPr>
      </p:pic>
      <p:sp>
        <p:nvSpPr>
          <p:cNvPr id="18" name="Text 13"/>
          <p:cNvSpPr txBox="1"/>
          <p:nvPr/>
        </p:nvSpPr>
        <p:spPr>
          <a:xfrm>
            <a:off x="1389888" y="4160520"/>
            <a:ext cx="2354580" cy="420624"/>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Chat</a:t>
            </a:r>
            <a:endParaRPr lang="en-US" sz="2000" dirty="0"/>
          </a:p>
        </p:txBody>
      </p:sp>
      <p:sp>
        <p:nvSpPr>
          <p:cNvPr id="19" name="Text 14"/>
          <p:cNvSpPr txBox="1"/>
          <p:nvPr/>
        </p:nvSpPr>
        <p:spPr>
          <a:xfrm>
            <a:off x="749808" y="4754880"/>
            <a:ext cx="2958084" cy="713232"/>
          </a:xfrm>
          <a:prstGeom prst="rect">
            <a:avLst/>
          </a:prstGeom>
          <a:noFill/>
          <a:ln/>
        </p:spPr>
        <p:txBody>
          <a:bodyPr wrap="square" lIns="0" tIns="0" rIns="0" bIns="0" rtlCol="0" anchor="t"/>
          <a:lstStyle/>
          <a:p>
            <a:pPr marL="0" indent="0">
              <a:buNone/>
            </a:pPr>
            <a:r>
              <a:rPr lang="en-US" sz="1400" dirty="0">
                <a:solidFill>
                  <a:srgbClr val="4A5563"/>
                </a:solidFill>
              </a:rPr>
              <a:t>Ask questions in plain English. Answers cite your saved articles and PRDA prices.</a:t>
            </a:r>
            <a:endParaRPr lang="en-US" sz="1400" dirty="0"/>
          </a:p>
        </p:txBody>
      </p:sp>
      <p:sp>
        <p:nvSpPr>
          <p:cNvPr id="20" name="Stock card"/>
          <p:cNvSpPr/>
          <p:nvPr/>
        </p:nvSpPr>
        <p:spPr>
          <a:xfrm>
            <a:off x="4183380" y="3913632"/>
            <a:ext cx="3360420" cy="1627632"/>
          </a:xfrm>
          <a:prstGeom prst="roundRect">
            <a:avLst>
              <a:gd name="adj" fmla="val 5618"/>
            </a:avLst>
          </a:prstGeom>
          <a:solidFill>
            <a:srgbClr val="FFFFFF"/>
          </a:solidFill>
          <a:ln w="12700">
            <a:solidFill>
              <a:srgbClr val="E5E7EB"/>
            </a:solidFill>
            <a:prstDash val="solid"/>
          </a:ln>
        </p:spPr>
        <p:txBody>
          <a:bodyPr/>
          <a:lstStyle/>
          <a:p>
            <a:endParaRPr lang="en-US"/>
          </a:p>
        </p:txBody>
      </p:sp>
      <p:sp>
        <p:nvSpPr>
          <p:cNvPr id="21" name="Shape 16"/>
          <p:cNvSpPr/>
          <p:nvPr/>
        </p:nvSpPr>
        <p:spPr>
          <a:xfrm>
            <a:off x="4384548" y="4114800"/>
            <a:ext cx="512064" cy="512064"/>
          </a:xfrm>
          <a:prstGeom prst="ellipse">
            <a:avLst/>
          </a:prstGeom>
          <a:solidFill>
            <a:srgbClr val="E2E8F0"/>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4502323" y="4232575"/>
            <a:ext cx="276515" cy="276515"/>
          </a:xfrm>
          <a:prstGeom prst="rect">
            <a:avLst/>
          </a:prstGeom>
        </p:spPr>
      </p:pic>
      <p:sp>
        <p:nvSpPr>
          <p:cNvPr id="23" name="Text 17"/>
          <p:cNvSpPr txBox="1"/>
          <p:nvPr/>
        </p:nvSpPr>
        <p:spPr>
          <a:xfrm>
            <a:off x="5024628" y="4160520"/>
            <a:ext cx="2354580" cy="420624"/>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Stock</a:t>
            </a:r>
            <a:endParaRPr lang="en-US" sz="2000" dirty="0"/>
          </a:p>
        </p:txBody>
      </p:sp>
      <p:sp>
        <p:nvSpPr>
          <p:cNvPr id="24" name="Text 18"/>
          <p:cNvSpPr txBox="1"/>
          <p:nvPr/>
        </p:nvSpPr>
        <p:spPr>
          <a:xfrm>
            <a:off x="4384548" y="4754880"/>
            <a:ext cx="2958084" cy="713232"/>
          </a:xfrm>
          <a:prstGeom prst="rect">
            <a:avLst/>
          </a:prstGeom>
          <a:noFill/>
          <a:ln/>
        </p:spPr>
        <p:txBody>
          <a:bodyPr wrap="square" lIns="0" tIns="0" rIns="0" bIns="0" rtlCol="0" anchor="t"/>
          <a:lstStyle/>
          <a:p>
            <a:pPr marL="0" indent="0">
              <a:buNone/>
            </a:pPr>
            <a:r>
              <a:rPr lang="en-US" sz="1400" dirty="0">
                <a:solidFill>
                  <a:srgbClr val="4A5563"/>
                </a:solidFill>
              </a:rPr>
              <a:t>PRDA price and volume, your saved news on the chart, and alerts for unusual trading.</a:t>
            </a:r>
            <a:endParaRPr lang="en-US" sz="1400" dirty="0"/>
          </a:p>
        </p:txBody>
      </p:sp>
      <p:sp>
        <p:nvSpPr>
          <p:cNvPr id="25" name="Shape 19"/>
          <p:cNvSpPr/>
          <p:nvPr/>
        </p:nvSpPr>
        <p:spPr>
          <a:xfrm>
            <a:off x="548640" y="5724144"/>
            <a:ext cx="402336" cy="402336"/>
          </a:xfrm>
          <a:prstGeom prst="ellipse">
            <a:avLst/>
          </a:prstGeom>
          <a:solidFill>
            <a:srgbClr val="E2E8F0"/>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641177" y="5816681"/>
            <a:ext cx="217261" cy="217261"/>
          </a:xfrm>
          <a:prstGeom prst="rect">
            <a:avLst/>
          </a:prstGeom>
        </p:spPr>
      </p:pic>
      <p:sp>
        <p:nvSpPr>
          <p:cNvPr id="27" name="Text 20"/>
          <p:cNvSpPr txBox="1"/>
          <p:nvPr/>
        </p:nvSpPr>
        <p:spPr>
          <a:xfrm>
            <a:off x="1097280" y="5724144"/>
            <a:ext cx="6446520" cy="402336"/>
          </a:xfrm>
          <a:prstGeom prst="rect">
            <a:avLst/>
          </a:prstGeom>
          <a:noFill/>
          <a:ln/>
        </p:spPr>
        <p:txBody>
          <a:bodyPr wrap="square" lIns="0" tIns="0" rIns="0" bIns="0" rtlCol="0" anchor="ctr"/>
          <a:lstStyle/>
          <a:p>
            <a:pPr marL="0" indent="0">
              <a:buNone/>
            </a:pPr>
            <a:r>
              <a:rPr lang="en-US" sz="1400" b="1" dirty="0">
                <a:solidFill>
                  <a:srgbClr val="16202C"/>
                </a:solidFill>
              </a:rPr>
              <a:t>Telegram: </a:t>
            </a:r>
            <a:r>
              <a:rPr lang="en-US" sz="1400" dirty="0">
                <a:solidFill>
                  <a:srgbClr val="4A5563"/>
                </a:solidFill>
              </a:rPr>
              <a:t>a digest after each run, plus alerts for unusual volume or failures.</a:t>
            </a:r>
            <a:endParaRPr lang="en-US" sz="1400" dirty="0"/>
          </a:p>
        </p:txBody>
      </p:sp>
      <p:sp>
        <p:nvSpPr>
          <p:cNvPr id="28"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29" name="Image 5" descr="preencoded.png"/>
          <p:cNvPicPr>
            <a:picLocks noChangeAspect="1"/>
          </p:cNvPicPr>
          <p:nvPr/>
        </p:nvPicPr>
        <p:blipFill>
          <a:blip r:embed="rId8"/>
          <a:stretch>
            <a:fillRect/>
          </a:stretch>
        </p:blipFill>
        <p:spPr>
          <a:xfrm>
            <a:off x="8074152" y="2322576"/>
            <a:ext cx="219456" cy="219456"/>
          </a:xfrm>
          <a:prstGeom prst="rect">
            <a:avLst/>
          </a:prstGeom>
        </p:spPr>
      </p:pic>
      <p:sp>
        <p:nvSpPr>
          <p:cNvPr id="30" name="Text 22"/>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31" name="Text 23"/>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Frontend</a:t>
            </a:r>
            <a:r>
              <a:rPr lang="en-US" sz="1400" dirty="0">
                <a:solidFill>
                  <a:srgbClr val="4A5563"/>
                </a:solidFill>
              </a:rPr>
              <a:t>: the web app you see, running in your browser on a computer or phone.</a:t>
            </a:r>
            <a:endParaRPr lang="en-US" sz="1400" dirty="0"/>
          </a:p>
          <a:p>
            <a:pPr marL="0" indent="0">
              <a:spcAft>
                <a:spcPts val="800"/>
              </a:spcAft>
              <a:buNone/>
            </a:pPr>
            <a:r>
              <a:rPr lang="en-US" sz="1400" b="1" dirty="0">
                <a:solidFill>
                  <a:srgbClr val="16202C"/>
                </a:solidFill>
              </a:rPr>
              <a:t>Backend</a:t>
            </a:r>
            <a:r>
              <a:rPr lang="en-US" sz="1400" dirty="0">
                <a:solidFill>
                  <a:srgbClr val="4A5563"/>
                </a:solidFill>
              </a:rPr>
              <a:t>: services in Amazon Web Services (AWS) that search, run the AI and store data.</a:t>
            </a:r>
            <a:endParaRPr lang="en-US" sz="1400" dirty="0"/>
          </a:p>
          <a:p>
            <a:pPr marL="0" indent="0">
              <a:spcAft>
                <a:spcPts val="800"/>
              </a:spcAft>
              <a:buNone/>
            </a:pPr>
            <a:r>
              <a:rPr lang="en-US" sz="1400" b="1" dirty="0">
                <a:solidFill>
                  <a:srgbClr val="16202C"/>
                </a:solidFill>
              </a:rPr>
              <a:t>AI</a:t>
            </a:r>
            <a:r>
              <a:rPr lang="en-US" sz="1400" dirty="0">
                <a:solidFill>
                  <a:srgbClr val="4A5563"/>
                </a:solidFill>
              </a:rPr>
              <a:t>: Claude models by default; each task can switch provider.</a:t>
            </a:r>
            <a:endParaRPr lang="en-US" sz="1400" dirty="0"/>
          </a:p>
          <a:p>
            <a:pPr marL="0" indent="0">
              <a:spcAft>
                <a:spcPts val="800"/>
              </a:spcAft>
              <a:buNone/>
            </a:pPr>
            <a:r>
              <a:rPr lang="en-US" sz="1400" b="1" dirty="0">
                <a:solidFill>
                  <a:srgbClr val="16202C"/>
                </a:solidFill>
              </a:rPr>
              <a:t>Telegram bot:</a:t>
            </a:r>
            <a:r>
              <a:rPr lang="en-US" sz="1400" dirty="0">
                <a:solidFill>
                  <a:srgbClr val="4A5563"/>
                </a:solidFill>
              </a:rPr>
              <a:t> only sends messages with a link; it cannot change anything.</a:t>
            </a:r>
            <a:endParaRPr lang="en-US" sz="1400" dirty="0"/>
          </a:p>
        </p:txBody>
      </p:sp>
      <p:sp>
        <p:nvSpPr>
          <p:cNvPr id="32"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E2E8F0"/>
          </a:solidFill>
          <a:ln/>
        </p:spPr>
        <p:txBody>
          <a:bodyPr wrap="square" lIns="0" tIns="0" rIns="0" bIns="0" rtlCol="0" anchor="ctr"/>
          <a:lstStyle/>
          <a:p>
            <a:pPr marL="0" indent="0" algn="ctr">
              <a:buNone/>
            </a:pPr>
            <a:r>
              <a:rPr lang="en-US" sz="1050" b="1" kern="0" spc="150" dirty="0">
                <a:solidFill>
                  <a:srgbClr val="334155"/>
                </a:solidFill>
              </a:rPr>
              <a:t>OVERVIEW</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A day with the News Desk</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The routine runs itself: you spend a few minutes reviewing, and ask questions whenever you need to.</a:t>
            </a:r>
            <a:endParaRPr lang="en-US" sz="1800" dirty="0"/>
          </a:p>
        </p:txBody>
      </p:sp>
      <p:sp>
        <p:nvSpPr>
          <p:cNvPr id="5" name="Shape 3"/>
          <p:cNvSpPr/>
          <p:nvPr/>
        </p:nvSpPr>
        <p:spPr>
          <a:xfrm>
            <a:off x="804672" y="2962656"/>
            <a:ext cx="8875532" cy="0"/>
          </a:xfrm>
          <a:prstGeom prst="line">
            <a:avLst/>
          </a:prstGeom>
          <a:noFill/>
          <a:ln w="31750">
            <a:solidFill>
              <a:srgbClr val="CBD5E1"/>
            </a:solidFill>
            <a:prstDash val="solid"/>
          </a:ln>
        </p:spPr>
        <p:txBody>
          <a:bodyPr/>
          <a:lstStyle/>
          <a:p>
            <a:endParaRPr lang="en-US"/>
          </a:p>
        </p:txBody>
      </p:sp>
      <p:sp>
        <p:nvSpPr>
          <p:cNvPr id="6" name="Text 4"/>
          <p:cNvSpPr txBox="1"/>
          <p:nvPr/>
        </p:nvSpPr>
        <p:spPr>
          <a:xfrm>
            <a:off x="548640" y="2176272"/>
            <a:ext cx="2036003" cy="365760"/>
          </a:xfrm>
          <a:prstGeom prst="rect">
            <a:avLst/>
          </a:prstGeom>
          <a:noFill/>
          <a:ln/>
        </p:spPr>
        <p:txBody>
          <a:bodyPr wrap="square" lIns="0" tIns="0" rIns="0" bIns="0" rtlCol="0" anchor="b"/>
          <a:lstStyle/>
          <a:p>
            <a:pPr marL="0" indent="0">
              <a:buNone/>
            </a:pPr>
            <a:r>
              <a:rPr lang="en-US" sz="1800" b="1" dirty="0">
                <a:solidFill>
                  <a:srgbClr val="16202C"/>
                </a:solidFill>
                <a:latin typeface="Cambria" pitchFamily="34" charset="0"/>
                <a:ea typeface="Cambria" pitchFamily="34" charset="-122"/>
                <a:cs typeface="Cambria" pitchFamily="34" charset="-120"/>
              </a:rPr>
              <a:t>06:00</a:t>
            </a:r>
            <a:endParaRPr lang="en-US" sz="1800" dirty="0"/>
          </a:p>
        </p:txBody>
      </p:sp>
      <p:sp>
        <p:nvSpPr>
          <p:cNvPr id="7" name="Shape 5"/>
          <p:cNvSpPr/>
          <p:nvPr/>
        </p:nvSpPr>
        <p:spPr>
          <a:xfrm>
            <a:off x="548640" y="2706624"/>
            <a:ext cx="512064" cy="512064"/>
          </a:xfrm>
          <a:prstGeom prst="ellipse">
            <a:avLst/>
          </a:prstGeom>
          <a:solidFill>
            <a:srgbClr val="E2E8F0"/>
          </a:solidFill>
          <a:ln w="38100">
            <a:solidFill>
              <a:srgbClr val="FFFFFF"/>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66415" y="2824399"/>
            <a:ext cx="276515" cy="276515"/>
          </a:xfrm>
          <a:prstGeom prst="rect">
            <a:avLst/>
          </a:prstGeom>
        </p:spPr>
      </p:pic>
      <p:sp>
        <p:nvSpPr>
          <p:cNvPr id="9" name="Text 6"/>
          <p:cNvSpPr txBox="1"/>
          <p:nvPr/>
        </p:nvSpPr>
        <p:spPr>
          <a:xfrm>
            <a:off x="548640" y="3401568"/>
            <a:ext cx="1944563" cy="960120"/>
          </a:xfrm>
          <a:prstGeom prst="rect">
            <a:avLst/>
          </a:prstGeom>
          <a:noFill/>
          <a:ln/>
        </p:spPr>
        <p:txBody>
          <a:bodyPr wrap="square" lIns="0" tIns="0" rIns="0" bIns="0" rtlCol="0" anchor="t"/>
          <a:lstStyle/>
          <a:p>
            <a:pPr marL="0" indent="0">
              <a:buNone/>
            </a:pPr>
            <a:r>
              <a:rPr lang="en-US" sz="1400" dirty="0">
                <a:solidFill>
                  <a:srgbClr val="4A5563"/>
                </a:solidFill>
              </a:rPr>
              <a:t>The daily run searches the news published since the last run.</a:t>
            </a:r>
            <a:endParaRPr lang="en-US" sz="1400" dirty="0"/>
          </a:p>
        </p:txBody>
      </p:sp>
      <p:sp>
        <p:nvSpPr>
          <p:cNvPr id="10" name="Text 7"/>
          <p:cNvSpPr txBox="1"/>
          <p:nvPr/>
        </p:nvSpPr>
        <p:spPr>
          <a:xfrm>
            <a:off x="2767523" y="2176272"/>
            <a:ext cx="2036003" cy="365760"/>
          </a:xfrm>
          <a:prstGeom prst="rect">
            <a:avLst/>
          </a:prstGeom>
          <a:noFill/>
          <a:ln/>
        </p:spPr>
        <p:txBody>
          <a:bodyPr wrap="square" lIns="0" tIns="0" rIns="0" bIns="0" rtlCol="0" anchor="b"/>
          <a:lstStyle/>
          <a:p>
            <a:pPr marL="0" indent="0">
              <a:buNone/>
            </a:pPr>
            <a:r>
              <a:rPr lang="en-US" sz="1800" b="1" dirty="0">
                <a:solidFill>
                  <a:srgbClr val="16202C"/>
                </a:solidFill>
                <a:latin typeface="Cambria" pitchFamily="34" charset="0"/>
                <a:ea typeface="Cambria" pitchFamily="34" charset="-122"/>
                <a:cs typeface="Cambria" pitchFamily="34" charset="-120"/>
              </a:rPr>
              <a:t>After the run</a:t>
            </a:r>
            <a:endParaRPr lang="en-US" sz="1800" dirty="0"/>
          </a:p>
        </p:txBody>
      </p:sp>
      <p:sp>
        <p:nvSpPr>
          <p:cNvPr id="11" name="Shape 8"/>
          <p:cNvSpPr/>
          <p:nvPr/>
        </p:nvSpPr>
        <p:spPr>
          <a:xfrm>
            <a:off x="2767523" y="2706624"/>
            <a:ext cx="512064" cy="512064"/>
          </a:xfrm>
          <a:prstGeom prst="ellipse">
            <a:avLst/>
          </a:prstGeom>
          <a:solidFill>
            <a:srgbClr val="E2E8F0"/>
          </a:solidFill>
          <a:ln w="38100">
            <a:solidFill>
              <a:srgbClr val="FFFFFF"/>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885298" y="2824399"/>
            <a:ext cx="276515" cy="276515"/>
          </a:xfrm>
          <a:prstGeom prst="rect">
            <a:avLst/>
          </a:prstGeom>
        </p:spPr>
      </p:pic>
      <p:sp>
        <p:nvSpPr>
          <p:cNvPr id="13" name="Text 9"/>
          <p:cNvSpPr txBox="1"/>
          <p:nvPr/>
        </p:nvSpPr>
        <p:spPr>
          <a:xfrm>
            <a:off x="2767523" y="3401568"/>
            <a:ext cx="1944563" cy="960120"/>
          </a:xfrm>
          <a:prstGeom prst="rect">
            <a:avLst/>
          </a:prstGeom>
          <a:noFill/>
          <a:ln/>
        </p:spPr>
        <p:txBody>
          <a:bodyPr wrap="square" lIns="0" tIns="0" rIns="0" bIns="0" rtlCol="0" anchor="t"/>
          <a:lstStyle/>
          <a:p>
            <a:pPr marL="0" indent="0">
              <a:buNone/>
            </a:pPr>
            <a:r>
              <a:rPr lang="en-US" sz="1400" dirty="0">
                <a:solidFill>
                  <a:srgbClr val="4A5563"/>
                </a:solidFill>
              </a:rPr>
              <a:t>Telegram digest, e.g. “6 new items: expansion news leads, one tariff risk”.</a:t>
            </a:r>
            <a:endParaRPr lang="en-US" sz="1400" dirty="0"/>
          </a:p>
        </p:txBody>
      </p:sp>
      <p:sp>
        <p:nvSpPr>
          <p:cNvPr id="14" name="Text 10"/>
          <p:cNvSpPr txBox="1"/>
          <p:nvPr/>
        </p:nvSpPr>
        <p:spPr>
          <a:xfrm>
            <a:off x="4986406" y="2176272"/>
            <a:ext cx="2036003" cy="365760"/>
          </a:xfrm>
          <a:prstGeom prst="rect">
            <a:avLst/>
          </a:prstGeom>
          <a:noFill/>
          <a:ln/>
        </p:spPr>
        <p:txBody>
          <a:bodyPr wrap="square" lIns="0" tIns="0" rIns="0" bIns="0" rtlCol="0" anchor="b"/>
          <a:lstStyle/>
          <a:p>
            <a:pPr marL="0" indent="0">
              <a:buNone/>
            </a:pPr>
            <a:r>
              <a:rPr lang="en-US" sz="1800" b="1" dirty="0">
                <a:solidFill>
                  <a:srgbClr val="16202C"/>
                </a:solidFill>
                <a:latin typeface="Cambria" pitchFamily="34" charset="0"/>
                <a:ea typeface="Cambria" pitchFamily="34" charset="-122"/>
                <a:cs typeface="Cambria" pitchFamily="34" charset="-120"/>
              </a:rPr>
              <a:t>Morning</a:t>
            </a:r>
            <a:endParaRPr lang="en-US" sz="1800" dirty="0"/>
          </a:p>
        </p:txBody>
      </p:sp>
      <p:sp>
        <p:nvSpPr>
          <p:cNvPr id="15" name="Shape 11"/>
          <p:cNvSpPr/>
          <p:nvPr/>
        </p:nvSpPr>
        <p:spPr>
          <a:xfrm>
            <a:off x="4986406" y="2706624"/>
            <a:ext cx="512064" cy="512064"/>
          </a:xfrm>
          <a:prstGeom prst="ellipse">
            <a:avLst/>
          </a:prstGeom>
          <a:solidFill>
            <a:srgbClr val="E2E8F0"/>
          </a:solidFill>
          <a:ln w="38100">
            <a:solidFill>
              <a:srgbClr val="FFFFF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104181" y="2824399"/>
            <a:ext cx="276515" cy="276515"/>
          </a:xfrm>
          <a:prstGeom prst="rect">
            <a:avLst/>
          </a:prstGeom>
        </p:spPr>
      </p:pic>
      <p:sp>
        <p:nvSpPr>
          <p:cNvPr id="17" name="Text 12"/>
          <p:cNvSpPr txBox="1"/>
          <p:nvPr/>
        </p:nvSpPr>
        <p:spPr>
          <a:xfrm>
            <a:off x="4986406" y="3401568"/>
            <a:ext cx="1944563" cy="960120"/>
          </a:xfrm>
          <a:prstGeom prst="rect">
            <a:avLst/>
          </a:prstGeom>
          <a:noFill/>
          <a:ln/>
        </p:spPr>
        <p:txBody>
          <a:bodyPr wrap="square" lIns="0" tIns="0" rIns="0" bIns="0" rtlCol="0" anchor="t"/>
          <a:lstStyle/>
          <a:p>
            <a:pPr marL="0" indent="0">
              <a:buNone/>
            </a:pPr>
            <a:r>
              <a:rPr lang="en-US" sz="1400" dirty="0">
                <a:solidFill>
                  <a:srgbClr val="4A5563"/>
                </a:solidFill>
              </a:rPr>
              <a:t>You review the new items: save, skip or correct the AI.</a:t>
            </a:r>
            <a:endParaRPr lang="en-US" sz="1400" dirty="0"/>
          </a:p>
        </p:txBody>
      </p:sp>
      <p:sp>
        <p:nvSpPr>
          <p:cNvPr id="18" name="Text 13"/>
          <p:cNvSpPr txBox="1"/>
          <p:nvPr/>
        </p:nvSpPr>
        <p:spPr>
          <a:xfrm>
            <a:off x="7205289" y="2176272"/>
            <a:ext cx="2036003" cy="365760"/>
          </a:xfrm>
          <a:prstGeom prst="rect">
            <a:avLst/>
          </a:prstGeom>
          <a:noFill/>
          <a:ln/>
        </p:spPr>
        <p:txBody>
          <a:bodyPr wrap="square" lIns="0" tIns="0" rIns="0" bIns="0" rtlCol="0" anchor="b"/>
          <a:lstStyle/>
          <a:p>
            <a:pPr marL="0" indent="0">
              <a:buNone/>
            </a:pPr>
            <a:r>
              <a:rPr lang="en-US" sz="1800" b="1">
                <a:solidFill>
                  <a:srgbClr val="16202C"/>
                </a:solidFill>
                <a:latin typeface="Cambria" pitchFamily="34" charset="0"/>
                <a:ea typeface="Cambria" pitchFamily="34" charset="-122"/>
                <a:cs typeface="Cambria" pitchFamily="34" charset="-120"/>
              </a:rPr>
              <a:t>10:00–17:45</a:t>
            </a:r>
            <a:endParaRPr lang="en-US" sz="1800" dirty="0"/>
          </a:p>
        </p:txBody>
      </p:sp>
      <p:sp>
        <p:nvSpPr>
          <p:cNvPr id="19" name="Shape 14"/>
          <p:cNvSpPr/>
          <p:nvPr/>
        </p:nvSpPr>
        <p:spPr>
          <a:xfrm>
            <a:off x="7205289" y="2706624"/>
            <a:ext cx="512064" cy="512064"/>
          </a:xfrm>
          <a:prstGeom prst="ellipse">
            <a:avLst/>
          </a:prstGeom>
          <a:solidFill>
            <a:srgbClr val="E2E8F0"/>
          </a:solidFill>
          <a:ln w="38100">
            <a:solidFill>
              <a:srgbClr val="FFFFFF"/>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7323064" y="2824399"/>
            <a:ext cx="276515" cy="276515"/>
          </a:xfrm>
          <a:prstGeom prst="rect">
            <a:avLst/>
          </a:prstGeom>
        </p:spPr>
      </p:pic>
      <p:sp>
        <p:nvSpPr>
          <p:cNvPr id="21" name="Text 15"/>
          <p:cNvSpPr txBox="1"/>
          <p:nvPr/>
        </p:nvSpPr>
        <p:spPr>
          <a:xfrm>
            <a:off x="7205289" y="3401568"/>
            <a:ext cx="1944563" cy="960120"/>
          </a:xfrm>
          <a:prstGeom prst="rect">
            <a:avLst/>
          </a:prstGeom>
          <a:noFill/>
          <a:ln/>
        </p:spPr>
        <p:txBody>
          <a:bodyPr wrap="square" lIns="0" tIns="0" rIns="0" bIns="0" rtlCol="0" anchor="t"/>
          <a:lstStyle/>
          <a:p>
            <a:pPr marL="0" indent="0">
              <a:buNone/>
            </a:pPr>
            <a:r>
              <a:rPr lang="en-US" sz="1400" dirty="0">
                <a:solidFill>
                  <a:srgbClr val="4A5563"/>
                </a:solidFill>
              </a:rPr>
              <a:t>PRDA price every 15 minutes, with an alert if volume spikes.</a:t>
            </a:r>
            <a:endParaRPr lang="en-US" sz="1400" dirty="0"/>
          </a:p>
        </p:txBody>
      </p:sp>
      <p:sp>
        <p:nvSpPr>
          <p:cNvPr id="22" name="Text 16"/>
          <p:cNvSpPr txBox="1"/>
          <p:nvPr/>
        </p:nvSpPr>
        <p:spPr>
          <a:xfrm>
            <a:off x="9424172" y="2176272"/>
            <a:ext cx="2036003" cy="365760"/>
          </a:xfrm>
          <a:prstGeom prst="rect">
            <a:avLst/>
          </a:prstGeom>
          <a:noFill/>
          <a:ln/>
        </p:spPr>
        <p:txBody>
          <a:bodyPr wrap="square" lIns="0" tIns="0" rIns="0" bIns="0" rtlCol="0" anchor="b"/>
          <a:lstStyle/>
          <a:p>
            <a:pPr marL="0" indent="0">
              <a:buNone/>
            </a:pPr>
            <a:r>
              <a:rPr lang="en-US" sz="1800" b="1">
                <a:solidFill>
                  <a:srgbClr val="16202C"/>
                </a:solidFill>
                <a:latin typeface="Cambria" pitchFamily="34" charset="0"/>
                <a:ea typeface="Cambria" pitchFamily="34" charset="-122"/>
                <a:cs typeface="Cambria" pitchFamily="34" charset="-120"/>
              </a:rPr>
              <a:t>18:30</a:t>
            </a:r>
            <a:endParaRPr lang="en-US" sz="1800" dirty="0"/>
          </a:p>
        </p:txBody>
      </p:sp>
      <p:sp>
        <p:nvSpPr>
          <p:cNvPr id="23" name="Shape 17"/>
          <p:cNvSpPr/>
          <p:nvPr/>
        </p:nvSpPr>
        <p:spPr>
          <a:xfrm>
            <a:off x="9424172" y="2706624"/>
            <a:ext cx="512064" cy="512064"/>
          </a:xfrm>
          <a:prstGeom prst="ellipse">
            <a:avLst/>
          </a:prstGeom>
          <a:solidFill>
            <a:srgbClr val="E2E8F0"/>
          </a:solidFill>
          <a:ln w="38100">
            <a:solidFill>
              <a:srgbClr val="FFFFFF"/>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9541947" y="2824399"/>
            <a:ext cx="276515" cy="276515"/>
          </a:xfrm>
          <a:prstGeom prst="rect">
            <a:avLst/>
          </a:prstGeom>
        </p:spPr>
      </p:pic>
      <p:sp>
        <p:nvSpPr>
          <p:cNvPr id="25" name="Text 18"/>
          <p:cNvSpPr txBox="1"/>
          <p:nvPr/>
        </p:nvSpPr>
        <p:spPr>
          <a:xfrm>
            <a:off x="9424172" y="3401568"/>
            <a:ext cx="1944563" cy="960120"/>
          </a:xfrm>
          <a:prstGeom prst="rect">
            <a:avLst/>
          </a:prstGeom>
          <a:noFill/>
          <a:ln/>
        </p:spPr>
        <p:txBody>
          <a:bodyPr wrap="square" lIns="0" tIns="0" rIns="0" bIns="0" rtlCol="0" anchor="t"/>
          <a:lstStyle/>
          <a:p>
            <a:pPr marL="0" indent="0">
              <a:buNone/>
            </a:pPr>
            <a:r>
              <a:rPr lang="en-US" sz="1400" dirty="0">
                <a:solidFill>
                  <a:srgbClr val="4A5563"/>
                </a:solidFill>
              </a:rPr>
              <a:t>End‑of‑day price refresh and volume check.</a:t>
            </a:r>
            <a:endParaRPr lang="en-US" sz="1400" dirty="0"/>
          </a:p>
        </p:txBody>
      </p:sp>
      <p:sp>
        <p:nvSpPr>
          <p:cNvPr id="26" name="Shape 19"/>
          <p:cNvSpPr/>
          <p:nvPr/>
        </p:nvSpPr>
        <p:spPr>
          <a:xfrm>
            <a:off x="548640" y="4498848"/>
            <a:ext cx="11094415" cy="457200"/>
          </a:xfrm>
          <a:prstGeom prst="roundRect">
            <a:avLst>
              <a:gd name="adj" fmla="val 50000"/>
            </a:avLst>
          </a:prstGeom>
          <a:solidFill>
            <a:srgbClr val="E2E8F0"/>
          </a:solidFill>
          <a:ln/>
        </p:spPr>
        <p:txBody>
          <a:bodyPr/>
          <a:lstStyle/>
          <a:p>
            <a:endParaRPr lang="en-US"/>
          </a:p>
        </p:txBody>
      </p:sp>
      <p:pic>
        <p:nvPicPr>
          <p:cNvPr id="27" name="Image 5" descr="preencoded.png"/>
          <p:cNvPicPr>
            <a:picLocks noChangeAspect="1"/>
          </p:cNvPicPr>
          <p:nvPr/>
        </p:nvPicPr>
        <p:blipFill>
          <a:blip r:embed="rId8"/>
          <a:stretch>
            <a:fillRect/>
          </a:stretch>
        </p:blipFill>
        <p:spPr>
          <a:xfrm>
            <a:off x="749808" y="4608576"/>
            <a:ext cx="237744" cy="237744"/>
          </a:xfrm>
          <a:prstGeom prst="rect">
            <a:avLst/>
          </a:prstGeom>
        </p:spPr>
      </p:pic>
      <p:sp>
        <p:nvSpPr>
          <p:cNvPr id="28" name="Text 20"/>
          <p:cNvSpPr txBox="1"/>
          <p:nvPr/>
        </p:nvSpPr>
        <p:spPr>
          <a:xfrm>
            <a:off x="1115568" y="4498848"/>
            <a:ext cx="10271455" cy="457200"/>
          </a:xfrm>
          <a:prstGeom prst="rect">
            <a:avLst/>
          </a:prstGeom>
          <a:noFill/>
          <a:ln/>
        </p:spPr>
        <p:txBody>
          <a:bodyPr wrap="square" lIns="0" tIns="0" rIns="0" bIns="0" rtlCol="0" anchor="ctr"/>
          <a:lstStyle/>
          <a:p>
            <a:pPr marL="0" indent="0">
              <a:buNone/>
            </a:pPr>
            <a:r>
              <a:rPr lang="en-US" sz="1400" b="1" dirty="0">
                <a:solidFill>
                  <a:srgbClr val="16202C"/>
                </a:solidFill>
              </a:rPr>
              <a:t>Any time: </a:t>
            </a:r>
            <a:r>
              <a:rPr lang="en-US" sz="1400" dirty="0">
                <a:solidFill>
                  <a:srgbClr val="4A5563"/>
                </a:solidFill>
              </a:rPr>
              <a:t>ask the chat about the saved news and PRDA prices.</a:t>
            </a:r>
            <a:endParaRPr lang="en-US" sz="1400" dirty="0"/>
          </a:p>
        </p:txBody>
      </p:sp>
      <p:sp>
        <p:nvSpPr>
          <p:cNvPr id="29" name="Under the hood"/>
          <p:cNvSpPr/>
          <p:nvPr/>
        </p:nvSpPr>
        <p:spPr>
          <a:xfrm>
            <a:off x="548640" y="5120640"/>
            <a:ext cx="11094415" cy="1143000"/>
          </a:xfrm>
          <a:prstGeom prst="roundRect">
            <a:avLst>
              <a:gd name="adj" fmla="val 8000"/>
            </a:avLst>
          </a:prstGeom>
          <a:solidFill>
            <a:srgbClr val="F3F4F6"/>
          </a:solidFill>
          <a:ln/>
        </p:spPr>
        <p:txBody>
          <a:bodyPr/>
          <a:lstStyle/>
          <a:p>
            <a:endParaRPr lang="en-US"/>
          </a:p>
        </p:txBody>
      </p:sp>
      <p:pic>
        <p:nvPicPr>
          <p:cNvPr id="30" name="Image 6" descr="preencoded.png"/>
          <p:cNvPicPr>
            <a:picLocks noChangeAspect="1"/>
          </p:cNvPicPr>
          <p:nvPr/>
        </p:nvPicPr>
        <p:blipFill>
          <a:blip r:embed="rId9"/>
          <a:stretch>
            <a:fillRect/>
          </a:stretch>
        </p:blipFill>
        <p:spPr>
          <a:xfrm>
            <a:off x="804672" y="5294376"/>
            <a:ext cx="219456" cy="219456"/>
          </a:xfrm>
          <a:prstGeom prst="rect">
            <a:avLst/>
          </a:prstGeom>
        </p:spPr>
      </p:pic>
      <p:sp>
        <p:nvSpPr>
          <p:cNvPr id="31" name="Text 22"/>
          <p:cNvSpPr txBox="1"/>
          <p:nvPr/>
        </p:nvSpPr>
        <p:spPr>
          <a:xfrm>
            <a:off x="1115568" y="52578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32" name="Text 23"/>
          <p:cNvSpPr txBox="1"/>
          <p:nvPr/>
        </p:nvSpPr>
        <p:spPr>
          <a:xfrm>
            <a:off x="804672" y="5623560"/>
            <a:ext cx="3283610" cy="576072"/>
          </a:xfrm>
          <a:prstGeom prst="rect">
            <a:avLst/>
          </a:prstGeom>
          <a:noFill/>
          <a:ln/>
        </p:spPr>
        <p:txBody>
          <a:bodyPr wrap="square" lIns="0" tIns="0" rIns="0" bIns="0" rtlCol="0" anchor="t"/>
          <a:lstStyle/>
          <a:p>
            <a:pPr marL="0" indent="0">
              <a:buNone/>
            </a:pPr>
            <a:r>
              <a:rPr lang="en-US" sz="1400" b="1" dirty="0">
                <a:solidFill>
                  <a:srgbClr val="16202C"/>
                </a:solidFill>
              </a:rPr>
              <a:t>EventBridge Scheduler</a:t>
            </a:r>
            <a:r>
              <a:rPr lang="en-US" sz="1400" dirty="0">
                <a:solidFill>
                  <a:srgbClr val="4A5563"/>
                </a:solidFill>
              </a:rPr>
              <a:t>: AWS’s alarm clock</a:t>
            </a:r>
            <a:r>
              <a:rPr lang="en-US" sz="1400">
                <a:solidFill>
                  <a:srgbClr val="4A5563"/>
                </a:solidFill>
              </a:rPr>
              <a:t>. Price refreshes follow IDX hours in Jakarta.</a:t>
            </a:r>
            <a:endParaRPr lang="en-US" sz="1400" dirty="0"/>
          </a:p>
        </p:txBody>
      </p:sp>
      <p:sp>
        <p:nvSpPr>
          <p:cNvPr id="33" name="Text 24"/>
          <p:cNvSpPr txBox="1"/>
          <p:nvPr/>
        </p:nvSpPr>
        <p:spPr>
          <a:xfrm>
            <a:off x="4454042" y="5623560"/>
            <a:ext cx="3283610" cy="576072"/>
          </a:xfrm>
          <a:prstGeom prst="rect">
            <a:avLst/>
          </a:prstGeom>
          <a:noFill/>
          <a:ln/>
        </p:spPr>
        <p:txBody>
          <a:bodyPr wrap="square" lIns="0" tIns="0" rIns="0" bIns="0" rtlCol="0" anchor="t"/>
          <a:lstStyle/>
          <a:p>
            <a:pPr marL="0" indent="0">
              <a:buNone/>
            </a:pPr>
            <a:r>
              <a:rPr lang="en-US" sz="1400" b="1" dirty="0">
                <a:solidFill>
                  <a:srgbClr val="16202C"/>
                </a:solidFill>
              </a:rPr>
              <a:t>Editable</a:t>
            </a:r>
            <a:r>
              <a:rPr lang="en-US" sz="1400" dirty="0">
                <a:solidFill>
                  <a:srgbClr val="4A5563"/>
                </a:solidFill>
              </a:rPr>
              <a:t>: change the daily run time in Settings; the schedule updates itself.</a:t>
            </a:r>
            <a:endParaRPr lang="en-US" sz="1400" dirty="0"/>
          </a:p>
        </p:txBody>
      </p:sp>
      <p:sp>
        <p:nvSpPr>
          <p:cNvPr id="34" name="Text 25"/>
          <p:cNvSpPr txBox="1"/>
          <p:nvPr/>
        </p:nvSpPr>
        <p:spPr>
          <a:xfrm>
            <a:off x="8103413" y="5623560"/>
            <a:ext cx="3283610" cy="576072"/>
          </a:xfrm>
          <a:prstGeom prst="rect">
            <a:avLst/>
          </a:prstGeom>
          <a:noFill/>
          <a:ln/>
        </p:spPr>
        <p:txBody>
          <a:bodyPr wrap="square" lIns="0" tIns="0" rIns="0" bIns="0" rtlCol="0" anchor="t"/>
          <a:lstStyle/>
          <a:p>
            <a:pPr marL="0" indent="0">
              <a:buNone/>
            </a:pPr>
            <a:r>
              <a:rPr lang="en-US" sz="1400" b="1" dirty="0">
                <a:solidFill>
                  <a:srgbClr val="16202C"/>
                </a:solidFill>
              </a:rPr>
              <a:t>Telegram</a:t>
            </a:r>
            <a:r>
              <a:rPr lang="en-US" sz="1400" dirty="0">
                <a:solidFill>
                  <a:srgbClr val="4A5563"/>
                </a:solidFill>
              </a:rPr>
              <a:t>: the digest has an “Open review queue” button that opens the Review tab.</a:t>
            </a:r>
            <a:endParaRPr lang="en-US" sz="1400" dirty="0"/>
          </a:p>
        </p:txBody>
      </p:sp>
      <p:sp>
        <p:nvSpPr>
          <p:cNvPr id="35"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3</a:t>
            </a:fld>
            <a:endParaRPr lang="en-US"/>
          </a:p>
        </p:txBody>
      </p:sp>
      <p:sp>
        <p:nvSpPr>
          <p:cNvPr id="36" name="Time zone note">
            <a:extLst>
              <a:ext uri="{FF2B5EF4-FFF2-40B4-BE49-F238E27FC236}">
                <a16:creationId xmlns:a16="http://schemas.microsoft.com/office/drawing/2014/main" id="{229FBE3C-63DB-D3D5-0925-51F437667BDF}"/>
              </a:ext>
            </a:extLst>
          </p:cNvPr>
          <p:cNvSpPr txBox="1"/>
          <p:nvPr/>
        </p:nvSpPr>
        <p:spPr>
          <a:xfrm>
            <a:off x="548640" y="1810512"/>
            <a:ext cx="5547208" cy="369332"/>
          </a:xfrm>
          <a:prstGeom prst="rect">
            <a:avLst/>
          </a:prstGeom>
          <a:noFill/>
        </p:spPr>
        <p:txBody>
          <a:bodyPr vert="horz" wrap="square" lIns="0" tIns="0" rIns="0" bIns="0" rtlCol="0" anchor="t">
            <a:noAutofit/>
          </a:bodyPr>
          <a:lstStyle/>
          <a:p>
            <a:r>
              <a:rPr lang="en-US" sz="1200">
                <a:solidFill>
                  <a:srgbClr val="6B7280"/>
                </a:solidFill>
                <a:latin typeface="Calibri" panose="020F0502020204030204" pitchFamily="34" charset="0"/>
              </a:rPr>
              <a:t>All times are Singapore time (SGT).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E2E8F0"/>
          </a:solidFill>
          <a:ln/>
        </p:spPr>
        <p:txBody>
          <a:bodyPr wrap="square" lIns="0" tIns="0" rIns="0" bIns="0" rtlCol="0" anchor="ctr"/>
          <a:lstStyle/>
          <a:p>
            <a:pPr marL="0" indent="0" algn="ctr">
              <a:buNone/>
            </a:pPr>
            <a:r>
              <a:rPr lang="en-US" sz="1050" b="1" kern="0" spc="150" dirty="0">
                <a:solidFill>
                  <a:srgbClr val="334155"/>
                </a:solidFill>
              </a:rPr>
              <a:t>OVERVIEW</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The big picture</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Your browser shows the screen, our part of AWS does the work, and outside services supply news, prices and AI.</a:t>
            </a:r>
            <a:endParaRPr lang="en-US" sz="1800" dirty="0"/>
          </a:p>
        </p:txBody>
      </p:sp>
      <p:sp>
        <p:nvSpPr>
          <p:cNvPr id="5" name="Shape 3"/>
          <p:cNvSpPr/>
          <p:nvPr/>
        </p:nvSpPr>
        <p:spPr>
          <a:xfrm>
            <a:off x="548640" y="2103120"/>
            <a:ext cx="1280160" cy="4160520"/>
          </a:xfrm>
          <a:prstGeom prst="roundRect">
            <a:avLst>
              <a:gd name="adj" fmla="val 8571"/>
            </a:avLst>
          </a:prstGeom>
          <a:solidFill>
            <a:srgbClr val="F8FAFC"/>
          </a:solidFill>
          <a:ln w="12700">
            <a:solidFill>
              <a:srgbClr val="E2E8F0"/>
            </a:solidFill>
            <a:prstDash val="solid"/>
          </a:ln>
        </p:spPr>
        <p:txBody>
          <a:bodyPr/>
          <a:lstStyle/>
          <a:p>
            <a:endParaRPr lang="en-US"/>
          </a:p>
        </p:txBody>
      </p:sp>
      <p:sp>
        <p:nvSpPr>
          <p:cNvPr id="6" name="Text 4"/>
          <p:cNvSpPr txBox="1"/>
          <p:nvPr/>
        </p:nvSpPr>
        <p:spPr>
          <a:xfrm>
            <a:off x="704088" y="2231136"/>
            <a:ext cx="1005840" cy="274320"/>
          </a:xfrm>
          <a:prstGeom prst="rect">
            <a:avLst/>
          </a:prstGeom>
          <a:noFill/>
          <a:ln/>
        </p:spPr>
        <p:txBody>
          <a:bodyPr wrap="square" lIns="0" tIns="0" rIns="0" bIns="0" rtlCol="0" anchor="ctr"/>
          <a:lstStyle/>
          <a:p>
            <a:pPr marL="0" indent="0">
              <a:buNone/>
            </a:pPr>
            <a:r>
              <a:rPr lang="en-US" sz="1400" b="1" dirty="0">
                <a:solidFill>
                  <a:srgbClr val="334155"/>
                </a:solidFill>
              </a:rPr>
              <a:t>You</a:t>
            </a:r>
            <a:endParaRPr lang="en-US" sz="1400" dirty="0"/>
          </a:p>
        </p:txBody>
      </p:sp>
      <p:sp>
        <p:nvSpPr>
          <p:cNvPr id="7" name="Shape 5"/>
          <p:cNvSpPr/>
          <p:nvPr/>
        </p:nvSpPr>
        <p:spPr>
          <a:xfrm>
            <a:off x="868680" y="2880360"/>
            <a:ext cx="640080" cy="640080"/>
          </a:xfrm>
          <a:prstGeom prst="ellipse">
            <a:avLst/>
          </a:prstGeom>
          <a:solidFill>
            <a:srgbClr val="E2E8F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15898" y="3027578"/>
            <a:ext cx="345643" cy="345643"/>
          </a:xfrm>
          <a:prstGeom prst="rect">
            <a:avLst/>
          </a:prstGeom>
        </p:spPr>
      </p:pic>
      <p:sp>
        <p:nvSpPr>
          <p:cNvPr id="9" name="Shape 6"/>
          <p:cNvSpPr/>
          <p:nvPr/>
        </p:nvSpPr>
        <p:spPr>
          <a:xfrm>
            <a:off x="868680" y="3794760"/>
            <a:ext cx="640080" cy="640080"/>
          </a:xfrm>
          <a:prstGeom prst="ellipse">
            <a:avLst/>
          </a:prstGeom>
          <a:solidFill>
            <a:srgbClr val="E2E8F0"/>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1015898" y="3941978"/>
            <a:ext cx="345643" cy="345643"/>
          </a:xfrm>
          <a:prstGeom prst="rect">
            <a:avLst/>
          </a:prstGeom>
        </p:spPr>
      </p:pic>
      <p:sp>
        <p:nvSpPr>
          <p:cNvPr id="11" name="Text 7"/>
          <p:cNvSpPr txBox="1"/>
          <p:nvPr/>
        </p:nvSpPr>
        <p:spPr>
          <a:xfrm>
            <a:off x="640080" y="4617720"/>
            <a:ext cx="1097280" cy="502920"/>
          </a:xfrm>
          <a:prstGeom prst="rect">
            <a:avLst/>
          </a:prstGeom>
          <a:noFill/>
          <a:ln/>
        </p:spPr>
        <p:txBody>
          <a:bodyPr wrap="square" lIns="0" tIns="0" rIns="0" bIns="0" rtlCol="0" anchor="t"/>
          <a:lstStyle/>
          <a:p>
            <a:pPr marL="0" indent="0" algn="ctr">
              <a:buNone/>
            </a:pPr>
            <a:r>
              <a:rPr lang="en-US" sz="1400" dirty="0">
                <a:solidFill>
                  <a:srgbClr val="16202C"/>
                </a:solidFill>
              </a:rPr>
              <a:t>Browser or phone</a:t>
            </a:r>
            <a:endParaRPr lang="en-US" sz="1400" dirty="0"/>
          </a:p>
        </p:txBody>
      </p:sp>
      <p:sp>
        <p:nvSpPr>
          <p:cNvPr id="12" name="Shape 8"/>
          <p:cNvSpPr/>
          <p:nvPr/>
        </p:nvSpPr>
        <p:spPr>
          <a:xfrm>
            <a:off x="2194560" y="2103120"/>
            <a:ext cx="3154680" cy="4160520"/>
          </a:xfrm>
          <a:prstGeom prst="roundRect">
            <a:avLst>
              <a:gd name="adj" fmla="val 3478"/>
            </a:avLst>
          </a:prstGeom>
          <a:solidFill>
            <a:srgbClr val="F5F3FE"/>
          </a:solidFill>
          <a:ln w="12700">
            <a:solidFill>
              <a:srgbClr val="D9D4F7"/>
            </a:solidFill>
            <a:prstDash val="solid"/>
          </a:ln>
        </p:spPr>
        <p:txBody>
          <a:bodyPr/>
          <a:lstStyle/>
          <a:p>
            <a:endParaRPr lang="en-US"/>
          </a:p>
        </p:txBody>
      </p:sp>
      <p:sp>
        <p:nvSpPr>
          <p:cNvPr id="13" name="Text 9"/>
          <p:cNvSpPr txBox="1"/>
          <p:nvPr/>
        </p:nvSpPr>
        <p:spPr>
          <a:xfrm>
            <a:off x="2350008" y="2231136"/>
            <a:ext cx="2880360" cy="274320"/>
          </a:xfrm>
          <a:prstGeom prst="rect">
            <a:avLst/>
          </a:prstGeom>
          <a:noFill/>
          <a:ln/>
        </p:spPr>
        <p:txBody>
          <a:bodyPr wrap="square" lIns="0" tIns="0" rIns="0" bIns="0" rtlCol="0" anchor="ctr"/>
          <a:lstStyle/>
          <a:p>
            <a:pPr marL="0" indent="0">
              <a:buNone/>
            </a:pPr>
            <a:r>
              <a:rPr lang="en-US" sz="1400" b="1" dirty="0">
                <a:solidFill>
                  <a:srgbClr val="4A3AB5"/>
                </a:solidFill>
              </a:rPr>
              <a:t>AWS Cloud</a:t>
            </a:r>
            <a:endParaRPr lang="en-US" sz="1400" dirty="0"/>
          </a:p>
        </p:txBody>
      </p:sp>
      <p:sp>
        <p:nvSpPr>
          <p:cNvPr id="14" name="Shape 10"/>
          <p:cNvSpPr/>
          <p:nvPr/>
        </p:nvSpPr>
        <p:spPr>
          <a:xfrm>
            <a:off x="2350008" y="2596896"/>
            <a:ext cx="1353312" cy="1033272"/>
          </a:xfrm>
          <a:prstGeom prst="roundRect">
            <a:avLst>
              <a:gd name="adj" fmla="val 8850"/>
            </a:avLst>
          </a:prstGeom>
          <a:solidFill>
            <a:srgbClr val="FFFFFF"/>
          </a:solidFill>
          <a:ln w="12700">
            <a:solidFill>
              <a:srgbClr val="D9D4F7"/>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2487168" y="2743200"/>
            <a:ext cx="310896" cy="310896"/>
          </a:xfrm>
          <a:prstGeom prst="rect">
            <a:avLst/>
          </a:prstGeom>
        </p:spPr>
      </p:pic>
      <p:sp>
        <p:nvSpPr>
          <p:cNvPr id="16" name="Text 11"/>
          <p:cNvSpPr txBox="1"/>
          <p:nvPr/>
        </p:nvSpPr>
        <p:spPr>
          <a:xfrm>
            <a:off x="2487168" y="3127248"/>
            <a:ext cx="1124712" cy="466344"/>
          </a:xfrm>
          <a:prstGeom prst="rect">
            <a:avLst/>
          </a:prstGeom>
          <a:noFill/>
          <a:ln/>
        </p:spPr>
        <p:txBody>
          <a:bodyPr wrap="square" lIns="0" tIns="0" rIns="0" bIns="0" rtlCol="0" anchor="t"/>
          <a:lstStyle/>
          <a:p>
            <a:pPr marL="0" indent="0">
              <a:buNone/>
            </a:pPr>
            <a:r>
              <a:rPr lang="en-US" sz="1400" b="1" dirty="0">
                <a:solidFill>
                  <a:srgbClr val="16202C"/>
                </a:solidFill>
              </a:rPr>
              <a:t>Website</a:t>
            </a:r>
            <a:endParaRPr lang="en-US" sz="1400" dirty="0"/>
          </a:p>
        </p:txBody>
      </p:sp>
      <p:sp>
        <p:nvSpPr>
          <p:cNvPr id="17" name="Shape 12"/>
          <p:cNvSpPr/>
          <p:nvPr/>
        </p:nvSpPr>
        <p:spPr>
          <a:xfrm>
            <a:off x="3840480" y="2596896"/>
            <a:ext cx="1353312" cy="1033272"/>
          </a:xfrm>
          <a:prstGeom prst="roundRect">
            <a:avLst>
              <a:gd name="adj" fmla="val 8850"/>
            </a:avLst>
          </a:prstGeom>
          <a:solidFill>
            <a:srgbClr val="FFFFFF"/>
          </a:solidFill>
          <a:ln w="12700">
            <a:solidFill>
              <a:srgbClr val="D9D4F7"/>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3977640" y="2743200"/>
            <a:ext cx="310896" cy="310896"/>
          </a:xfrm>
          <a:prstGeom prst="rect">
            <a:avLst/>
          </a:prstGeom>
        </p:spPr>
      </p:pic>
      <p:sp>
        <p:nvSpPr>
          <p:cNvPr id="19" name="Text 13"/>
          <p:cNvSpPr txBox="1"/>
          <p:nvPr/>
        </p:nvSpPr>
        <p:spPr>
          <a:xfrm>
            <a:off x="3977640" y="3127248"/>
            <a:ext cx="1124712" cy="466344"/>
          </a:xfrm>
          <a:prstGeom prst="rect">
            <a:avLst/>
          </a:prstGeom>
          <a:noFill/>
          <a:ln/>
        </p:spPr>
        <p:txBody>
          <a:bodyPr wrap="square" lIns="0" tIns="0" rIns="0" bIns="0" rtlCol="0" anchor="t"/>
          <a:lstStyle/>
          <a:p>
            <a:pPr marL="0" indent="0">
              <a:buNone/>
            </a:pPr>
            <a:r>
              <a:rPr lang="en-US" sz="1400" b="1" dirty="0">
                <a:solidFill>
                  <a:srgbClr val="16202C"/>
                </a:solidFill>
              </a:rPr>
              <a:t>Login</a:t>
            </a:r>
            <a:endParaRPr lang="en-US" sz="1400" dirty="0"/>
          </a:p>
        </p:txBody>
      </p:sp>
      <p:sp>
        <p:nvSpPr>
          <p:cNvPr id="20" name="Shape 14"/>
          <p:cNvSpPr/>
          <p:nvPr/>
        </p:nvSpPr>
        <p:spPr>
          <a:xfrm>
            <a:off x="2350008" y="3767328"/>
            <a:ext cx="1353312" cy="1033272"/>
          </a:xfrm>
          <a:prstGeom prst="roundRect">
            <a:avLst>
              <a:gd name="adj" fmla="val 8850"/>
            </a:avLst>
          </a:prstGeom>
          <a:solidFill>
            <a:srgbClr val="FFFFFF"/>
          </a:solidFill>
          <a:ln w="12700">
            <a:solidFill>
              <a:srgbClr val="D9D4F7"/>
            </a:solidFill>
            <a:prstDash val="solid"/>
          </a:ln>
        </p:spPr>
        <p:txBody>
          <a:bodyPr/>
          <a:lstStyle/>
          <a:p>
            <a:endParaRPr lang="en-US"/>
          </a:p>
        </p:txBody>
      </p:sp>
      <p:pic>
        <p:nvPicPr>
          <p:cNvPr id="21" name="Image 4" descr="preencoded.png"/>
          <p:cNvPicPr>
            <a:picLocks noChangeAspect="1"/>
          </p:cNvPicPr>
          <p:nvPr/>
        </p:nvPicPr>
        <p:blipFill>
          <a:blip r:embed="rId7"/>
          <a:stretch>
            <a:fillRect/>
          </a:stretch>
        </p:blipFill>
        <p:spPr>
          <a:xfrm>
            <a:off x="2487168" y="3913632"/>
            <a:ext cx="310896" cy="310896"/>
          </a:xfrm>
          <a:prstGeom prst="rect">
            <a:avLst/>
          </a:prstGeom>
        </p:spPr>
      </p:pic>
      <p:sp>
        <p:nvSpPr>
          <p:cNvPr id="22" name="Text 15"/>
          <p:cNvSpPr txBox="1"/>
          <p:nvPr/>
        </p:nvSpPr>
        <p:spPr>
          <a:xfrm>
            <a:off x="2487168" y="4297680"/>
            <a:ext cx="1124712" cy="466344"/>
          </a:xfrm>
          <a:prstGeom prst="rect">
            <a:avLst/>
          </a:prstGeom>
          <a:noFill/>
          <a:ln/>
        </p:spPr>
        <p:txBody>
          <a:bodyPr wrap="square" lIns="0" tIns="0" rIns="0" bIns="0" rtlCol="0" anchor="t"/>
          <a:lstStyle/>
          <a:p>
            <a:pPr marL="0" indent="0">
              <a:buNone/>
            </a:pPr>
            <a:r>
              <a:rPr lang="en-US" sz="1400" b="1" dirty="0">
                <a:solidFill>
                  <a:srgbClr val="16202C"/>
                </a:solidFill>
              </a:rPr>
              <a:t>Front door (API)</a:t>
            </a:r>
            <a:endParaRPr lang="en-US" sz="1400" dirty="0"/>
          </a:p>
        </p:txBody>
      </p:sp>
      <p:sp>
        <p:nvSpPr>
          <p:cNvPr id="23" name="Shape 16"/>
          <p:cNvSpPr/>
          <p:nvPr/>
        </p:nvSpPr>
        <p:spPr>
          <a:xfrm>
            <a:off x="3840480" y="3767328"/>
            <a:ext cx="1353312" cy="1033272"/>
          </a:xfrm>
          <a:prstGeom prst="roundRect">
            <a:avLst>
              <a:gd name="adj" fmla="val 8850"/>
            </a:avLst>
          </a:prstGeom>
          <a:solidFill>
            <a:srgbClr val="FFFFFF"/>
          </a:solidFill>
          <a:ln w="12700">
            <a:solidFill>
              <a:srgbClr val="D9D4F7"/>
            </a:solidFill>
            <a:prstDash val="solid"/>
          </a:ln>
        </p:spPr>
        <p:txBody>
          <a:bodyPr/>
          <a:lstStyle/>
          <a:p>
            <a:endParaRPr lang="en-US"/>
          </a:p>
        </p:txBody>
      </p:sp>
      <p:pic>
        <p:nvPicPr>
          <p:cNvPr id="24" name="Image 5" descr="preencoded.png"/>
          <p:cNvPicPr>
            <a:picLocks noChangeAspect="1"/>
          </p:cNvPicPr>
          <p:nvPr/>
        </p:nvPicPr>
        <p:blipFill>
          <a:blip r:embed="rId8"/>
          <a:stretch>
            <a:fillRect/>
          </a:stretch>
        </p:blipFill>
        <p:spPr>
          <a:xfrm>
            <a:off x="3977640" y="3913632"/>
            <a:ext cx="310896" cy="310896"/>
          </a:xfrm>
          <a:prstGeom prst="rect">
            <a:avLst/>
          </a:prstGeom>
        </p:spPr>
      </p:pic>
      <p:sp>
        <p:nvSpPr>
          <p:cNvPr id="25" name="Text 17"/>
          <p:cNvSpPr txBox="1"/>
          <p:nvPr/>
        </p:nvSpPr>
        <p:spPr>
          <a:xfrm>
            <a:off x="3977640" y="4297680"/>
            <a:ext cx="1124712" cy="466344"/>
          </a:xfrm>
          <a:prstGeom prst="rect">
            <a:avLst/>
          </a:prstGeom>
          <a:noFill/>
          <a:ln/>
        </p:spPr>
        <p:txBody>
          <a:bodyPr wrap="square" lIns="0" tIns="0" rIns="0" bIns="0" rtlCol="0" anchor="t"/>
          <a:lstStyle/>
          <a:p>
            <a:pPr marL="0" indent="0">
              <a:buNone/>
            </a:pPr>
            <a:r>
              <a:rPr lang="en-US" sz="1400" b="1" dirty="0">
                <a:solidFill>
                  <a:srgbClr val="16202C"/>
                </a:solidFill>
              </a:rPr>
              <a:t>Workers</a:t>
            </a:r>
            <a:endParaRPr lang="en-US" sz="1400" dirty="0"/>
          </a:p>
        </p:txBody>
      </p:sp>
      <p:sp>
        <p:nvSpPr>
          <p:cNvPr id="26" name="Shape 18"/>
          <p:cNvSpPr/>
          <p:nvPr/>
        </p:nvSpPr>
        <p:spPr>
          <a:xfrm>
            <a:off x="2350008" y="4937760"/>
            <a:ext cx="1353312" cy="1033272"/>
          </a:xfrm>
          <a:prstGeom prst="roundRect">
            <a:avLst>
              <a:gd name="adj" fmla="val 8850"/>
            </a:avLst>
          </a:prstGeom>
          <a:solidFill>
            <a:srgbClr val="FFFFFF"/>
          </a:solidFill>
          <a:ln w="12700">
            <a:solidFill>
              <a:srgbClr val="D9D4F7"/>
            </a:solidFill>
            <a:prstDash val="solid"/>
          </a:ln>
        </p:spPr>
        <p:txBody>
          <a:bodyPr/>
          <a:lstStyle/>
          <a:p>
            <a:endParaRPr lang="en-US"/>
          </a:p>
        </p:txBody>
      </p:sp>
      <p:pic>
        <p:nvPicPr>
          <p:cNvPr id="27" name="Image 6" descr="preencoded.png"/>
          <p:cNvPicPr>
            <a:picLocks noChangeAspect="1"/>
          </p:cNvPicPr>
          <p:nvPr/>
        </p:nvPicPr>
        <p:blipFill>
          <a:blip r:embed="rId9"/>
          <a:stretch>
            <a:fillRect/>
          </a:stretch>
        </p:blipFill>
        <p:spPr>
          <a:xfrm>
            <a:off x="2487168" y="5084064"/>
            <a:ext cx="310896" cy="310896"/>
          </a:xfrm>
          <a:prstGeom prst="rect">
            <a:avLst/>
          </a:prstGeom>
        </p:spPr>
      </p:pic>
      <p:sp>
        <p:nvSpPr>
          <p:cNvPr id="28" name="Text 19"/>
          <p:cNvSpPr txBox="1"/>
          <p:nvPr/>
        </p:nvSpPr>
        <p:spPr>
          <a:xfrm>
            <a:off x="2487168" y="5468112"/>
            <a:ext cx="1124712" cy="466344"/>
          </a:xfrm>
          <a:prstGeom prst="rect">
            <a:avLst/>
          </a:prstGeom>
          <a:noFill/>
          <a:ln/>
        </p:spPr>
        <p:txBody>
          <a:bodyPr wrap="square" lIns="0" tIns="0" rIns="0" bIns="0" rtlCol="0" anchor="t"/>
          <a:lstStyle/>
          <a:p>
            <a:pPr marL="0" indent="0">
              <a:buNone/>
            </a:pPr>
            <a:r>
              <a:rPr lang="en-US" sz="1400" b="1" dirty="0">
                <a:solidFill>
                  <a:srgbClr val="16202C"/>
                </a:solidFill>
              </a:rPr>
              <a:t>Scheduled jobs</a:t>
            </a:r>
            <a:endParaRPr lang="en-US" sz="1400" dirty="0"/>
          </a:p>
        </p:txBody>
      </p:sp>
      <p:sp>
        <p:nvSpPr>
          <p:cNvPr id="29" name="Shape 20"/>
          <p:cNvSpPr/>
          <p:nvPr/>
        </p:nvSpPr>
        <p:spPr>
          <a:xfrm>
            <a:off x="3840480" y="4937760"/>
            <a:ext cx="1353312" cy="1033272"/>
          </a:xfrm>
          <a:prstGeom prst="roundRect">
            <a:avLst>
              <a:gd name="adj" fmla="val 8850"/>
            </a:avLst>
          </a:prstGeom>
          <a:solidFill>
            <a:srgbClr val="FFFFFF"/>
          </a:solidFill>
          <a:ln w="12700">
            <a:solidFill>
              <a:srgbClr val="D9D4F7"/>
            </a:solidFill>
            <a:prstDash val="solid"/>
          </a:ln>
        </p:spPr>
        <p:txBody>
          <a:bodyPr/>
          <a:lstStyle/>
          <a:p>
            <a:endParaRPr lang="en-US"/>
          </a:p>
        </p:txBody>
      </p:sp>
      <p:pic>
        <p:nvPicPr>
          <p:cNvPr id="30" name="Image 7" descr="preencoded.png"/>
          <p:cNvPicPr>
            <a:picLocks noChangeAspect="1"/>
          </p:cNvPicPr>
          <p:nvPr/>
        </p:nvPicPr>
        <p:blipFill>
          <a:blip r:embed="rId10"/>
          <a:stretch>
            <a:fillRect/>
          </a:stretch>
        </p:blipFill>
        <p:spPr>
          <a:xfrm>
            <a:off x="3977640" y="5084064"/>
            <a:ext cx="310896" cy="310896"/>
          </a:xfrm>
          <a:prstGeom prst="rect">
            <a:avLst/>
          </a:prstGeom>
        </p:spPr>
      </p:pic>
      <p:sp>
        <p:nvSpPr>
          <p:cNvPr id="31" name="Text 21"/>
          <p:cNvSpPr txBox="1"/>
          <p:nvPr/>
        </p:nvSpPr>
        <p:spPr>
          <a:xfrm>
            <a:off x="3977640" y="5468112"/>
            <a:ext cx="1124712" cy="466344"/>
          </a:xfrm>
          <a:prstGeom prst="rect">
            <a:avLst/>
          </a:prstGeom>
          <a:noFill/>
          <a:ln/>
        </p:spPr>
        <p:txBody>
          <a:bodyPr wrap="square" lIns="0" tIns="0" rIns="0" bIns="0" rtlCol="0" anchor="t"/>
          <a:lstStyle/>
          <a:p>
            <a:pPr marL="0" indent="0">
              <a:buNone/>
            </a:pPr>
            <a:r>
              <a:rPr lang="en-US" sz="1400" b="1" dirty="0">
                <a:solidFill>
                  <a:srgbClr val="16202C"/>
                </a:solidFill>
              </a:rPr>
              <a:t>Storage</a:t>
            </a:r>
            <a:endParaRPr lang="en-US" sz="1400" dirty="0"/>
          </a:p>
        </p:txBody>
      </p:sp>
      <p:sp>
        <p:nvSpPr>
          <p:cNvPr id="32" name="Shape 22"/>
          <p:cNvSpPr/>
          <p:nvPr/>
        </p:nvSpPr>
        <p:spPr>
          <a:xfrm>
            <a:off x="5715000" y="2103120"/>
            <a:ext cx="1828800" cy="4160520"/>
          </a:xfrm>
          <a:prstGeom prst="roundRect">
            <a:avLst>
              <a:gd name="adj" fmla="val 6000"/>
            </a:avLst>
          </a:prstGeom>
          <a:solidFill>
            <a:srgbClr val="F8FAFC"/>
          </a:solidFill>
          <a:ln w="12700">
            <a:solidFill>
              <a:srgbClr val="E2E8F0"/>
            </a:solidFill>
            <a:prstDash val="solid"/>
          </a:ln>
        </p:spPr>
        <p:txBody>
          <a:bodyPr/>
          <a:lstStyle/>
          <a:p>
            <a:endParaRPr lang="en-US"/>
          </a:p>
        </p:txBody>
      </p:sp>
      <p:sp>
        <p:nvSpPr>
          <p:cNvPr id="33" name="Text 23"/>
          <p:cNvSpPr txBox="1"/>
          <p:nvPr/>
        </p:nvSpPr>
        <p:spPr>
          <a:xfrm>
            <a:off x="5870448" y="2231136"/>
            <a:ext cx="1554480" cy="274320"/>
          </a:xfrm>
          <a:prstGeom prst="rect">
            <a:avLst/>
          </a:prstGeom>
          <a:noFill/>
          <a:ln/>
        </p:spPr>
        <p:txBody>
          <a:bodyPr wrap="square" lIns="0" tIns="0" rIns="0" bIns="0" rtlCol="0" anchor="ctr"/>
          <a:lstStyle/>
          <a:p>
            <a:pPr marL="0" indent="0">
              <a:buNone/>
            </a:pPr>
            <a:r>
              <a:rPr lang="en-US" sz="1400" b="1" dirty="0">
                <a:solidFill>
                  <a:srgbClr val="334155"/>
                </a:solidFill>
              </a:rPr>
              <a:t>Outside services</a:t>
            </a:r>
            <a:endParaRPr lang="en-US" sz="1400" dirty="0"/>
          </a:p>
        </p:txBody>
      </p:sp>
      <p:sp>
        <p:nvSpPr>
          <p:cNvPr id="34" name="Shape 24"/>
          <p:cNvSpPr/>
          <p:nvPr/>
        </p:nvSpPr>
        <p:spPr>
          <a:xfrm>
            <a:off x="5870448" y="2596896"/>
            <a:ext cx="1517904" cy="786384"/>
          </a:xfrm>
          <a:prstGeom prst="roundRect">
            <a:avLst>
              <a:gd name="adj" fmla="val 11628"/>
            </a:avLst>
          </a:prstGeom>
          <a:solidFill>
            <a:srgbClr val="FFFFFF"/>
          </a:solidFill>
          <a:ln w="12700">
            <a:solidFill>
              <a:srgbClr val="E5E7EB"/>
            </a:solidFill>
            <a:prstDash val="solid"/>
          </a:ln>
        </p:spPr>
        <p:txBody>
          <a:bodyPr/>
          <a:lstStyle/>
          <a:p>
            <a:endParaRPr lang="en-US"/>
          </a:p>
        </p:txBody>
      </p:sp>
      <p:sp>
        <p:nvSpPr>
          <p:cNvPr id="35" name="Text 25"/>
          <p:cNvSpPr txBox="1"/>
          <p:nvPr/>
        </p:nvSpPr>
        <p:spPr>
          <a:xfrm>
            <a:off x="5989320" y="2688336"/>
            <a:ext cx="1280160" cy="640080"/>
          </a:xfrm>
          <a:prstGeom prst="rect">
            <a:avLst/>
          </a:prstGeom>
          <a:noFill/>
          <a:ln/>
        </p:spPr>
        <p:txBody>
          <a:bodyPr wrap="square" lIns="0" tIns="0" rIns="0" bIns="0" rtlCol="0" anchor="t"/>
          <a:lstStyle/>
          <a:p>
            <a:pPr marL="0" indent="0">
              <a:buNone/>
            </a:pPr>
            <a:r>
              <a:rPr lang="en-US" sz="1400" b="1" dirty="0">
                <a:solidFill>
                  <a:srgbClr val="16202C"/>
                </a:solidFill>
              </a:rPr>
              <a:t>News</a:t>
            </a:r>
            <a:endParaRPr lang="en-US" sz="1400" dirty="0"/>
          </a:p>
          <a:p>
            <a:pPr marL="0" indent="0">
              <a:buNone/>
            </a:pPr>
            <a:r>
              <a:rPr lang="en-US" sz="1200" dirty="0">
                <a:solidFill>
                  <a:srgbClr val="4A5563"/>
                </a:solidFill>
              </a:rPr>
              <a:t>Google News, GDELT</a:t>
            </a:r>
            <a:endParaRPr lang="en-US" sz="1400" dirty="0"/>
          </a:p>
        </p:txBody>
      </p:sp>
      <p:sp>
        <p:nvSpPr>
          <p:cNvPr id="36" name="Shape 26"/>
          <p:cNvSpPr/>
          <p:nvPr/>
        </p:nvSpPr>
        <p:spPr>
          <a:xfrm>
            <a:off x="5870448" y="3502152"/>
            <a:ext cx="1517904" cy="786384"/>
          </a:xfrm>
          <a:prstGeom prst="roundRect">
            <a:avLst>
              <a:gd name="adj" fmla="val 11628"/>
            </a:avLst>
          </a:prstGeom>
          <a:solidFill>
            <a:srgbClr val="FFFFFF"/>
          </a:solidFill>
          <a:ln w="12700">
            <a:solidFill>
              <a:srgbClr val="E5E7EB"/>
            </a:solidFill>
            <a:prstDash val="solid"/>
          </a:ln>
        </p:spPr>
        <p:txBody>
          <a:bodyPr/>
          <a:lstStyle/>
          <a:p>
            <a:endParaRPr lang="en-US"/>
          </a:p>
        </p:txBody>
      </p:sp>
      <p:sp>
        <p:nvSpPr>
          <p:cNvPr id="37" name="Text 27"/>
          <p:cNvSpPr txBox="1"/>
          <p:nvPr/>
        </p:nvSpPr>
        <p:spPr>
          <a:xfrm>
            <a:off x="5989320" y="3593592"/>
            <a:ext cx="1280160" cy="640080"/>
          </a:xfrm>
          <a:prstGeom prst="rect">
            <a:avLst/>
          </a:prstGeom>
          <a:noFill/>
          <a:ln/>
        </p:spPr>
        <p:txBody>
          <a:bodyPr wrap="square" lIns="0" tIns="0" rIns="0" bIns="0" rtlCol="0" anchor="t"/>
          <a:lstStyle/>
          <a:p>
            <a:pPr marL="0" indent="0">
              <a:buNone/>
            </a:pPr>
            <a:r>
              <a:rPr lang="en-US" sz="1400" b="1" dirty="0">
                <a:solidFill>
                  <a:srgbClr val="16202C"/>
                </a:solidFill>
              </a:rPr>
              <a:t>Prices</a:t>
            </a:r>
            <a:endParaRPr lang="en-US" sz="1400" dirty="0"/>
          </a:p>
          <a:p>
            <a:pPr marL="0" indent="0">
              <a:buNone/>
            </a:pPr>
            <a:r>
              <a:rPr lang="en-US" sz="1200" dirty="0">
                <a:solidFill>
                  <a:srgbClr val="4A5563"/>
                </a:solidFill>
              </a:rPr>
              <a:t>Yahoo Finance</a:t>
            </a:r>
            <a:endParaRPr lang="en-US" sz="1400" dirty="0"/>
          </a:p>
        </p:txBody>
      </p:sp>
      <p:sp>
        <p:nvSpPr>
          <p:cNvPr id="38" name="Shape 28"/>
          <p:cNvSpPr/>
          <p:nvPr/>
        </p:nvSpPr>
        <p:spPr>
          <a:xfrm>
            <a:off x="5870448" y="4407408"/>
            <a:ext cx="1517904" cy="786384"/>
          </a:xfrm>
          <a:prstGeom prst="roundRect">
            <a:avLst>
              <a:gd name="adj" fmla="val 11628"/>
            </a:avLst>
          </a:prstGeom>
          <a:solidFill>
            <a:srgbClr val="FFFFFF"/>
          </a:solidFill>
          <a:ln w="12700">
            <a:solidFill>
              <a:srgbClr val="E5E7EB"/>
            </a:solidFill>
            <a:prstDash val="solid"/>
          </a:ln>
        </p:spPr>
        <p:txBody>
          <a:bodyPr/>
          <a:lstStyle/>
          <a:p>
            <a:endParaRPr lang="en-US"/>
          </a:p>
        </p:txBody>
      </p:sp>
      <p:sp>
        <p:nvSpPr>
          <p:cNvPr id="39" name="Text 29"/>
          <p:cNvSpPr txBox="1"/>
          <p:nvPr/>
        </p:nvSpPr>
        <p:spPr>
          <a:xfrm>
            <a:off x="5989320" y="4498848"/>
            <a:ext cx="1280160" cy="640080"/>
          </a:xfrm>
          <a:prstGeom prst="rect">
            <a:avLst/>
          </a:prstGeom>
          <a:noFill/>
          <a:ln/>
        </p:spPr>
        <p:txBody>
          <a:bodyPr wrap="square" lIns="0" tIns="0" rIns="0" bIns="0" rtlCol="0" anchor="t"/>
          <a:lstStyle/>
          <a:p>
            <a:pPr marL="0" indent="0">
              <a:buNone/>
            </a:pPr>
            <a:r>
              <a:rPr lang="en-US" sz="1400" b="1" dirty="0">
                <a:solidFill>
                  <a:srgbClr val="16202C"/>
                </a:solidFill>
              </a:rPr>
              <a:t>AI models</a:t>
            </a:r>
            <a:endParaRPr lang="en-US" sz="1400" dirty="0"/>
          </a:p>
          <a:p>
            <a:pPr marL="0" indent="0">
              <a:buNone/>
            </a:pPr>
            <a:r>
              <a:rPr lang="en-US" sz="1200" dirty="0">
                <a:solidFill>
                  <a:srgbClr val="4A5563"/>
                </a:solidFill>
              </a:rPr>
              <a:t>Anthropic, OpenAI, Google</a:t>
            </a:r>
            <a:endParaRPr lang="en-US" sz="1400" dirty="0"/>
          </a:p>
        </p:txBody>
      </p:sp>
      <p:sp>
        <p:nvSpPr>
          <p:cNvPr id="40" name="Shape 30"/>
          <p:cNvSpPr/>
          <p:nvPr/>
        </p:nvSpPr>
        <p:spPr>
          <a:xfrm>
            <a:off x="5870448" y="5312664"/>
            <a:ext cx="1517904" cy="786384"/>
          </a:xfrm>
          <a:prstGeom prst="roundRect">
            <a:avLst>
              <a:gd name="adj" fmla="val 11628"/>
            </a:avLst>
          </a:prstGeom>
          <a:solidFill>
            <a:srgbClr val="FFFFFF"/>
          </a:solidFill>
          <a:ln w="12700">
            <a:solidFill>
              <a:srgbClr val="E5E7EB"/>
            </a:solidFill>
            <a:prstDash val="solid"/>
          </a:ln>
        </p:spPr>
        <p:txBody>
          <a:bodyPr/>
          <a:lstStyle/>
          <a:p>
            <a:endParaRPr lang="en-US"/>
          </a:p>
        </p:txBody>
      </p:sp>
      <p:sp>
        <p:nvSpPr>
          <p:cNvPr id="41" name="Text 31"/>
          <p:cNvSpPr txBox="1"/>
          <p:nvPr/>
        </p:nvSpPr>
        <p:spPr>
          <a:xfrm>
            <a:off x="5989320" y="5404104"/>
            <a:ext cx="1280160" cy="640080"/>
          </a:xfrm>
          <a:prstGeom prst="rect">
            <a:avLst/>
          </a:prstGeom>
          <a:noFill/>
          <a:ln/>
        </p:spPr>
        <p:txBody>
          <a:bodyPr wrap="square" lIns="0" tIns="0" rIns="0" bIns="0" rtlCol="0" anchor="t"/>
          <a:lstStyle/>
          <a:p>
            <a:pPr marL="0" indent="0">
              <a:buNone/>
            </a:pPr>
            <a:r>
              <a:rPr lang="en-US" sz="1400" b="1" dirty="0">
                <a:solidFill>
                  <a:srgbClr val="16202C"/>
                </a:solidFill>
              </a:rPr>
              <a:t>Messages</a:t>
            </a:r>
            <a:endParaRPr lang="en-US" sz="1400" dirty="0"/>
          </a:p>
          <a:p>
            <a:pPr marL="0" indent="0">
              <a:buNone/>
            </a:pPr>
            <a:r>
              <a:rPr lang="en-US" sz="1200" dirty="0">
                <a:solidFill>
                  <a:srgbClr val="4A5563"/>
                </a:solidFill>
              </a:rPr>
              <a:t>Telegram</a:t>
            </a:r>
            <a:endParaRPr lang="en-US" sz="1400" dirty="0"/>
          </a:p>
        </p:txBody>
      </p:sp>
      <p:sp>
        <p:nvSpPr>
          <p:cNvPr id="42" name="Shape 32"/>
          <p:cNvSpPr/>
          <p:nvPr/>
        </p:nvSpPr>
        <p:spPr>
          <a:xfrm>
            <a:off x="1856232" y="4183380"/>
            <a:ext cx="310896" cy="0"/>
          </a:xfrm>
          <a:prstGeom prst="line">
            <a:avLst/>
          </a:prstGeom>
          <a:noFill/>
          <a:ln w="25400">
            <a:solidFill>
              <a:srgbClr val="94A3B8"/>
            </a:solidFill>
            <a:prstDash val="solid"/>
            <a:headEnd type="triangle"/>
            <a:tailEnd type="triangle"/>
          </a:ln>
        </p:spPr>
        <p:txBody>
          <a:bodyPr/>
          <a:lstStyle/>
          <a:p>
            <a:endParaRPr lang="en-US"/>
          </a:p>
        </p:txBody>
      </p:sp>
      <p:sp>
        <p:nvSpPr>
          <p:cNvPr id="43" name="Shape 33"/>
          <p:cNvSpPr/>
          <p:nvPr/>
        </p:nvSpPr>
        <p:spPr>
          <a:xfrm>
            <a:off x="5376672" y="4183380"/>
            <a:ext cx="310896" cy="0"/>
          </a:xfrm>
          <a:prstGeom prst="line">
            <a:avLst/>
          </a:prstGeom>
          <a:noFill/>
          <a:ln w="25400">
            <a:solidFill>
              <a:srgbClr val="94A3B8"/>
            </a:solidFill>
            <a:prstDash val="solid"/>
            <a:headEnd type="triangle"/>
            <a:tailEnd type="triangle"/>
          </a:ln>
        </p:spPr>
        <p:txBody>
          <a:bodyPr/>
          <a:lstStyle/>
          <a:p>
            <a:endParaRPr lang="en-US"/>
          </a:p>
        </p:txBody>
      </p:sp>
      <p:sp>
        <p:nvSpPr>
          <p:cNvPr id="44"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45" name="Image 8" descr="preencoded.png"/>
          <p:cNvPicPr>
            <a:picLocks noChangeAspect="1"/>
          </p:cNvPicPr>
          <p:nvPr/>
        </p:nvPicPr>
        <p:blipFill>
          <a:blip r:embed="rId11"/>
          <a:stretch>
            <a:fillRect/>
          </a:stretch>
        </p:blipFill>
        <p:spPr>
          <a:xfrm>
            <a:off x="8074152" y="2322576"/>
            <a:ext cx="219456" cy="219456"/>
          </a:xfrm>
          <a:prstGeom prst="rect">
            <a:avLst/>
          </a:prstGeom>
        </p:spPr>
      </p:pic>
      <p:sp>
        <p:nvSpPr>
          <p:cNvPr id="46" name="Text 35"/>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47" name="Text 36"/>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Website</a:t>
            </a:r>
            <a:r>
              <a:rPr lang="en-US" sz="1400" dirty="0">
                <a:solidFill>
                  <a:srgbClr val="4A5563"/>
                </a:solidFill>
              </a:rPr>
              <a:t>: CloudFront and S3 serve the app files.</a:t>
            </a:r>
            <a:endParaRPr lang="en-US" sz="1400" dirty="0"/>
          </a:p>
          <a:p>
            <a:pPr marL="0" indent="0">
              <a:spcAft>
                <a:spcPts val="800"/>
              </a:spcAft>
              <a:buNone/>
            </a:pPr>
            <a:r>
              <a:rPr lang="en-US" sz="1400" b="1" dirty="0">
                <a:solidFill>
                  <a:srgbClr val="16202C"/>
                </a:solidFill>
              </a:rPr>
              <a:t>Login</a:t>
            </a:r>
            <a:r>
              <a:rPr lang="en-US" sz="1400" dirty="0">
                <a:solidFill>
                  <a:srgbClr val="4A5563"/>
                </a:solidFill>
              </a:rPr>
              <a:t>: Amazon Cognito, invite‑only.</a:t>
            </a:r>
            <a:endParaRPr lang="en-US" sz="1400" dirty="0"/>
          </a:p>
          <a:p>
            <a:pPr marL="0" indent="0">
              <a:spcAft>
                <a:spcPts val="800"/>
              </a:spcAft>
              <a:buNone/>
            </a:pPr>
            <a:r>
              <a:rPr lang="en-US" sz="1400" b="1" dirty="0">
                <a:solidFill>
                  <a:srgbClr val="16202C"/>
                </a:solidFill>
              </a:rPr>
              <a:t>Front door</a:t>
            </a:r>
            <a:r>
              <a:rPr lang="en-US" sz="1400" dirty="0">
                <a:solidFill>
                  <a:srgbClr val="4A5563"/>
                </a:solidFill>
              </a:rPr>
              <a:t>: API Gateway checks your login on every request.</a:t>
            </a:r>
            <a:endParaRPr lang="en-US" sz="1400" dirty="0"/>
          </a:p>
          <a:p>
            <a:pPr marL="0" indent="0">
              <a:spcAft>
                <a:spcPts val="800"/>
              </a:spcAft>
              <a:buNone/>
            </a:pPr>
            <a:r>
              <a:rPr lang="en-US" sz="1400" b="1" dirty="0">
                <a:solidFill>
                  <a:srgbClr val="16202C"/>
                </a:solidFill>
              </a:rPr>
              <a:t>Workers</a:t>
            </a:r>
            <a:r>
              <a:rPr lang="en-US" sz="1400" dirty="0">
                <a:solidFill>
                  <a:srgbClr val="4A5563"/>
                </a:solidFill>
              </a:rPr>
              <a:t>: AWS Lambda functions; Step Functions chains multi‑step jobs.</a:t>
            </a:r>
            <a:endParaRPr lang="en-US" sz="1400" dirty="0"/>
          </a:p>
          <a:p>
            <a:pPr marL="0" indent="0">
              <a:spcAft>
                <a:spcPts val="800"/>
              </a:spcAft>
              <a:buNone/>
            </a:pPr>
            <a:r>
              <a:rPr lang="en-US" sz="1400" b="1" dirty="0">
                <a:solidFill>
                  <a:srgbClr val="16202C"/>
                </a:solidFill>
              </a:rPr>
              <a:t>Scheduled jobs</a:t>
            </a:r>
            <a:r>
              <a:rPr lang="en-US" sz="1400" dirty="0">
                <a:solidFill>
                  <a:srgbClr val="4A5563"/>
                </a:solidFill>
              </a:rPr>
              <a:t>: EventBridge Scheduler.</a:t>
            </a:r>
            <a:endParaRPr lang="en-US" sz="1400" dirty="0"/>
          </a:p>
          <a:p>
            <a:pPr marL="0" indent="0">
              <a:spcAft>
                <a:spcPts val="800"/>
              </a:spcAft>
              <a:buNone/>
            </a:pPr>
            <a:r>
              <a:rPr lang="en-US" sz="1400" b="1" dirty="0">
                <a:solidFill>
                  <a:srgbClr val="16202C"/>
                </a:solidFill>
              </a:rPr>
              <a:t>Storage</a:t>
            </a:r>
            <a:r>
              <a:rPr lang="en-US" sz="1400" dirty="0">
                <a:solidFill>
                  <a:srgbClr val="4A5563"/>
                </a:solidFill>
              </a:rPr>
              <a:t>: DynamoDB, S3 and S3 Vectors; keys in Secrets Manager.</a:t>
            </a:r>
            <a:endParaRPr lang="en-US" sz="1400" dirty="0"/>
          </a:p>
        </p:txBody>
      </p:sp>
      <p:sp>
        <p:nvSpPr>
          <p:cNvPr id="48"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E2E8F0"/>
          </a:solidFill>
          <a:ln/>
        </p:spPr>
        <p:txBody>
          <a:bodyPr wrap="square" lIns="0" tIns="0" rIns="0" bIns="0" rtlCol="0" anchor="ctr"/>
          <a:lstStyle/>
          <a:p>
            <a:pPr marL="0" indent="0" algn="ctr">
              <a:buNone/>
            </a:pPr>
            <a:r>
              <a:rPr lang="en-US" sz="1050" b="1" kern="0" spc="150" dirty="0">
                <a:solidFill>
                  <a:srgbClr val="334155"/>
                </a:solidFill>
              </a:rPr>
              <a:t>OVERVIEW</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Frontend and backend</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Think of a restaurant: the frontend is the dining room, the backend is the kitchen, and the API is the waiter.</a:t>
            </a:r>
            <a:endParaRPr lang="en-US" sz="1800" dirty="0"/>
          </a:p>
        </p:txBody>
      </p:sp>
      <p:sp>
        <p:nvSpPr>
          <p:cNvPr id="5" name="Shape 3"/>
          <p:cNvSpPr/>
          <p:nvPr/>
        </p:nvSpPr>
        <p:spPr>
          <a:xfrm>
            <a:off x="548640" y="2103120"/>
            <a:ext cx="3364992" cy="1938528"/>
          </a:xfrm>
          <a:prstGeom prst="roundRect">
            <a:avLst>
              <a:gd name="adj" fmla="val 4717"/>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777240" y="2331720"/>
            <a:ext cx="566928" cy="566928"/>
          </a:xfrm>
          <a:prstGeom prst="ellipse">
            <a:avLst/>
          </a:prstGeom>
          <a:solidFill>
            <a:srgbClr val="E2E8F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07633" y="2462113"/>
            <a:ext cx="306141" cy="306141"/>
          </a:xfrm>
          <a:prstGeom prst="rect">
            <a:avLst/>
          </a:prstGeom>
        </p:spPr>
      </p:pic>
      <p:sp>
        <p:nvSpPr>
          <p:cNvPr id="8" name="Text 5"/>
          <p:cNvSpPr txBox="1"/>
          <p:nvPr/>
        </p:nvSpPr>
        <p:spPr>
          <a:xfrm>
            <a:off x="1481328" y="2304288"/>
            <a:ext cx="2267712" cy="347472"/>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The dining room</a:t>
            </a:r>
            <a:endParaRPr lang="en-US" sz="2000" dirty="0"/>
          </a:p>
        </p:txBody>
      </p:sp>
      <p:sp>
        <p:nvSpPr>
          <p:cNvPr id="9" name="Text 6"/>
          <p:cNvSpPr txBox="1"/>
          <p:nvPr/>
        </p:nvSpPr>
        <p:spPr>
          <a:xfrm>
            <a:off x="1481328" y="2651760"/>
            <a:ext cx="2267712" cy="274320"/>
          </a:xfrm>
          <a:prstGeom prst="rect">
            <a:avLst/>
          </a:prstGeom>
          <a:noFill/>
          <a:ln/>
        </p:spPr>
        <p:txBody>
          <a:bodyPr wrap="square" lIns="0" tIns="0" rIns="0" bIns="0" rtlCol="0" anchor="t"/>
          <a:lstStyle/>
          <a:p>
            <a:pPr marL="0" indent="0">
              <a:buNone/>
            </a:pPr>
            <a:r>
              <a:rPr lang="en-US" sz="1400" b="1" dirty="0">
                <a:solidFill>
                  <a:srgbClr val="1F5FAF"/>
                </a:solidFill>
              </a:rPr>
              <a:t>= the frontend</a:t>
            </a:r>
            <a:endParaRPr lang="en-US" sz="1400" dirty="0"/>
          </a:p>
        </p:txBody>
      </p:sp>
      <p:sp>
        <p:nvSpPr>
          <p:cNvPr id="10" name="Text 7"/>
          <p:cNvSpPr txBox="1"/>
          <p:nvPr/>
        </p:nvSpPr>
        <p:spPr>
          <a:xfrm>
            <a:off x="777240" y="3090672"/>
            <a:ext cx="2907792" cy="859536"/>
          </a:xfrm>
          <a:prstGeom prst="rect">
            <a:avLst/>
          </a:prstGeom>
          <a:noFill/>
          <a:ln/>
        </p:spPr>
        <p:txBody>
          <a:bodyPr wrap="square" lIns="0" tIns="0" rIns="0" bIns="0" rtlCol="0" anchor="t"/>
          <a:lstStyle/>
          <a:p>
            <a:pPr marL="0" indent="0">
              <a:buNone/>
            </a:pPr>
            <a:r>
              <a:rPr lang="en-US" sz="1400" dirty="0">
                <a:solidFill>
                  <a:srgbClr val="4A5563"/>
                </a:solidFill>
              </a:rPr>
              <a:t>What you see and touch: the tabs, buttons and chart. It runs in your browser.</a:t>
            </a:r>
            <a:endParaRPr lang="en-US" sz="1400" dirty="0"/>
          </a:p>
        </p:txBody>
      </p:sp>
      <p:sp>
        <p:nvSpPr>
          <p:cNvPr id="11" name="Shape 8"/>
          <p:cNvSpPr/>
          <p:nvPr/>
        </p:nvSpPr>
        <p:spPr>
          <a:xfrm>
            <a:off x="3968496" y="3072384"/>
            <a:ext cx="389992" cy="0"/>
          </a:xfrm>
          <a:prstGeom prst="line">
            <a:avLst/>
          </a:prstGeom>
          <a:noFill/>
          <a:ln w="25400">
            <a:solidFill>
              <a:srgbClr val="94A3B8"/>
            </a:solidFill>
            <a:prstDash val="solid"/>
            <a:headEnd type="triangle"/>
            <a:tailEnd type="triangle"/>
          </a:ln>
        </p:spPr>
        <p:txBody>
          <a:bodyPr/>
          <a:lstStyle/>
          <a:p>
            <a:endParaRPr lang="en-US"/>
          </a:p>
        </p:txBody>
      </p:sp>
      <p:sp>
        <p:nvSpPr>
          <p:cNvPr id="12" name="Shape 9"/>
          <p:cNvSpPr/>
          <p:nvPr/>
        </p:nvSpPr>
        <p:spPr>
          <a:xfrm>
            <a:off x="4413352" y="2103120"/>
            <a:ext cx="3364992" cy="1938528"/>
          </a:xfrm>
          <a:prstGeom prst="roundRect">
            <a:avLst>
              <a:gd name="adj" fmla="val 4717"/>
            </a:avLst>
          </a:prstGeom>
          <a:solidFill>
            <a:srgbClr val="FFFFFF"/>
          </a:solidFill>
          <a:ln w="12700">
            <a:solidFill>
              <a:srgbClr val="E5E7EB"/>
            </a:solidFill>
            <a:prstDash val="solid"/>
          </a:ln>
        </p:spPr>
        <p:txBody>
          <a:bodyPr/>
          <a:lstStyle/>
          <a:p>
            <a:endParaRPr lang="en-US"/>
          </a:p>
        </p:txBody>
      </p:sp>
      <p:sp>
        <p:nvSpPr>
          <p:cNvPr id="13" name="Shape 10"/>
          <p:cNvSpPr/>
          <p:nvPr/>
        </p:nvSpPr>
        <p:spPr>
          <a:xfrm>
            <a:off x="4641952" y="2331720"/>
            <a:ext cx="566928" cy="566928"/>
          </a:xfrm>
          <a:prstGeom prst="ellipse">
            <a:avLst/>
          </a:prstGeom>
          <a:solidFill>
            <a:srgbClr val="E2E8F0"/>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772345" y="2462113"/>
            <a:ext cx="306141" cy="306141"/>
          </a:xfrm>
          <a:prstGeom prst="rect">
            <a:avLst/>
          </a:prstGeom>
        </p:spPr>
      </p:pic>
      <p:sp>
        <p:nvSpPr>
          <p:cNvPr id="15" name="Text 11"/>
          <p:cNvSpPr txBox="1"/>
          <p:nvPr/>
        </p:nvSpPr>
        <p:spPr>
          <a:xfrm>
            <a:off x="5346040" y="2304288"/>
            <a:ext cx="2267712" cy="347472"/>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The waiter</a:t>
            </a:r>
            <a:endParaRPr lang="en-US" sz="2000" dirty="0"/>
          </a:p>
        </p:txBody>
      </p:sp>
      <p:sp>
        <p:nvSpPr>
          <p:cNvPr id="16" name="Text 12"/>
          <p:cNvSpPr txBox="1"/>
          <p:nvPr/>
        </p:nvSpPr>
        <p:spPr>
          <a:xfrm>
            <a:off x="5346040" y="2651760"/>
            <a:ext cx="2267712" cy="274320"/>
          </a:xfrm>
          <a:prstGeom prst="rect">
            <a:avLst/>
          </a:prstGeom>
          <a:noFill/>
          <a:ln/>
        </p:spPr>
        <p:txBody>
          <a:bodyPr wrap="square" lIns="0" tIns="0" rIns="0" bIns="0" rtlCol="0" anchor="t"/>
          <a:lstStyle/>
          <a:p>
            <a:pPr marL="0" indent="0">
              <a:buNone/>
            </a:pPr>
            <a:r>
              <a:rPr lang="en-US" sz="1400" b="1" dirty="0">
                <a:solidFill>
                  <a:srgbClr val="334155"/>
                </a:solidFill>
              </a:rPr>
              <a:t>= the API</a:t>
            </a:r>
            <a:endParaRPr lang="en-US" sz="1400" dirty="0"/>
          </a:p>
        </p:txBody>
      </p:sp>
      <p:sp>
        <p:nvSpPr>
          <p:cNvPr id="17" name="Text 13"/>
          <p:cNvSpPr txBox="1"/>
          <p:nvPr/>
        </p:nvSpPr>
        <p:spPr>
          <a:xfrm>
            <a:off x="4641952" y="3090672"/>
            <a:ext cx="2907792" cy="859536"/>
          </a:xfrm>
          <a:prstGeom prst="rect">
            <a:avLst/>
          </a:prstGeom>
          <a:noFill/>
          <a:ln/>
        </p:spPr>
        <p:txBody>
          <a:bodyPr wrap="square" lIns="0" tIns="0" rIns="0" bIns="0" rtlCol="0" anchor="t"/>
          <a:lstStyle/>
          <a:p>
            <a:pPr marL="0" indent="0">
              <a:buNone/>
            </a:pPr>
            <a:r>
              <a:rPr lang="en-US" sz="1400" dirty="0">
                <a:solidFill>
                  <a:srgbClr val="4A5563"/>
                </a:solidFill>
              </a:rPr>
              <a:t>Carries each order to the kitchen and brings back the result, checking your pass every time.</a:t>
            </a:r>
            <a:endParaRPr lang="en-US" sz="1400" dirty="0"/>
          </a:p>
        </p:txBody>
      </p:sp>
      <p:sp>
        <p:nvSpPr>
          <p:cNvPr id="18" name="Shape 14"/>
          <p:cNvSpPr/>
          <p:nvPr/>
        </p:nvSpPr>
        <p:spPr>
          <a:xfrm>
            <a:off x="7833208" y="3072384"/>
            <a:ext cx="389992" cy="0"/>
          </a:xfrm>
          <a:prstGeom prst="line">
            <a:avLst/>
          </a:prstGeom>
          <a:noFill/>
          <a:ln w="25400">
            <a:solidFill>
              <a:srgbClr val="94A3B8"/>
            </a:solidFill>
            <a:prstDash val="solid"/>
            <a:headEnd type="triangle"/>
            <a:tailEnd type="triangle"/>
          </a:ln>
        </p:spPr>
        <p:txBody>
          <a:bodyPr/>
          <a:lstStyle/>
          <a:p>
            <a:endParaRPr lang="en-US"/>
          </a:p>
        </p:txBody>
      </p:sp>
      <p:sp>
        <p:nvSpPr>
          <p:cNvPr id="19" name="Shape 15"/>
          <p:cNvSpPr/>
          <p:nvPr/>
        </p:nvSpPr>
        <p:spPr>
          <a:xfrm>
            <a:off x="8278063" y="2103120"/>
            <a:ext cx="3364992" cy="1938528"/>
          </a:xfrm>
          <a:prstGeom prst="roundRect">
            <a:avLst>
              <a:gd name="adj" fmla="val 4717"/>
            </a:avLst>
          </a:prstGeom>
          <a:solidFill>
            <a:srgbClr val="FFFFFF"/>
          </a:solidFill>
          <a:ln w="12700">
            <a:solidFill>
              <a:srgbClr val="E5E7EB"/>
            </a:solidFill>
            <a:prstDash val="solid"/>
          </a:ln>
        </p:spPr>
        <p:txBody>
          <a:bodyPr/>
          <a:lstStyle/>
          <a:p>
            <a:endParaRPr lang="en-US"/>
          </a:p>
        </p:txBody>
      </p:sp>
      <p:sp>
        <p:nvSpPr>
          <p:cNvPr id="20" name="Shape 16"/>
          <p:cNvSpPr/>
          <p:nvPr/>
        </p:nvSpPr>
        <p:spPr>
          <a:xfrm>
            <a:off x="8506663" y="2331720"/>
            <a:ext cx="566928" cy="566928"/>
          </a:xfrm>
          <a:prstGeom prst="ellipse">
            <a:avLst/>
          </a:prstGeom>
          <a:solidFill>
            <a:srgbClr val="E2E8F0"/>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8637057" y="2462113"/>
            <a:ext cx="306141" cy="306141"/>
          </a:xfrm>
          <a:prstGeom prst="rect">
            <a:avLst/>
          </a:prstGeom>
        </p:spPr>
      </p:pic>
      <p:sp>
        <p:nvSpPr>
          <p:cNvPr id="22" name="Text 17"/>
          <p:cNvSpPr txBox="1"/>
          <p:nvPr/>
        </p:nvSpPr>
        <p:spPr>
          <a:xfrm>
            <a:off x="9210751" y="2304288"/>
            <a:ext cx="2267712" cy="347472"/>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The kitchen</a:t>
            </a:r>
            <a:endParaRPr lang="en-US" sz="2000" dirty="0"/>
          </a:p>
        </p:txBody>
      </p:sp>
      <p:sp>
        <p:nvSpPr>
          <p:cNvPr id="23" name="Text 18"/>
          <p:cNvSpPr txBox="1"/>
          <p:nvPr/>
        </p:nvSpPr>
        <p:spPr>
          <a:xfrm>
            <a:off x="9210751" y="2651760"/>
            <a:ext cx="2267712" cy="274320"/>
          </a:xfrm>
          <a:prstGeom prst="rect">
            <a:avLst/>
          </a:prstGeom>
          <a:noFill/>
          <a:ln/>
        </p:spPr>
        <p:txBody>
          <a:bodyPr wrap="square" lIns="0" tIns="0" rIns="0" bIns="0" rtlCol="0" anchor="t"/>
          <a:lstStyle/>
          <a:p>
            <a:pPr marL="0" indent="0">
              <a:buNone/>
            </a:pPr>
            <a:r>
              <a:rPr lang="en-US" sz="1400" b="1" dirty="0">
                <a:solidFill>
                  <a:srgbClr val="4A3AB5"/>
                </a:solidFill>
              </a:rPr>
              <a:t>= the backend</a:t>
            </a:r>
            <a:endParaRPr lang="en-US" sz="1400" dirty="0"/>
          </a:p>
        </p:txBody>
      </p:sp>
      <p:sp>
        <p:nvSpPr>
          <p:cNvPr id="24" name="Text 19"/>
          <p:cNvSpPr txBox="1"/>
          <p:nvPr/>
        </p:nvSpPr>
        <p:spPr>
          <a:xfrm>
            <a:off x="8506663" y="3090672"/>
            <a:ext cx="2907792" cy="859536"/>
          </a:xfrm>
          <a:prstGeom prst="rect">
            <a:avLst/>
          </a:prstGeom>
          <a:noFill/>
          <a:ln/>
        </p:spPr>
        <p:txBody>
          <a:bodyPr wrap="square" lIns="0" tIns="0" rIns="0" bIns="0" rtlCol="0" anchor="t"/>
          <a:lstStyle/>
          <a:p>
            <a:pPr marL="0" indent="0">
              <a:buNone/>
            </a:pPr>
            <a:r>
              <a:rPr lang="en-US" sz="1400" dirty="0">
                <a:solidFill>
                  <a:srgbClr val="4A5563"/>
                </a:solidFill>
              </a:rPr>
              <a:t>Where the work happens: finding news, running the AI, storing everything. It runs in AWS.</a:t>
            </a:r>
            <a:endParaRPr lang="en-US" sz="1400" dirty="0"/>
          </a:p>
        </p:txBody>
      </p:sp>
      <p:pic>
        <p:nvPicPr>
          <p:cNvPr id="25" name="Image 3" descr="preencoded.png"/>
          <p:cNvPicPr>
            <a:picLocks noChangeAspect="1"/>
          </p:cNvPicPr>
          <p:nvPr/>
        </p:nvPicPr>
        <p:blipFill>
          <a:blip r:embed="rId6"/>
          <a:stretch>
            <a:fillRect/>
          </a:stretch>
        </p:blipFill>
        <p:spPr>
          <a:xfrm>
            <a:off x="548640" y="4315968"/>
            <a:ext cx="274320" cy="274320"/>
          </a:xfrm>
          <a:prstGeom prst="rect">
            <a:avLst/>
          </a:prstGeom>
        </p:spPr>
      </p:pic>
      <p:sp>
        <p:nvSpPr>
          <p:cNvPr id="26" name="Text 20"/>
          <p:cNvSpPr txBox="1"/>
          <p:nvPr/>
        </p:nvSpPr>
        <p:spPr>
          <a:xfrm>
            <a:off x="960120" y="4224528"/>
            <a:ext cx="10682935" cy="457200"/>
          </a:xfrm>
          <a:prstGeom prst="rect">
            <a:avLst/>
          </a:prstGeom>
          <a:noFill/>
          <a:ln/>
        </p:spPr>
        <p:txBody>
          <a:bodyPr wrap="square" lIns="0" tIns="0" rIns="0" bIns="0" rtlCol="0" anchor="ctr"/>
          <a:lstStyle/>
          <a:p>
            <a:pPr marL="0" indent="0">
              <a:buNone/>
            </a:pPr>
            <a:r>
              <a:rPr lang="en-US" sz="1400" b="1" dirty="0">
                <a:solidFill>
                  <a:srgbClr val="16202C"/>
                </a:solidFill>
              </a:rPr>
              <a:t>Example: </a:t>
            </a:r>
            <a:r>
              <a:rPr lang="en-US" sz="1400" dirty="0">
                <a:solidFill>
                  <a:srgbClr val="4A5563"/>
                </a:solidFill>
              </a:rPr>
              <a:t>you open the News tab → the waiter asks the kitchen for “saved news, last 30 days” → the kitchen sends back a list → the dining room shows it as cards.</a:t>
            </a:r>
            <a:endParaRPr lang="en-US" sz="1400" dirty="0"/>
          </a:p>
        </p:txBody>
      </p:sp>
      <p:sp>
        <p:nvSpPr>
          <p:cNvPr id="27" name="Under the hood"/>
          <p:cNvSpPr/>
          <p:nvPr/>
        </p:nvSpPr>
        <p:spPr>
          <a:xfrm>
            <a:off x="548640" y="4846320"/>
            <a:ext cx="11094415" cy="1417320"/>
          </a:xfrm>
          <a:prstGeom prst="roundRect">
            <a:avLst>
              <a:gd name="adj" fmla="val 6452"/>
            </a:avLst>
          </a:prstGeom>
          <a:solidFill>
            <a:srgbClr val="F3F4F6"/>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804672" y="5020056"/>
            <a:ext cx="219456" cy="219456"/>
          </a:xfrm>
          <a:prstGeom prst="rect">
            <a:avLst/>
          </a:prstGeom>
        </p:spPr>
      </p:pic>
      <p:sp>
        <p:nvSpPr>
          <p:cNvPr id="29" name="Text 22"/>
          <p:cNvSpPr txBox="1"/>
          <p:nvPr/>
        </p:nvSpPr>
        <p:spPr>
          <a:xfrm>
            <a:off x="1115568" y="498348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30" name="Text 23"/>
          <p:cNvSpPr txBox="1"/>
          <p:nvPr/>
        </p:nvSpPr>
        <p:spPr>
          <a:xfrm>
            <a:off x="804672" y="5349240"/>
            <a:ext cx="3283610" cy="850392"/>
          </a:xfrm>
          <a:prstGeom prst="rect">
            <a:avLst/>
          </a:prstGeom>
          <a:noFill/>
          <a:ln/>
        </p:spPr>
        <p:txBody>
          <a:bodyPr wrap="square" lIns="0" tIns="0" rIns="0" bIns="0" rtlCol="0" anchor="t"/>
          <a:lstStyle/>
          <a:p>
            <a:pPr marL="0" indent="0">
              <a:buNone/>
            </a:pPr>
            <a:r>
              <a:rPr lang="en-US" sz="1400" b="1" dirty="0">
                <a:solidFill>
                  <a:srgbClr val="16202C"/>
                </a:solidFill>
              </a:rPr>
              <a:t>React + TypeScript</a:t>
            </a:r>
            <a:r>
              <a:rPr lang="en-US" sz="1400" dirty="0">
                <a:solidFill>
                  <a:srgbClr val="4A5563"/>
                </a:solidFill>
              </a:rPr>
              <a:t>: the building blocks of the frontend; TypeScript is also used in the backend.</a:t>
            </a:r>
            <a:endParaRPr lang="en-US" sz="1400" dirty="0"/>
          </a:p>
        </p:txBody>
      </p:sp>
      <p:sp>
        <p:nvSpPr>
          <p:cNvPr id="31" name="Text 24"/>
          <p:cNvSpPr txBox="1"/>
          <p:nvPr/>
        </p:nvSpPr>
        <p:spPr>
          <a:xfrm>
            <a:off x="4454042" y="5349240"/>
            <a:ext cx="3283610" cy="850392"/>
          </a:xfrm>
          <a:prstGeom prst="rect">
            <a:avLst/>
          </a:prstGeom>
          <a:noFill/>
          <a:ln/>
        </p:spPr>
        <p:txBody>
          <a:bodyPr wrap="square" lIns="0" tIns="0" rIns="0" bIns="0" rtlCol="0" anchor="t"/>
          <a:lstStyle/>
          <a:p>
            <a:pPr marL="0" indent="0">
              <a:buNone/>
            </a:pPr>
            <a:r>
              <a:rPr lang="en-US" sz="1400" b="1" dirty="0">
                <a:solidFill>
                  <a:srgbClr val="16202C"/>
                </a:solidFill>
              </a:rPr>
              <a:t>API, JSON, HTTPS</a:t>
            </a:r>
            <a:r>
              <a:rPr lang="en-US" sz="1400" dirty="0">
                <a:solidFill>
                  <a:srgbClr val="4A5563"/>
                </a:solidFill>
              </a:rPr>
              <a:t>: web addresses such as GET /news that return data as JSON text, always encrypted.</a:t>
            </a:r>
            <a:endParaRPr lang="en-US" sz="1400" dirty="0"/>
          </a:p>
        </p:txBody>
      </p:sp>
      <p:sp>
        <p:nvSpPr>
          <p:cNvPr id="32" name="Text 25"/>
          <p:cNvSpPr txBox="1"/>
          <p:nvPr/>
        </p:nvSpPr>
        <p:spPr>
          <a:xfrm>
            <a:off x="8103413" y="5349240"/>
            <a:ext cx="3283610" cy="850392"/>
          </a:xfrm>
          <a:prstGeom prst="rect">
            <a:avLst/>
          </a:prstGeom>
          <a:noFill/>
          <a:ln/>
        </p:spPr>
        <p:txBody>
          <a:bodyPr wrap="square" lIns="0" tIns="0" rIns="0" bIns="0" rtlCol="0" anchor="t"/>
          <a:lstStyle/>
          <a:p>
            <a:pPr marL="0" indent="0">
              <a:buNone/>
            </a:pPr>
            <a:r>
              <a:rPr lang="en-US" sz="1400" b="1" dirty="0">
                <a:solidFill>
                  <a:srgbClr val="16202C"/>
                </a:solidFill>
              </a:rPr>
              <a:t>AWS CDK</a:t>
            </a:r>
            <a:r>
              <a:rPr lang="en-US" sz="1400" dirty="0">
                <a:solidFill>
                  <a:srgbClr val="4A5563"/>
                </a:solidFill>
              </a:rPr>
              <a:t>: the whole kitchen is written as code, so one command can rebuild it anywhere.</a:t>
            </a:r>
            <a:endParaRPr lang="en-US" sz="1400" dirty="0"/>
          </a:p>
        </p:txBody>
      </p:sp>
      <p:sp>
        <p:nvSpPr>
          <p:cNvPr id="33"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DBEAFB"/>
          </a:solidFill>
          <a:ln/>
        </p:spPr>
        <p:txBody>
          <a:bodyPr wrap="square" lIns="0" tIns="0" rIns="0" bIns="0" rtlCol="0" anchor="ctr"/>
          <a:lstStyle/>
          <a:p>
            <a:pPr marL="0" indent="0" algn="ctr">
              <a:buNone/>
            </a:pPr>
            <a:r>
              <a:rPr lang="en-US" sz="1050" b="1" kern="0" spc="150" dirty="0">
                <a:solidFill>
                  <a:srgbClr val="1F5FAF"/>
                </a:solidFill>
              </a:rPr>
              <a:t>FRONTEND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The screen, piece by piece</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One page: three tabs on the left, the PRDA panel on the right, and a divider you can drag between them.</a:t>
            </a:r>
            <a:endParaRPr lang="en-US" sz="1800" dirty="0"/>
          </a:p>
        </p:txBody>
      </p:sp>
      <p:sp>
        <p:nvSpPr>
          <p:cNvPr id="5" name="Shape 3"/>
          <p:cNvSpPr/>
          <p:nvPr/>
        </p:nvSpPr>
        <p:spPr>
          <a:xfrm>
            <a:off x="530352" y="2084832"/>
            <a:ext cx="7077456" cy="3997071"/>
          </a:xfrm>
          <a:prstGeom prst="rect">
            <a:avLst/>
          </a:prstGeom>
          <a:solidFill>
            <a:srgbClr val="FFFFFF"/>
          </a:solidFill>
          <a:ln w="12700">
            <a:solidFill>
              <a:srgbClr val="D1D5DB"/>
            </a:solidFill>
            <a:prstDash val="solid"/>
          </a:ln>
        </p:spPr>
        <p:txBody>
          <a:bodyPr/>
          <a:lstStyle/>
          <a:p>
            <a:endParaRPr lang="en-US"/>
          </a:p>
        </p:txBody>
      </p:sp>
      <p:pic>
        <p:nvPicPr>
          <p:cNvPr id="6" name="Dashboard screenshot" descr="C:\Users\juanf\AppData\Local\Temp\claude\D--projects-local-code-bio-majesty\af963771-534c-477c-a7ea-371a585f8f2d\scratchpad\deck\assets\crop-news.jpg"/>
          <p:cNvPicPr>
            <a:picLocks noChangeAspect="1"/>
          </p:cNvPicPr>
          <p:nvPr/>
        </p:nvPicPr>
        <p:blipFill>
          <a:blip r:embed="rId3"/>
          <a:stretch>
            <a:fillRect/>
          </a:stretch>
        </p:blipFill>
        <p:spPr>
          <a:xfrm>
            <a:off x="548640" y="2103120"/>
            <a:ext cx="7040880" cy="3960495"/>
          </a:xfrm>
          <a:prstGeom prst="rect">
            <a:avLst/>
          </a:prstGeom>
        </p:spPr>
      </p:pic>
      <p:sp>
        <p:nvSpPr>
          <p:cNvPr id="7" name="Text 4"/>
          <p:cNvSpPr/>
          <p:nvPr/>
        </p:nvSpPr>
        <p:spPr>
          <a:xfrm>
            <a:off x="1906981" y="2609075"/>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p:nvPr/>
        </p:nvSpPr>
        <p:spPr>
          <a:xfrm>
            <a:off x="365028" y="2838783"/>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9" name="Text 6"/>
          <p:cNvSpPr/>
          <p:nvPr/>
        </p:nvSpPr>
        <p:spPr>
          <a:xfrm>
            <a:off x="1026871" y="3108097"/>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0" name="Text 7"/>
          <p:cNvSpPr/>
          <p:nvPr/>
        </p:nvSpPr>
        <p:spPr>
          <a:xfrm>
            <a:off x="5170429" y="4201194"/>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1" name="Text 8"/>
          <p:cNvSpPr/>
          <p:nvPr/>
        </p:nvSpPr>
        <p:spPr>
          <a:xfrm>
            <a:off x="6483553" y="2870467"/>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12" name="Text 9"/>
          <p:cNvSpPr/>
          <p:nvPr/>
        </p:nvSpPr>
        <p:spPr>
          <a:xfrm>
            <a:off x="6377940" y="2363524"/>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13" name="Text 10"/>
          <p:cNvSpPr txBox="1"/>
          <p:nvPr/>
        </p:nvSpPr>
        <p:spPr>
          <a:xfrm>
            <a:off x="548640" y="6136767"/>
            <a:ext cx="3657600" cy="228600"/>
          </a:xfrm>
          <a:prstGeom prst="rect">
            <a:avLst/>
          </a:prstGeom>
          <a:noFill/>
          <a:ln/>
        </p:spPr>
        <p:txBody>
          <a:bodyPr wrap="square" lIns="0" tIns="0" rIns="0" bIns="0" rtlCol="0" anchor="t"/>
          <a:lstStyle/>
          <a:p>
            <a:pPr marL="0" indent="0">
              <a:buNone/>
            </a:pPr>
            <a:r>
              <a:rPr lang="en-US" sz="1100" dirty="0">
                <a:solidFill>
                  <a:srgbClr val="6B7280"/>
                </a:solidFill>
              </a:rPr>
              <a:t>Demo with fictional data</a:t>
            </a:r>
            <a:endParaRPr lang="en-US" sz="1100" dirty="0"/>
          </a:p>
        </p:txBody>
      </p:sp>
      <p:sp>
        <p:nvSpPr>
          <p:cNvPr id="14" name="Text 11"/>
          <p:cNvSpPr/>
          <p:nvPr/>
        </p:nvSpPr>
        <p:spPr>
          <a:xfrm>
            <a:off x="8001000" y="2103120"/>
            <a:ext cx="274320" cy="274320"/>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5" name="Text 12"/>
          <p:cNvSpPr txBox="1"/>
          <p:nvPr/>
        </p:nvSpPr>
        <p:spPr>
          <a:xfrm>
            <a:off x="8412480" y="2103120"/>
            <a:ext cx="3230575" cy="274320"/>
          </a:xfrm>
          <a:prstGeom prst="rect">
            <a:avLst/>
          </a:prstGeom>
          <a:noFill/>
          <a:ln/>
        </p:spPr>
        <p:txBody>
          <a:bodyPr wrap="square" lIns="0" tIns="0" rIns="0" bIns="0" rtlCol="0" anchor="ctr"/>
          <a:lstStyle/>
          <a:p>
            <a:pPr marL="0" indent="0">
              <a:buNone/>
            </a:pPr>
            <a:r>
              <a:rPr lang="en-US" sz="1400" dirty="0">
                <a:solidFill>
                  <a:srgbClr val="16202C"/>
                </a:solidFill>
              </a:rPr>
              <a:t>Tabs: News, Review, Chat</a:t>
            </a:r>
            <a:endParaRPr lang="en-US" sz="1400" dirty="0"/>
          </a:p>
        </p:txBody>
      </p:sp>
      <p:sp>
        <p:nvSpPr>
          <p:cNvPr id="16" name="Text 13"/>
          <p:cNvSpPr/>
          <p:nvPr/>
        </p:nvSpPr>
        <p:spPr>
          <a:xfrm>
            <a:off x="8001000" y="2478024"/>
            <a:ext cx="274320" cy="274320"/>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7" name="Text 14"/>
          <p:cNvSpPr txBox="1"/>
          <p:nvPr/>
        </p:nvSpPr>
        <p:spPr>
          <a:xfrm>
            <a:off x="8412480" y="2478024"/>
            <a:ext cx="3230575" cy="274320"/>
          </a:xfrm>
          <a:prstGeom prst="rect">
            <a:avLst/>
          </a:prstGeom>
          <a:noFill/>
          <a:ln/>
        </p:spPr>
        <p:txBody>
          <a:bodyPr wrap="square" lIns="0" tIns="0" rIns="0" bIns="0" rtlCol="0" anchor="ctr"/>
          <a:lstStyle/>
          <a:p>
            <a:pPr marL="0" indent="0">
              <a:buNone/>
            </a:pPr>
            <a:r>
              <a:rPr lang="en-US" sz="1400" dirty="0">
                <a:solidFill>
                  <a:srgbClr val="16202C"/>
                </a:solidFill>
              </a:rPr>
              <a:t>Search and filters</a:t>
            </a:r>
            <a:endParaRPr lang="en-US" sz="1400" dirty="0"/>
          </a:p>
        </p:txBody>
      </p:sp>
      <p:sp>
        <p:nvSpPr>
          <p:cNvPr id="18" name="Text 15"/>
          <p:cNvSpPr/>
          <p:nvPr/>
        </p:nvSpPr>
        <p:spPr>
          <a:xfrm>
            <a:off x="8001000" y="2852928"/>
            <a:ext cx="274320" cy="274320"/>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9" name="Text 16"/>
          <p:cNvSpPr txBox="1"/>
          <p:nvPr/>
        </p:nvSpPr>
        <p:spPr>
          <a:xfrm>
            <a:off x="8412480" y="2852928"/>
            <a:ext cx="3230575" cy="274320"/>
          </a:xfrm>
          <a:prstGeom prst="rect">
            <a:avLst/>
          </a:prstGeom>
          <a:noFill/>
          <a:ln/>
        </p:spPr>
        <p:txBody>
          <a:bodyPr wrap="square" lIns="0" tIns="0" rIns="0" bIns="0" rtlCol="0" anchor="ctr"/>
          <a:lstStyle/>
          <a:p>
            <a:pPr marL="0" indent="0">
              <a:buNone/>
            </a:pPr>
            <a:r>
              <a:rPr lang="en-US" sz="1400" dirty="0">
                <a:solidFill>
                  <a:srgbClr val="16202C"/>
                </a:solidFill>
              </a:rPr>
              <a:t>Article card with source link</a:t>
            </a:r>
            <a:endParaRPr lang="en-US" sz="1400" dirty="0"/>
          </a:p>
        </p:txBody>
      </p:sp>
      <p:sp>
        <p:nvSpPr>
          <p:cNvPr id="20" name="Text 17"/>
          <p:cNvSpPr/>
          <p:nvPr/>
        </p:nvSpPr>
        <p:spPr>
          <a:xfrm>
            <a:off x="8001000" y="3227832"/>
            <a:ext cx="274320" cy="274320"/>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1" name="Text 18"/>
          <p:cNvSpPr txBox="1"/>
          <p:nvPr/>
        </p:nvSpPr>
        <p:spPr>
          <a:xfrm>
            <a:off x="8412480" y="3227832"/>
            <a:ext cx="3230575" cy="274320"/>
          </a:xfrm>
          <a:prstGeom prst="rect">
            <a:avLst/>
          </a:prstGeom>
          <a:noFill/>
          <a:ln/>
        </p:spPr>
        <p:txBody>
          <a:bodyPr wrap="square" lIns="0" tIns="0" rIns="0" bIns="0" rtlCol="0" anchor="ctr"/>
          <a:lstStyle/>
          <a:p>
            <a:pPr marL="0" indent="0">
              <a:buNone/>
            </a:pPr>
            <a:r>
              <a:rPr lang="en-US" sz="1400" dirty="0">
                <a:solidFill>
                  <a:srgbClr val="16202C"/>
                </a:solidFill>
              </a:rPr>
              <a:t>Divider: drag to resize</a:t>
            </a:r>
            <a:endParaRPr lang="en-US" sz="1400" dirty="0"/>
          </a:p>
        </p:txBody>
      </p:sp>
      <p:sp>
        <p:nvSpPr>
          <p:cNvPr id="22" name="Text 19"/>
          <p:cNvSpPr/>
          <p:nvPr/>
        </p:nvSpPr>
        <p:spPr>
          <a:xfrm>
            <a:off x="8001000" y="3602736"/>
            <a:ext cx="274320" cy="274320"/>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3" name="Text 20"/>
          <p:cNvSpPr txBox="1"/>
          <p:nvPr/>
        </p:nvSpPr>
        <p:spPr>
          <a:xfrm>
            <a:off x="8412480" y="3602736"/>
            <a:ext cx="3230575" cy="274320"/>
          </a:xfrm>
          <a:prstGeom prst="rect">
            <a:avLst/>
          </a:prstGeom>
          <a:noFill/>
          <a:ln/>
        </p:spPr>
        <p:txBody>
          <a:bodyPr wrap="square" lIns="0" tIns="0" rIns="0" bIns="0" rtlCol="0" anchor="ctr"/>
          <a:lstStyle/>
          <a:p>
            <a:pPr marL="0" indent="0">
              <a:buNone/>
            </a:pPr>
            <a:r>
              <a:rPr lang="en-US" sz="1400" dirty="0">
                <a:solidFill>
                  <a:srgbClr val="16202C"/>
                </a:solidFill>
              </a:rPr>
              <a:t>PRDA price, chart and volume</a:t>
            </a:r>
            <a:endParaRPr lang="en-US" sz="1400" dirty="0"/>
          </a:p>
        </p:txBody>
      </p:sp>
      <p:sp>
        <p:nvSpPr>
          <p:cNvPr id="24" name="Text 21"/>
          <p:cNvSpPr/>
          <p:nvPr/>
        </p:nvSpPr>
        <p:spPr>
          <a:xfrm>
            <a:off x="8001000" y="3977640"/>
            <a:ext cx="274320" cy="274320"/>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25" name="Text 22"/>
          <p:cNvSpPr txBox="1"/>
          <p:nvPr/>
        </p:nvSpPr>
        <p:spPr>
          <a:xfrm>
            <a:off x="8412480" y="3977640"/>
            <a:ext cx="3230575" cy="274320"/>
          </a:xfrm>
          <a:prstGeom prst="rect">
            <a:avLst/>
          </a:prstGeom>
          <a:noFill/>
          <a:ln/>
        </p:spPr>
        <p:txBody>
          <a:bodyPr wrap="square" lIns="0" tIns="0" rIns="0" bIns="0" rtlCol="0" anchor="ctr"/>
          <a:lstStyle/>
          <a:p>
            <a:pPr marL="0" indent="0">
              <a:buNone/>
            </a:pPr>
            <a:r>
              <a:rPr lang="en-US" sz="1400" dirty="0">
                <a:solidFill>
                  <a:srgbClr val="16202C"/>
                </a:solidFill>
              </a:rPr>
              <a:t>The latest digest</a:t>
            </a:r>
            <a:endParaRPr lang="en-US" sz="1400" dirty="0"/>
          </a:p>
        </p:txBody>
      </p:sp>
      <p:sp>
        <p:nvSpPr>
          <p:cNvPr id="26" name="Under the hood"/>
          <p:cNvSpPr/>
          <p:nvPr/>
        </p:nvSpPr>
        <p:spPr>
          <a:xfrm>
            <a:off x="8001000" y="4498848"/>
            <a:ext cx="3642055" cy="1764792"/>
          </a:xfrm>
          <a:prstGeom prst="roundRect">
            <a:avLst>
              <a:gd name="adj" fmla="val 5181"/>
            </a:avLst>
          </a:prstGeom>
          <a:solidFill>
            <a:srgbClr val="F3F4F6"/>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8257032" y="4718304"/>
            <a:ext cx="219456" cy="219456"/>
          </a:xfrm>
          <a:prstGeom prst="rect">
            <a:avLst/>
          </a:prstGeom>
        </p:spPr>
      </p:pic>
      <p:sp>
        <p:nvSpPr>
          <p:cNvPr id="28" name="Text 24"/>
          <p:cNvSpPr txBox="1"/>
          <p:nvPr/>
        </p:nvSpPr>
        <p:spPr>
          <a:xfrm>
            <a:off x="8567928" y="4681728"/>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29" name="Text 25"/>
          <p:cNvSpPr txBox="1"/>
          <p:nvPr/>
        </p:nvSpPr>
        <p:spPr>
          <a:xfrm>
            <a:off x="8257032" y="5120640"/>
            <a:ext cx="3129991" cy="978408"/>
          </a:xfrm>
          <a:prstGeom prst="rect">
            <a:avLst/>
          </a:prstGeom>
          <a:noFill/>
          <a:ln/>
        </p:spPr>
        <p:txBody>
          <a:bodyPr wrap="square" lIns="0" tIns="0" rIns="0" bIns="0" rtlCol="0" anchor="t"/>
          <a:lstStyle/>
          <a:p>
            <a:pPr marL="0" indent="0">
              <a:spcAft>
                <a:spcPts val="600"/>
              </a:spcAft>
              <a:buNone/>
            </a:pPr>
            <a:r>
              <a:rPr lang="en-US" sz="1400" b="1" dirty="0">
                <a:solidFill>
                  <a:srgbClr val="16202C"/>
                </a:solidFill>
              </a:rPr>
              <a:t>React</a:t>
            </a:r>
            <a:r>
              <a:rPr lang="en-US" sz="1400" dirty="0">
                <a:solidFill>
                  <a:srgbClr val="4A5563"/>
                </a:solidFill>
              </a:rPr>
              <a:t>: each part of the page is a reusable component; Tailwind styles it.</a:t>
            </a:r>
            <a:endParaRPr lang="en-US" sz="1400" dirty="0"/>
          </a:p>
          <a:p>
            <a:pPr marL="0" indent="0">
              <a:spcAft>
                <a:spcPts val="600"/>
              </a:spcAft>
              <a:buNone/>
            </a:pPr>
            <a:r>
              <a:rPr lang="en-US" sz="1400" b="1" dirty="0">
                <a:solidFill>
                  <a:srgbClr val="16202C"/>
                </a:solidFill>
              </a:rPr>
              <a:t>Layout</a:t>
            </a:r>
            <a:r>
              <a:rPr lang="en-US" sz="1400" dirty="0">
                <a:solidFill>
                  <a:srgbClr val="4A5563"/>
                </a:solidFill>
              </a:rPr>
              <a:t>: panel sizes are remembered; on narrow screens Stock becomes a 4th tab.</a:t>
            </a:r>
            <a:endParaRPr lang="en-US" sz="1400" dirty="0"/>
          </a:p>
        </p:txBody>
      </p:sp>
      <p:sp>
        <p:nvSpPr>
          <p:cNvPr id="30"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DBEAFB"/>
          </a:solidFill>
          <a:ln/>
        </p:spPr>
        <p:txBody>
          <a:bodyPr wrap="square" lIns="0" tIns="0" rIns="0" bIns="0" rtlCol="0" anchor="ctr"/>
          <a:lstStyle/>
          <a:p>
            <a:pPr marL="0" indent="0" algn="ctr">
              <a:buNone/>
            </a:pPr>
            <a:r>
              <a:rPr lang="en-US" sz="1050" b="1" kern="0" spc="150" dirty="0">
                <a:solidFill>
                  <a:srgbClr val="1F5FAF"/>
                </a:solidFill>
              </a:rPr>
              <a:t>FRONTEND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How the screen gets its data</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The app is downloaded once; after that, each tab fetches only small packets of data.</a:t>
            </a:r>
            <a:endParaRPr lang="en-US" sz="1800" dirty="0"/>
          </a:p>
        </p:txBody>
      </p:sp>
      <p:sp>
        <p:nvSpPr>
          <p:cNvPr id="5" name="Shape 3"/>
          <p:cNvSpPr/>
          <p:nvPr/>
        </p:nvSpPr>
        <p:spPr>
          <a:xfrm>
            <a:off x="548640" y="2103120"/>
            <a:ext cx="1570482" cy="2395728"/>
          </a:xfrm>
          <a:prstGeom prst="roundRect">
            <a:avLst>
              <a:gd name="adj" fmla="val 5822"/>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713232" y="2286000"/>
            <a:ext cx="457200" cy="457200"/>
          </a:xfrm>
          <a:prstGeom prst="ellipse">
            <a:avLst/>
          </a:prstGeom>
          <a:solidFill>
            <a:srgbClr val="DBEAF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18388" y="2391156"/>
            <a:ext cx="246888" cy="246888"/>
          </a:xfrm>
          <a:prstGeom prst="rect">
            <a:avLst/>
          </a:prstGeom>
        </p:spPr>
      </p:pic>
      <p:sp>
        <p:nvSpPr>
          <p:cNvPr id="8" name="Text 5"/>
          <p:cNvSpPr txBox="1"/>
          <p:nvPr/>
        </p:nvSpPr>
        <p:spPr>
          <a:xfrm>
            <a:off x="1707642" y="2286000"/>
            <a:ext cx="274320" cy="457200"/>
          </a:xfrm>
          <a:prstGeom prst="rect">
            <a:avLst/>
          </a:prstGeom>
          <a:noFill/>
          <a:ln/>
        </p:spPr>
        <p:txBody>
          <a:bodyPr wrap="square" lIns="0" tIns="0" rIns="0" bIns="0" rtlCol="0" anchor="ctr"/>
          <a:lstStyle/>
          <a:p>
            <a:pPr marL="0" indent="0" algn="r">
              <a:buNone/>
            </a:pPr>
            <a:r>
              <a:rPr lang="en-US" sz="2000" b="1" dirty="0">
                <a:solidFill>
                  <a:srgbClr val="6B7280"/>
                </a:solidFill>
                <a:latin typeface="Cambria" pitchFamily="34" charset="0"/>
                <a:ea typeface="Cambria" pitchFamily="34" charset="-122"/>
                <a:cs typeface="Cambria" pitchFamily="34" charset="-120"/>
              </a:rPr>
              <a:t>1</a:t>
            </a:r>
            <a:endParaRPr lang="en-US" sz="2000" dirty="0"/>
          </a:p>
        </p:txBody>
      </p:sp>
      <p:sp>
        <p:nvSpPr>
          <p:cNvPr id="9" name="Text 6"/>
          <p:cNvSpPr txBox="1"/>
          <p:nvPr/>
        </p:nvSpPr>
        <p:spPr>
          <a:xfrm>
            <a:off x="713232" y="2871216"/>
            <a:ext cx="1296162" cy="274320"/>
          </a:xfrm>
          <a:prstGeom prst="rect">
            <a:avLst/>
          </a:prstGeom>
          <a:noFill/>
          <a:ln/>
        </p:spPr>
        <p:txBody>
          <a:bodyPr wrap="square" lIns="0" tIns="0" rIns="0" bIns="0" rtlCol="0" anchor="t"/>
          <a:lstStyle/>
          <a:p>
            <a:pPr marL="0" indent="0">
              <a:buNone/>
            </a:pPr>
            <a:r>
              <a:rPr lang="en-US" sz="1500" b="1" dirty="0">
                <a:solidFill>
                  <a:srgbClr val="16202C"/>
                </a:solidFill>
              </a:rPr>
              <a:t>Open the link</a:t>
            </a:r>
            <a:endParaRPr lang="en-US" sz="1500" dirty="0"/>
          </a:p>
        </p:txBody>
      </p:sp>
      <p:sp>
        <p:nvSpPr>
          <p:cNvPr id="10" name="Text 7"/>
          <p:cNvSpPr txBox="1"/>
          <p:nvPr/>
        </p:nvSpPr>
        <p:spPr>
          <a:xfrm>
            <a:off x="713232" y="3200400"/>
            <a:ext cx="1296162" cy="1225296"/>
          </a:xfrm>
          <a:prstGeom prst="rect">
            <a:avLst/>
          </a:prstGeom>
          <a:noFill/>
          <a:ln/>
        </p:spPr>
        <p:txBody>
          <a:bodyPr wrap="square" lIns="0" tIns="0" rIns="0" bIns="0" rtlCol="0" anchor="t"/>
          <a:lstStyle/>
          <a:p>
            <a:pPr marL="0" indent="0">
              <a:buNone/>
            </a:pPr>
            <a:r>
              <a:rPr lang="en-US" sz="1400" dirty="0">
                <a:solidFill>
                  <a:srgbClr val="4A5563"/>
                </a:solidFill>
              </a:rPr>
              <a:t>CloudFront sends the app from a nearby server, so it loads fast.</a:t>
            </a:r>
            <a:endParaRPr lang="en-US" sz="1400" dirty="0"/>
          </a:p>
        </p:txBody>
      </p:sp>
      <p:sp>
        <p:nvSpPr>
          <p:cNvPr id="11" name="Shape 8"/>
          <p:cNvSpPr/>
          <p:nvPr/>
        </p:nvSpPr>
        <p:spPr>
          <a:xfrm>
            <a:off x="2146554" y="3300984"/>
            <a:ext cx="182880" cy="0"/>
          </a:xfrm>
          <a:prstGeom prst="line">
            <a:avLst/>
          </a:prstGeom>
          <a:noFill/>
          <a:ln w="19050">
            <a:solidFill>
              <a:srgbClr val="94A3B8"/>
            </a:solidFill>
            <a:prstDash val="solid"/>
            <a:tailEnd type="triangle"/>
          </a:ln>
        </p:spPr>
        <p:txBody>
          <a:bodyPr/>
          <a:lstStyle/>
          <a:p>
            <a:endParaRPr lang="en-US"/>
          </a:p>
        </p:txBody>
      </p:sp>
      <p:sp>
        <p:nvSpPr>
          <p:cNvPr id="12" name="Shape 9"/>
          <p:cNvSpPr/>
          <p:nvPr/>
        </p:nvSpPr>
        <p:spPr>
          <a:xfrm>
            <a:off x="2356866" y="2103120"/>
            <a:ext cx="1570482" cy="2395728"/>
          </a:xfrm>
          <a:prstGeom prst="roundRect">
            <a:avLst>
              <a:gd name="adj" fmla="val 5822"/>
            </a:avLst>
          </a:prstGeom>
          <a:solidFill>
            <a:srgbClr val="FFFFFF"/>
          </a:solidFill>
          <a:ln w="12700">
            <a:solidFill>
              <a:srgbClr val="E5E7EB"/>
            </a:solidFill>
            <a:prstDash val="solid"/>
          </a:ln>
        </p:spPr>
        <p:txBody>
          <a:bodyPr/>
          <a:lstStyle/>
          <a:p>
            <a:endParaRPr lang="en-US"/>
          </a:p>
        </p:txBody>
      </p:sp>
      <p:sp>
        <p:nvSpPr>
          <p:cNvPr id="13" name="Shape 10"/>
          <p:cNvSpPr/>
          <p:nvPr/>
        </p:nvSpPr>
        <p:spPr>
          <a:xfrm>
            <a:off x="2521458" y="2286000"/>
            <a:ext cx="457200" cy="457200"/>
          </a:xfrm>
          <a:prstGeom prst="ellipse">
            <a:avLst/>
          </a:prstGeom>
          <a:solidFill>
            <a:srgbClr val="DBEAFB"/>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2626614" y="2391156"/>
            <a:ext cx="246888" cy="246888"/>
          </a:xfrm>
          <a:prstGeom prst="rect">
            <a:avLst/>
          </a:prstGeom>
        </p:spPr>
      </p:pic>
      <p:sp>
        <p:nvSpPr>
          <p:cNvPr id="15" name="Text 11"/>
          <p:cNvSpPr txBox="1"/>
          <p:nvPr/>
        </p:nvSpPr>
        <p:spPr>
          <a:xfrm>
            <a:off x="3515868" y="2286000"/>
            <a:ext cx="274320" cy="457200"/>
          </a:xfrm>
          <a:prstGeom prst="rect">
            <a:avLst/>
          </a:prstGeom>
          <a:noFill/>
          <a:ln/>
        </p:spPr>
        <p:txBody>
          <a:bodyPr wrap="square" lIns="0" tIns="0" rIns="0" bIns="0" rtlCol="0" anchor="ctr"/>
          <a:lstStyle/>
          <a:p>
            <a:pPr marL="0" indent="0" algn="r">
              <a:buNone/>
            </a:pPr>
            <a:r>
              <a:rPr lang="en-US" sz="2000" b="1" dirty="0">
                <a:solidFill>
                  <a:srgbClr val="6B7280"/>
                </a:solidFill>
                <a:latin typeface="Cambria" pitchFamily="34" charset="0"/>
                <a:ea typeface="Cambria" pitchFamily="34" charset="-122"/>
                <a:cs typeface="Cambria" pitchFamily="34" charset="-120"/>
              </a:rPr>
              <a:t>2</a:t>
            </a:r>
            <a:endParaRPr lang="en-US" sz="2000" dirty="0"/>
          </a:p>
        </p:txBody>
      </p:sp>
      <p:sp>
        <p:nvSpPr>
          <p:cNvPr id="16" name="Text 12"/>
          <p:cNvSpPr txBox="1"/>
          <p:nvPr/>
        </p:nvSpPr>
        <p:spPr>
          <a:xfrm>
            <a:off x="2521458" y="2871216"/>
            <a:ext cx="1296162" cy="274320"/>
          </a:xfrm>
          <a:prstGeom prst="rect">
            <a:avLst/>
          </a:prstGeom>
          <a:noFill/>
          <a:ln/>
        </p:spPr>
        <p:txBody>
          <a:bodyPr wrap="square" lIns="0" tIns="0" rIns="0" bIns="0" rtlCol="0" anchor="t"/>
          <a:lstStyle/>
          <a:p>
            <a:pPr marL="0" indent="0">
              <a:buNone/>
            </a:pPr>
            <a:r>
              <a:rPr lang="en-US" sz="1500" b="1" dirty="0">
                <a:solidFill>
                  <a:srgbClr val="16202C"/>
                </a:solidFill>
              </a:rPr>
              <a:t>Sign in</a:t>
            </a:r>
            <a:endParaRPr lang="en-US" sz="1500" dirty="0"/>
          </a:p>
        </p:txBody>
      </p:sp>
      <p:sp>
        <p:nvSpPr>
          <p:cNvPr id="17" name="Text 13"/>
          <p:cNvSpPr txBox="1"/>
          <p:nvPr/>
        </p:nvSpPr>
        <p:spPr>
          <a:xfrm>
            <a:off x="2521458" y="3200400"/>
            <a:ext cx="1296162" cy="1225296"/>
          </a:xfrm>
          <a:prstGeom prst="rect">
            <a:avLst/>
          </a:prstGeom>
          <a:noFill/>
          <a:ln/>
        </p:spPr>
        <p:txBody>
          <a:bodyPr wrap="square" lIns="0" tIns="0" rIns="0" bIns="0" rtlCol="0" anchor="t"/>
          <a:lstStyle/>
          <a:p>
            <a:pPr marL="0" indent="0">
              <a:buNone/>
            </a:pPr>
            <a:r>
              <a:rPr lang="en-US" sz="1400" dirty="0">
                <a:solidFill>
                  <a:srgbClr val="4A5563"/>
                </a:solidFill>
              </a:rPr>
              <a:t>Cognito checks your password and gives the browser a digital pass.</a:t>
            </a:r>
            <a:endParaRPr lang="en-US" sz="1400" dirty="0"/>
          </a:p>
        </p:txBody>
      </p:sp>
      <p:sp>
        <p:nvSpPr>
          <p:cNvPr id="18" name="Shape 14"/>
          <p:cNvSpPr/>
          <p:nvPr/>
        </p:nvSpPr>
        <p:spPr>
          <a:xfrm>
            <a:off x="3954780" y="3300984"/>
            <a:ext cx="182880" cy="0"/>
          </a:xfrm>
          <a:prstGeom prst="line">
            <a:avLst/>
          </a:prstGeom>
          <a:noFill/>
          <a:ln w="19050">
            <a:solidFill>
              <a:srgbClr val="94A3B8"/>
            </a:solidFill>
            <a:prstDash val="solid"/>
            <a:tailEnd type="triangle"/>
          </a:ln>
        </p:spPr>
        <p:txBody>
          <a:bodyPr/>
          <a:lstStyle/>
          <a:p>
            <a:endParaRPr lang="en-US"/>
          </a:p>
        </p:txBody>
      </p:sp>
      <p:sp>
        <p:nvSpPr>
          <p:cNvPr id="19" name="Shape 15"/>
          <p:cNvSpPr/>
          <p:nvPr/>
        </p:nvSpPr>
        <p:spPr>
          <a:xfrm>
            <a:off x="4165092" y="2103120"/>
            <a:ext cx="1570482" cy="2395728"/>
          </a:xfrm>
          <a:prstGeom prst="roundRect">
            <a:avLst>
              <a:gd name="adj" fmla="val 5822"/>
            </a:avLst>
          </a:prstGeom>
          <a:solidFill>
            <a:srgbClr val="FFFFFF"/>
          </a:solidFill>
          <a:ln w="12700">
            <a:solidFill>
              <a:srgbClr val="E5E7EB"/>
            </a:solidFill>
            <a:prstDash val="solid"/>
          </a:ln>
        </p:spPr>
        <p:txBody>
          <a:bodyPr/>
          <a:lstStyle/>
          <a:p>
            <a:endParaRPr lang="en-US"/>
          </a:p>
        </p:txBody>
      </p:sp>
      <p:sp>
        <p:nvSpPr>
          <p:cNvPr id="20" name="Shape 16"/>
          <p:cNvSpPr/>
          <p:nvPr/>
        </p:nvSpPr>
        <p:spPr>
          <a:xfrm>
            <a:off x="4329684" y="2286000"/>
            <a:ext cx="457200" cy="457200"/>
          </a:xfrm>
          <a:prstGeom prst="ellipse">
            <a:avLst/>
          </a:prstGeom>
          <a:solidFill>
            <a:srgbClr val="DBEAFB"/>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4434840" y="2391156"/>
            <a:ext cx="246888" cy="246888"/>
          </a:xfrm>
          <a:prstGeom prst="rect">
            <a:avLst/>
          </a:prstGeom>
        </p:spPr>
      </p:pic>
      <p:sp>
        <p:nvSpPr>
          <p:cNvPr id="22" name="Text 17"/>
          <p:cNvSpPr txBox="1"/>
          <p:nvPr/>
        </p:nvSpPr>
        <p:spPr>
          <a:xfrm>
            <a:off x="5324094" y="2286000"/>
            <a:ext cx="274320" cy="457200"/>
          </a:xfrm>
          <a:prstGeom prst="rect">
            <a:avLst/>
          </a:prstGeom>
          <a:noFill/>
          <a:ln/>
        </p:spPr>
        <p:txBody>
          <a:bodyPr wrap="square" lIns="0" tIns="0" rIns="0" bIns="0" rtlCol="0" anchor="ctr"/>
          <a:lstStyle/>
          <a:p>
            <a:pPr marL="0" indent="0" algn="r">
              <a:buNone/>
            </a:pPr>
            <a:r>
              <a:rPr lang="en-US" sz="2000" b="1" dirty="0">
                <a:solidFill>
                  <a:srgbClr val="6B7280"/>
                </a:solidFill>
                <a:latin typeface="Cambria" pitchFamily="34" charset="0"/>
                <a:ea typeface="Cambria" pitchFamily="34" charset="-122"/>
                <a:cs typeface="Cambria" pitchFamily="34" charset="-120"/>
              </a:rPr>
              <a:t>3</a:t>
            </a:r>
            <a:endParaRPr lang="en-US" sz="2000" dirty="0"/>
          </a:p>
        </p:txBody>
      </p:sp>
      <p:sp>
        <p:nvSpPr>
          <p:cNvPr id="23" name="Text 18"/>
          <p:cNvSpPr txBox="1"/>
          <p:nvPr/>
        </p:nvSpPr>
        <p:spPr>
          <a:xfrm>
            <a:off x="4329684" y="2871216"/>
            <a:ext cx="1296162" cy="274320"/>
          </a:xfrm>
          <a:prstGeom prst="rect">
            <a:avLst/>
          </a:prstGeom>
          <a:noFill/>
          <a:ln/>
        </p:spPr>
        <p:txBody>
          <a:bodyPr wrap="square" lIns="0" tIns="0" rIns="0" bIns="0" rtlCol="0" anchor="t"/>
          <a:lstStyle/>
          <a:p>
            <a:pPr marL="0" indent="0">
              <a:buNone/>
            </a:pPr>
            <a:r>
              <a:rPr lang="en-US" sz="1500" b="1" dirty="0">
                <a:solidFill>
                  <a:srgbClr val="16202C"/>
                </a:solidFill>
              </a:rPr>
              <a:t>Ask for data</a:t>
            </a:r>
            <a:endParaRPr lang="en-US" sz="1500" dirty="0"/>
          </a:p>
        </p:txBody>
      </p:sp>
      <p:sp>
        <p:nvSpPr>
          <p:cNvPr id="24" name="Text 19"/>
          <p:cNvSpPr txBox="1"/>
          <p:nvPr/>
        </p:nvSpPr>
        <p:spPr>
          <a:xfrm>
            <a:off x="4329684" y="3200400"/>
            <a:ext cx="1296162" cy="1225296"/>
          </a:xfrm>
          <a:prstGeom prst="rect">
            <a:avLst/>
          </a:prstGeom>
          <a:noFill/>
          <a:ln/>
        </p:spPr>
        <p:txBody>
          <a:bodyPr wrap="square" lIns="0" tIns="0" rIns="0" bIns="0" rtlCol="0" anchor="t"/>
          <a:lstStyle/>
          <a:p>
            <a:pPr marL="0" indent="0">
              <a:buNone/>
            </a:pPr>
            <a:r>
              <a:rPr lang="en-US" sz="1400" dirty="0">
                <a:solidFill>
                  <a:srgbClr val="4A5563"/>
                </a:solidFill>
              </a:rPr>
              <a:t>Each tab asks the API, e.g. “saved news, last 30 days”, showing the pass.</a:t>
            </a:r>
            <a:endParaRPr lang="en-US" sz="1400" dirty="0"/>
          </a:p>
        </p:txBody>
      </p:sp>
      <p:sp>
        <p:nvSpPr>
          <p:cNvPr id="25" name="Shape 20"/>
          <p:cNvSpPr/>
          <p:nvPr/>
        </p:nvSpPr>
        <p:spPr>
          <a:xfrm>
            <a:off x="5763006" y="3300984"/>
            <a:ext cx="182880" cy="0"/>
          </a:xfrm>
          <a:prstGeom prst="line">
            <a:avLst/>
          </a:prstGeom>
          <a:noFill/>
          <a:ln w="19050">
            <a:solidFill>
              <a:srgbClr val="94A3B8"/>
            </a:solidFill>
            <a:prstDash val="solid"/>
            <a:tailEnd type="triangle"/>
          </a:ln>
        </p:spPr>
        <p:txBody>
          <a:bodyPr/>
          <a:lstStyle/>
          <a:p>
            <a:endParaRPr lang="en-US"/>
          </a:p>
        </p:txBody>
      </p:sp>
      <p:sp>
        <p:nvSpPr>
          <p:cNvPr id="26" name="Shape 21"/>
          <p:cNvSpPr/>
          <p:nvPr/>
        </p:nvSpPr>
        <p:spPr>
          <a:xfrm>
            <a:off x="5973318" y="2103120"/>
            <a:ext cx="1570482" cy="2395728"/>
          </a:xfrm>
          <a:prstGeom prst="roundRect">
            <a:avLst>
              <a:gd name="adj" fmla="val 5822"/>
            </a:avLst>
          </a:prstGeom>
          <a:solidFill>
            <a:srgbClr val="FFFFFF"/>
          </a:solidFill>
          <a:ln w="12700">
            <a:solidFill>
              <a:srgbClr val="E5E7EB"/>
            </a:solidFill>
            <a:prstDash val="solid"/>
          </a:ln>
        </p:spPr>
        <p:txBody>
          <a:bodyPr/>
          <a:lstStyle/>
          <a:p>
            <a:endParaRPr lang="en-US"/>
          </a:p>
        </p:txBody>
      </p:sp>
      <p:sp>
        <p:nvSpPr>
          <p:cNvPr id="27" name="Shape 22"/>
          <p:cNvSpPr/>
          <p:nvPr/>
        </p:nvSpPr>
        <p:spPr>
          <a:xfrm>
            <a:off x="6137910" y="2286000"/>
            <a:ext cx="457200" cy="457200"/>
          </a:xfrm>
          <a:prstGeom prst="ellipse">
            <a:avLst/>
          </a:prstGeom>
          <a:solidFill>
            <a:srgbClr val="DBEAFB"/>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6243066" y="2391156"/>
            <a:ext cx="246888" cy="246888"/>
          </a:xfrm>
          <a:prstGeom prst="rect">
            <a:avLst/>
          </a:prstGeom>
        </p:spPr>
      </p:pic>
      <p:sp>
        <p:nvSpPr>
          <p:cNvPr id="29" name="Text 23"/>
          <p:cNvSpPr txBox="1"/>
          <p:nvPr/>
        </p:nvSpPr>
        <p:spPr>
          <a:xfrm>
            <a:off x="7132320" y="2286000"/>
            <a:ext cx="274320" cy="457200"/>
          </a:xfrm>
          <a:prstGeom prst="rect">
            <a:avLst/>
          </a:prstGeom>
          <a:noFill/>
          <a:ln/>
        </p:spPr>
        <p:txBody>
          <a:bodyPr wrap="square" lIns="0" tIns="0" rIns="0" bIns="0" rtlCol="0" anchor="ctr"/>
          <a:lstStyle/>
          <a:p>
            <a:pPr marL="0" indent="0" algn="r">
              <a:buNone/>
            </a:pPr>
            <a:r>
              <a:rPr lang="en-US" sz="2000" b="1" dirty="0">
                <a:solidFill>
                  <a:srgbClr val="6B7280"/>
                </a:solidFill>
                <a:latin typeface="Cambria" pitchFamily="34" charset="0"/>
                <a:ea typeface="Cambria" pitchFamily="34" charset="-122"/>
                <a:cs typeface="Cambria" pitchFamily="34" charset="-120"/>
              </a:rPr>
              <a:t>4</a:t>
            </a:r>
            <a:endParaRPr lang="en-US" sz="2000" dirty="0"/>
          </a:p>
        </p:txBody>
      </p:sp>
      <p:sp>
        <p:nvSpPr>
          <p:cNvPr id="30" name="Text 24"/>
          <p:cNvSpPr txBox="1"/>
          <p:nvPr/>
        </p:nvSpPr>
        <p:spPr>
          <a:xfrm>
            <a:off x="6137910" y="2871216"/>
            <a:ext cx="1296162" cy="274320"/>
          </a:xfrm>
          <a:prstGeom prst="rect">
            <a:avLst/>
          </a:prstGeom>
          <a:noFill/>
          <a:ln/>
        </p:spPr>
        <p:txBody>
          <a:bodyPr wrap="square" lIns="0" tIns="0" rIns="0" bIns="0" rtlCol="0" anchor="t"/>
          <a:lstStyle/>
          <a:p>
            <a:pPr marL="0" indent="0">
              <a:buNone/>
            </a:pPr>
            <a:r>
              <a:rPr lang="en-US" sz="1500" b="1" dirty="0">
                <a:solidFill>
                  <a:srgbClr val="16202C"/>
                </a:solidFill>
              </a:rPr>
              <a:t>Show and keep</a:t>
            </a:r>
            <a:endParaRPr lang="en-US" sz="1500" dirty="0"/>
          </a:p>
        </p:txBody>
      </p:sp>
      <p:sp>
        <p:nvSpPr>
          <p:cNvPr id="31" name="Text 25"/>
          <p:cNvSpPr txBox="1"/>
          <p:nvPr/>
        </p:nvSpPr>
        <p:spPr>
          <a:xfrm>
            <a:off x="6137910" y="3200400"/>
            <a:ext cx="1296162" cy="1225296"/>
          </a:xfrm>
          <a:prstGeom prst="rect">
            <a:avLst/>
          </a:prstGeom>
          <a:noFill/>
          <a:ln/>
        </p:spPr>
        <p:txBody>
          <a:bodyPr wrap="square" lIns="0" tIns="0" rIns="0" bIns="0" rtlCol="0" anchor="t"/>
          <a:lstStyle/>
          <a:p>
            <a:pPr marL="0" indent="0">
              <a:buNone/>
            </a:pPr>
            <a:r>
              <a:rPr lang="en-US" sz="1400" dirty="0">
                <a:solidFill>
                  <a:srgbClr val="4A5563"/>
                </a:solidFill>
              </a:rPr>
              <a:t>The JSON answer is drawn on screen and kept, so tabs switch instantly.</a:t>
            </a:r>
            <a:endParaRPr lang="en-US" sz="1400" dirty="0"/>
          </a:p>
        </p:txBody>
      </p:sp>
      <p:sp>
        <p:nvSpPr>
          <p:cNvPr id="32" name="Shape 26"/>
          <p:cNvSpPr/>
          <p:nvPr/>
        </p:nvSpPr>
        <p:spPr>
          <a:xfrm>
            <a:off x="548640" y="4681728"/>
            <a:ext cx="6995160" cy="1581912"/>
          </a:xfrm>
          <a:prstGeom prst="roundRect">
            <a:avLst>
              <a:gd name="adj" fmla="val 5780"/>
            </a:avLst>
          </a:prstGeom>
          <a:solidFill>
            <a:srgbClr val="1E293B"/>
          </a:solidFill>
          <a:ln/>
        </p:spPr>
        <p:txBody>
          <a:bodyPr/>
          <a:lstStyle/>
          <a:p>
            <a:endParaRPr lang="en-US"/>
          </a:p>
        </p:txBody>
      </p:sp>
      <p:sp>
        <p:nvSpPr>
          <p:cNvPr id="33" name="Text 27"/>
          <p:cNvSpPr txBox="1"/>
          <p:nvPr/>
        </p:nvSpPr>
        <p:spPr>
          <a:xfrm>
            <a:off x="777240" y="4809744"/>
            <a:ext cx="6537960" cy="256032"/>
          </a:xfrm>
          <a:prstGeom prst="rect">
            <a:avLst/>
          </a:prstGeom>
          <a:noFill/>
          <a:ln/>
        </p:spPr>
        <p:txBody>
          <a:bodyPr wrap="square" lIns="0" tIns="0" rIns="0" bIns="0" rtlCol="0" anchor="t"/>
          <a:lstStyle/>
          <a:p>
            <a:pPr marL="0" indent="0">
              <a:buNone/>
            </a:pPr>
            <a:r>
              <a:rPr lang="en-US" sz="1200" b="1" dirty="0">
                <a:solidFill>
                  <a:srgbClr val="94A3B8"/>
                </a:solidFill>
              </a:rPr>
              <a:t>What one saved article looks like as JSON</a:t>
            </a:r>
            <a:endParaRPr lang="en-US" sz="1200" dirty="0"/>
          </a:p>
        </p:txBody>
      </p:sp>
      <p:sp>
        <p:nvSpPr>
          <p:cNvPr id="34" name="Text 28"/>
          <p:cNvSpPr txBox="1"/>
          <p:nvPr/>
        </p:nvSpPr>
        <p:spPr>
          <a:xfrm>
            <a:off x="777240" y="5138928"/>
            <a:ext cx="6537960" cy="1033272"/>
          </a:xfrm>
          <a:prstGeom prst="rect">
            <a:avLst/>
          </a:prstGeom>
          <a:noFill/>
          <a:ln/>
        </p:spPr>
        <p:txBody>
          <a:bodyPr wrap="square" lIns="0" tIns="0" rIns="0" bIns="0" rtlCol="0" anchor="t"/>
          <a:lstStyle/>
          <a:p>
            <a:pPr marL="0" indent="0">
              <a:buNone/>
            </a:pPr>
            <a:r>
              <a:rPr lang="en-US" sz="1400" dirty="0">
                <a:solidFill>
                  <a:srgbClr val="E2E8F0"/>
                </a:solidFill>
                <a:latin typeface="Consolas" pitchFamily="34" charset="0"/>
                <a:ea typeface="Consolas" pitchFamily="34" charset="-122"/>
                <a:cs typeface="Consolas" pitchFamily="34" charset="-120"/>
              </a:rPr>
              <a:t>{ "title": "Ministry reviews tariffs for lab tests",</a:t>
            </a:r>
            <a:endParaRPr lang="en-US" sz="1400" dirty="0"/>
          </a:p>
          <a:p>
            <a:pPr marL="0" indent="0">
              <a:buNone/>
            </a:pPr>
            <a:r>
              <a:rPr lang="en-US" sz="1400" dirty="0">
                <a:solidFill>
                  <a:srgbClr val="E2E8F0"/>
                </a:solidFill>
                <a:latin typeface="Consolas" pitchFamily="34" charset="0"/>
                <a:ea typeface="Consolas" pitchFamily="34" charset="-122"/>
                <a:cs typeface="Consolas" pitchFamily="34" charset="-120"/>
              </a:rPr>
              <a:t>  "sentiment": "negative",</a:t>
            </a:r>
            <a:endParaRPr lang="en-US" sz="1400" dirty="0"/>
          </a:p>
          <a:p>
            <a:pPr marL="0" indent="0">
              <a:buNone/>
            </a:pPr>
            <a:r>
              <a:rPr lang="en-US" sz="1400" dirty="0">
                <a:solidFill>
                  <a:srgbClr val="E2E8F0"/>
                </a:solidFill>
                <a:latin typeface="Consolas" pitchFamily="34" charset="0"/>
                <a:ea typeface="Consolas" pitchFamily="34" charset="-122"/>
                <a:cs typeface="Consolas" pitchFamily="34" charset="-120"/>
              </a:rPr>
              <a:t>  "categories": ["Healthcare regulation"],</a:t>
            </a:r>
            <a:endParaRPr lang="en-US" sz="1400" dirty="0"/>
          </a:p>
          <a:p>
            <a:pPr marL="0" indent="0">
              <a:buNone/>
            </a:pPr>
            <a:r>
              <a:rPr lang="en-US" sz="1400" dirty="0">
                <a:solidFill>
                  <a:srgbClr val="E2E8F0"/>
                </a:solidFill>
                <a:latin typeface="Consolas" pitchFamily="34" charset="0"/>
                <a:ea typeface="Consolas" pitchFamily="34" charset="-122"/>
                <a:cs typeface="Consolas" pitchFamily="34" charset="-120"/>
              </a:rPr>
              <a:t>  "source": "Health Policy Daily" }</a:t>
            </a:r>
            <a:endParaRPr lang="en-US" sz="1400" dirty="0"/>
          </a:p>
        </p:txBody>
      </p:sp>
      <p:sp>
        <p:nvSpPr>
          <p:cNvPr id="35"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36" name="Image 4" descr="preencoded.png"/>
          <p:cNvPicPr>
            <a:picLocks noChangeAspect="1"/>
          </p:cNvPicPr>
          <p:nvPr/>
        </p:nvPicPr>
        <p:blipFill>
          <a:blip r:embed="rId7"/>
          <a:stretch>
            <a:fillRect/>
          </a:stretch>
        </p:blipFill>
        <p:spPr>
          <a:xfrm>
            <a:off x="8074152" y="2322576"/>
            <a:ext cx="219456" cy="219456"/>
          </a:xfrm>
          <a:prstGeom prst="rect">
            <a:avLst/>
          </a:prstGeom>
        </p:spPr>
      </p:pic>
      <p:sp>
        <p:nvSpPr>
          <p:cNvPr id="37" name="Text 30"/>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38" name="Text 31"/>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Single‑page app</a:t>
            </a:r>
            <a:r>
              <a:rPr lang="en-US" sz="1400" dirty="0">
                <a:solidFill>
                  <a:srgbClr val="4A5563"/>
                </a:solidFill>
              </a:rPr>
              <a:t>: one download, then only data travels (built with Vite).</a:t>
            </a:r>
            <a:endParaRPr lang="en-US" sz="1400" dirty="0"/>
          </a:p>
          <a:p>
            <a:pPr marL="0" indent="0">
              <a:spcAft>
                <a:spcPts val="800"/>
              </a:spcAft>
              <a:buNone/>
            </a:pPr>
            <a:r>
              <a:rPr lang="en-US" sz="1400" b="1" dirty="0">
                <a:solidFill>
                  <a:srgbClr val="16202C"/>
                </a:solidFill>
              </a:rPr>
              <a:t>TanStack Query</a:t>
            </a:r>
            <a:r>
              <a:rPr lang="en-US" sz="1400" dirty="0">
                <a:solidFill>
                  <a:srgbClr val="4A5563"/>
                </a:solidFill>
              </a:rPr>
              <a:t>: caches answers and refreshes them in the background.</a:t>
            </a:r>
            <a:endParaRPr lang="en-US" sz="1400" dirty="0"/>
          </a:p>
          <a:p>
            <a:pPr marL="0" indent="0">
              <a:spcAft>
                <a:spcPts val="800"/>
              </a:spcAft>
              <a:buNone/>
            </a:pPr>
            <a:r>
              <a:rPr lang="en-US" sz="1400" b="1" dirty="0">
                <a:solidFill>
                  <a:srgbClr val="16202C"/>
                </a:solidFill>
              </a:rPr>
              <a:t>Sign‑in</a:t>
            </a:r>
            <a:r>
              <a:rPr lang="en-US" sz="1400" dirty="0">
                <a:solidFill>
                  <a:srgbClr val="4A5563"/>
                </a:solidFill>
              </a:rPr>
              <a:t>: OAuth 2.0 with PKCE; the pass is a signed token (JWT).</a:t>
            </a:r>
            <a:endParaRPr lang="en-US" sz="1400" dirty="0"/>
          </a:p>
          <a:p>
            <a:pPr marL="0" indent="0">
              <a:spcAft>
                <a:spcPts val="800"/>
              </a:spcAft>
              <a:buNone/>
            </a:pPr>
            <a:r>
              <a:rPr lang="en-US" sz="1400" b="1" dirty="0">
                <a:solidFill>
                  <a:srgbClr val="16202C"/>
                </a:solidFill>
              </a:rPr>
              <a:t>API Gateway</a:t>
            </a:r>
            <a:r>
              <a:rPr lang="en-US" sz="1400" dirty="0">
                <a:solidFill>
                  <a:srgbClr val="4A5563"/>
                </a:solidFill>
              </a:rPr>
              <a:t>: rejects any request without a valid pass.</a:t>
            </a:r>
            <a:endParaRPr lang="en-US" sz="1400" dirty="0"/>
          </a:p>
          <a:p>
            <a:pPr marL="0" indent="0">
              <a:spcAft>
                <a:spcPts val="800"/>
              </a:spcAft>
              <a:buNone/>
            </a:pPr>
            <a:r>
              <a:rPr lang="en-US" sz="1400" b="1" dirty="0">
                <a:solidFill>
                  <a:srgbClr val="16202C"/>
                </a:solidFill>
              </a:rPr>
              <a:t>config.json</a:t>
            </a:r>
            <a:r>
              <a:rPr lang="en-US" sz="1400" dirty="0">
                <a:solidFill>
                  <a:srgbClr val="4A5563"/>
                </a:solidFill>
              </a:rPr>
              <a:t>: lets one build run in test and production.</a:t>
            </a:r>
            <a:endParaRPr lang="en-US" sz="1400" dirty="0"/>
          </a:p>
        </p:txBody>
      </p:sp>
      <p:sp>
        <p:nvSpPr>
          <p:cNvPr id="39"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DBEAFB"/>
          </a:solidFill>
          <a:ln/>
        </p:spPr>
        <p:txBody>
          <a:bodyPr wrap="square" lIns="0" tIns="0" rIns="0" bIns="0" rtlCol="0" anchor="ctr"/>
          <a:lstStyle/>
          <a:p>
            <a:pPr marL="0" indent="0" algn="ctr">
              <a:buNone/>
            </a:pPr>
            <a:r>
              <a:rPr lang="en-US" sz="1050" b="1" kern="0" spc="150" dirty="0">
                <a:solidFill>
                  <a:srgbClr val="1F5FAF"/>
                </a:solidFill>
              </a:rPr>
              <a:t>FRONTEND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Reviewing news</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The AI proposes, you decide</a:t>
            </a:r>
            <a:r>
              <a:rPr lang="en-US" dirty="0"/>
              <a:t>. N</a:t>
            </a:r>
            <a:r>
              <a:rPr lang="en-US" sz="1800" dirty="0">
                <a:solidFill>
                  <a:srgbClr val="4A5563"/>
                </a:solidFill>
              </a:rPr>
              <a:t>othing reaches the archive without your approval.</a:t>
            </a:r>
            <a:endParaRPr lang="en-US" sz="1800" dirty="0"/>
          </a:p>
        </p:txBody>
      </p:sp>
      <p:sp>
        <p:nvSpPr>
          <p:cNvPr id="5" name="Shape 3"/>
          <p:cNvSpPr/>
          <p:nvPr/>
        </p:nvSpPr>
        <p:spPr>
          <a:xfrm>
            <a:off x="530352" y="2084832"/>
            <a:ext cx="7031736" cy="2882470"/>
          </a:xfrm>
          <a:prstGeom prst="rect">
            <a:avLst/>
          </a:prstGeom>
          <a:solidFill>
            <a:srgbClr val="FFFFFF"/>
          </a:solidFill>
          <a:ln w="12700">
            <a:solidFill>
              <a:srgbClr val="D1D5DB"/>
            </a:solidFill>
            <a:prstDash val="solid"/>
          </a:ln>
        </p:spPr>
        <p:txBody>
          <a:bodyPr/>
          <a:lstStyle/>
          <a:p>
            <a:endParaRPr lang="en-US"/>
          </a:p>
        </p:txBody>
      </p:sp>
      <p:pic>
        <p:nvPicPr>
          <p:cNvPr id="6" name="Review card screenshot" descr="C:\Users\juanf\AppData\Local\Temp\claude\D--projects-local-code-bio-majesty\af963771-534c-477c-a7ea-371a585f8f2d\scratchpad\deck\assets\crop-review.jpg"/>
          <p:cNvPicPr>
            <a:picLocks noChangeAspect="1"/>
          </p:cNvPicPr>
          <p:nvPr/>
        </p:nvPicPr>
        <p:blipFill>
          <a:blip r:embed="rId3"/>
          <a:stretch>
            <a:fillRect/>
          </a:stretch>
        </p:blipFill>
        <p:spPr>
          <a:xfrm>
            <a:off x="548640" y="2103120"/>
            <a:ext cx="6995160" cy="2845894"/>
          </a:xfrm>
          <a:prstGeom prst="rect">
            <a:avLst/>
          </a:prstGeom>
        </p:spPr>
      </p:pic>
      <p:sp>
        <p:nvSpPr>
          <p:cNvPr id="7" name="Text 4"/>
          <p:cNvSpPr/>
          <p:nvPr/>
        </p:nvSpPr>
        <p:spPr>
          <a:xfrm>
            <a:off x="3657833" y="4443521"/>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p:nvPr/>
        </p:nvSpPr>
        <p:spPr>
          <a:xfrm>
            <a:off x="2459562" y="3210395"/>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9" name="Text 6"/>
          <p:cNvSpPr/>
          <p:nvPr/>
        </p:nvSpPr>
        <p:spPr>
          <a:xfrm>
            <a:off x="7007815" y="3741439"/>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0" name="Text 7"/>
          <p:cNvSpPr/>
          <p:nvPr/>
        </p:nvSpPr>
        <p:spPr>
          <a:xfrm>
            <a:off x="5788559" y="4443521"/>
            <a:ext cx="310896" cy="310896"/>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1" name="Text 8"/>
          <p:cNvSpPr/>
          <p:nvPr/>
        </p:nvSpPr>
        <p:spPr>
          <a:xfrm>
            <a:off x="548640" y="5131894"/>
            <a:ext cx="256032" cy="256032"/>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2" name="Text 9"/>
          <p:cNvSpPr txBox="1"/>
          <p:nvPr/>
        </p:nvSpPr>
        <p:spPr>
          <a:xfrm>
            <a:off x="914400" y="5131894"/>
            <a:ext cx="3086100" cy="256032"/>
          </a:xfrm>
          <a:prstGeom prst="rect">
            <a:avLst/>
          </a:prstGeom>
          <a:noFill/>
          <a:ln/>
        </p:spPr>
        <p:txBody>
          <a:bodyPr wrap="square" lIns="0" tIns="0" rIns="0" bIns="0" rtlCol="0" anchor="ctr"/>
          <a:lstStyle/>
          <a:p>
            <a:pPr marL="0" indent="0">
              <a:buNone/>
            </a:pPr>
            <a:r>
              <a:rPr lang="en-US" sz="1400" dirty="0">
                <a:solidFill>
                  <a:srgbClr val="16202C"/>
                </a:solidFill>
              </a:rPr>
              <a:t>Pick the sentiment</a:t>
            </a:r>
            <a:endParaRPr lang="en-US" sz="1400" dirty="0"/>
          </a:p>
        </p:txBody>
      </p:sp>
      <p:sp>
        <p:nvSpPr>
          <p:cNvPr id="13" name="Text 10"/>
          <p:cNvSpPr/>
          <p:nvPr/>
        </p:nvSpPr>
        <p:spPr>
          <a:xfrm>
            <a:off x="4046220" y="5131894"/>
            <a:ext cx="256032" cy="256032"/>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Text 11"/>
          <p:cNvSpPr txBox="1"/>
          <p:nvPr/>
        </p:nvSpPr>
        <p:spPr>
          <a:xfrm>
            <a:off x="4411980" y="5131894"/>
            <a:ext cx="3086100" cy="256032"/>
          </a:xfrm>
          <a:prstGeom prst="rect">
            <a:avLst/>
          </a:prstGeom>
          <a:noFill/>
          <a:ln/>
        </p:spPr>
        <p:txBody>
          <a:bodyPr wrap="square" lIns="0" tIns="0" rIns="0" bIns="0" rtlCol="0" anchor="ctr"/>
          <a:lstStyle/>
          <a:p>
            <a:pPr marL="0" indent="0">
              <a:buNone/>
            </a:pPr>
            <a:r>
              <a:rPr lang="en-US" sz="1400" dirty="0">
                <a:solidFill>
                  <a:srgbClr val="16202C"/>
                </a:solidFill>
              </a:rPr>
              <a:t>Remove (×) or add (+) topics</a:t>
            </a:r>
            <a:endParaRPr lang="en-US" sz="1400" dirty="0"/>
          </a:p>
        </p:txBody>
      </p:sp>
      <p:sp>
        <p:nvSpPr>
          <p:cNvPr id="15" name="Text 12"/>
          <p:cNvSpPr/>
          <p:nvPr/>
        </p:nvSpPr>
        <p:spPr>
          <a:xfrm>
            <a:off x="548640" y="5479366"/>
            <a:ext cx="256032" cy="256032"/>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6" name="Text 13"/>
          <p:cNvSpPr txBox="1"/>
          <p:nvPr/>
        </p:nvSpPr>
        <p:spPr>
          <a:xfrm>
            <a:off x="914400" y="5479366"/>
            <a:ext cx="3086100" cy="256032"/>
          </a:xfrm>
          <a:prstGeom prst="rect">
            <a:avLst/>
          </a:prstGeom>
          <a:noFill/>
          <a:ln/>
        </p:spPr>
        <p:txBody>
          <a:bodyPr wrap="square" lIns="0" tIns="0" rIns="0" bIns="0" rtlCol="0" anchor="ctr"/>
          <a:lstStyle/>
          <a:p>
            <a:pPr marL="0" indent="0">
              <a:buNone/>
            </a:pPr>
            <a:r>
              <a:rPr lang="en-US" sz="1400" dirty="0">
                <a:solidFill>
                  <a:srgbClr val="16202C"/>
                </a:solidFill>
              </a:rPr>
              <a:t>Edit the reason; see the AI’s confidence</a:t>
            </a:r>
            <a:endParaRPr lang="en-US" sz="1400" dirty="0"/>
          </a:p>
        </p:txBody>
      </p:sp>
      <p:sp>
        <p:nvSpPr>
          <p:cNvPr id="17" name="Text 14"/>
          <p:cNvSpPr/>
          <p:nvPr/>
        </p:nvSpPr>
        <p:spPr>
          <a:xfrm>
            <a:off x="4046220" y="5479366"/>
            <a:ext cx="256032" cy="256032"/>
          </a:xfrm>
          <a:prstGeom prst="ellipse">
            <a:avLst/>
          </a:prstGeom>
          <a:solidFill>
            <a:srgbClr val="1F5FAF"/>
          </a:solidFill>
          <a:ln w="19050">
            <a:solidFill>
              <a:srgbClr val="FFFFFF"/>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8" name="Text 15"/>
          <p:cNvSpPr txBox="1"/>
          <p:nvPr/>
        </p:nvSpPr>
        <p:spPr>
          <a:xfrm>
            <a:off x="4411980" y="5479366"/>
            <a:ext cx="3086100" cy="256032"/>
          </a:xfrm>
          <a:prstGeom prst="rect">
            <a:avLst/>
          </a:prstGeom>
          <a:noFill/>
          <a:ln/>
        </p:spPr>
        <p:txBody>
          <a:bodyPr wrap="square" lIns="0" tIns="0" rIns="0" bIns="0" rtlCol="0" anchor="ctr"/>
          <a:lstStyle/>
          <a:p>
            <a:pPr marL="0" indent="0">
              <a:buNone/>
            </a:pPr>
            <a:r>
              <a:rPr lang="en-US" sz="1400" dirty="0">
                <a:solidFill>
                  <a:srgbClr val="16202C"/>
                </a:solidFill>
              </a:rPr>
              <a:t>Save or Skip</a:t>
            </a:r>
            <a:endParaRPr lang="en-US" sz="1400" dirty="0"/>
          </a:p>
        </p:txBody>
      </p:sp>
      <p:pic>
        <p:nvPicPr>
          <p:cNvPr id="19" name="Image 1" descr="preencoded.png"/>
          <p:cNvPicPr>
            <a:picLocks noChangeAspect="1"/>
          </p:cNvPicPr>
          <p:nvPr/>
        </p:nvPicPr>
        <p:blipFill>
          <a:blip r:embed="rId4"/>
          <a:stretch>
            <a:fillRect/>
          </a:stretch>
        </p:blipFill>
        <p:spPr>
          <a:xfrm>
            <a:off x="548640" y="5852160"/>
            <a:ext cx="256032" cy="256032"/>
          </a:xfrm>
          <a:prstGeom prst="rect">
            <a:avLst/>
          </a:prstGeom>
        </p:spPr>
      </p:pic>
      <p:sp>
        <p:nvSpPr>
          <p:cNvPr id="20" name="Text 16"/>
          <p:cNvSpPr txBox="1"/>
          <p:nvPr/>
        </p:nvSpPr>
        <p:spPr>
          <a:xfrm>
            <a:off x="932688" y="5815584"/>
            <a:ext cx="6611112" cy="457200"/>
          </a:xfrm>
          <a:prstGeom prst="rect">
            <a:avLst/>
          </a:prstGeom>
          <a:noFill/>
          <a:ln/>
        </p:spPr>
        <p:txBody>
          <a:bodyPr wrap="square" lIns="0" tIns="0" rIns="0" bIns="0" rtlCol="0" anchor="t"/>
          <a:lstStyle/>
          <a:p>
            <a:pPr marL="0" indent="0">
              <a:buNone/>
            </a:pPr>
            <a:r>
              <a:rPr lang="en-US" sz="1400" b="1" dirty="0">
                <a:solidFill>
                  <a:srgbClr val="16202C"/>
                </a:solidFill>
              </a:rPr>
              <a:t>A Save means </a:t>
            </a:r>
            <a:r>
              <a:rPr lang="en-US" sz="1400" dirty="0">
                <a:solidFill>
                  <a:srgbClr val="4A5563"/>
                </a:solidFill>
              </a:rPr>
              <a:t>it shows in News, the chat can find it, and it is kept as a training example.</a:t>
            </a:r>
            <a:endParaRPr lang="en-US" sz="1400" dirty="0"/>
          </a:p>
        </p:txBody>
      </p:sp>
      <p:sp>
        <p:nvSpPr>
          <p:cNvPr id="21"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074152" y="2322576"/>
            <a:ext cx="219456" cy="219456"/>
          </a:xfrm>
          <a:prstGeom prst="rect">
            <a:avLst/>
          </a:prstGeom>
        </p:spPr>
      </p:pic>
      <p:sp>
        <p:nvSpPr>
          <p:cNvPr id="23" name="Text 18"/>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24" name="Text 19"/>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Shortcuts</a:t>
            </a:r>
            <a:r>
              <a:rPr lang="en-US" sz="1400" dirty="0">
                <a:solidFill>
                  <a:srgbClr val="4A5563"/>
                </a:solidFill>
              </a:rPr>
              <a:t>: J/K move, S saves, X skips, E opens details; “Save all as suggested” handles a batch.</a:t>
            </a:r>
            <a:endParaRPr lang="en-US" sz="1400" dirty="0"/>
          </a:p>
          <a:p>
            <a:pPr marL="0" indent="0">
              <a:spcAft>
                <a:spcPts val="800"/>
              </a:spcAft>
              <a:buNone/>
            </a:pPr>
            <a:r>
              <a:rPr lang="en-US" sz="1400" b="1" dirty="0">
                <a:solidFill>
                  <a:srgbClr val="16202C"/>
                </a:solidFill>
              </a:rPr>
              <a:t>Instant</a:t>
            </a:r>
            <a:r>
              <a:rPr lang="en-US" sz="1400" dirty="0">
                <a:solidFill>
                  <a:srgbClr val="4A5563"/>
                </a:solidFill>
              </a:rPr>
              <a:t>: each click sends PATCH /news/{id}; the screen updates at once and confirms in the background.</a:t>
            </a:r>
            <a:endParaRPr lang="en-US" sz="1400" dirty="0"/>
          </a:p>
          <a:p>
            <a:pPr marL="0" indent="0">
              <a:spcAft>
                <a:spcPts val="800"/>
              </a:spcAft>
              <a:buNone/>
            </a:pPr>
            <a:r>
              <a:rPr lang="en-US" sz="1400" b="1" dirty="0">
                <a:solidFill>
                  <a:srgbClr val="16202C"/>
                </a:solidFill>
              </a:rPr>
              <a:t>Feedback record</a:t>
            </a:r>
            <a:r>
              <a:rPr lang="en-US" sz="1400" dirty="0">
                <a:solidFill>
                  <a:srgbClr val="4A5563"/>
                </a:solidFill>
              </a:rPr>
              <a:t>: the AI’s suggestion, your final answer and which fields you changed.</a:t>
            </a:r>
            <a:endParaRPr lang="en-US" sz="1400" dirty="0"/>
          </a:p>
          <a:p>
            <a:pPr marL="0" indent="0">
              <a:spcAft>
                <a:spcPts val="800"/>
              </a:spcAft>
              <a:buNone/>
            </a:pPr>
            <a:r>
              <a:rPr lang="en-US" sz="1400" b="1" dirty="0">
                <a:solidFill>
                  <a:srgbClr val="16202C"/>
                </a:solidFill>
              </a:rPr>
              <a:t>Memory</a:t>
            </a:r>
            <a:r>
              <a:rPr lang="en-US" sz="1400" dirty="0">
                <a:solidFill>
                  <a:srgbClr val="4A5563"/>
                </a:solidFill>
              </a:rPr>
              <a:t>: skipped stories are remembered, so they never come back.</a:t>
            </a:r>
            <a:endParaRPr lang="en-US" sz="1400" dirty="0"/>
          </a:p>
        </p:txBody>
      </p:sp>
      <p:sp>
        <p:nvSpPr>
          <p:cNvPr id="25"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p:nvPr/>
        </p:nvSpPr>
        <p:spPr>
          <a:xfrm>
            <a:off x="548640" y="329184"/>
            <a:ext cx="972922" cy="274320"/>
          </a:xfrm>
          <a:prstGeom prst="roundRect">
            <a:avLst>
              <a:gd name="adj" fmla="val 50000"/>
            </a:avLst>
          </a:prstGeom>
          <a:solidFill>
            <a:srgbClr val="E7E4FA"/>
          </a:solidFill>
          <a:ln/>
        </p:spPr>
        <p:txBody>
          <a:bodyPr wrap="square" lIns="0" tIns="0" rIns="0" bIns="0" rtlCol="0" anchor="ctr"/>
          <a:lstStyle/>
          <a:p>
            <a:pPr marL="0" indent="0" algn="ctr">
              <a:buNone/>
            </a:pPr>
            <a:r>
              <a:rPr lang="en-US" sz="1050" b="1" kern="0" spc="150" dirty="0">
                <a:solidFill>
                  <a:srgbClr val="4A3AB5"/>
                </a:solidFill>
              </a:rPr>
              <a:t>BACKEND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Serverless: no servers to look after</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AWS runs our code only when there is work to do and bills by the millisecond: under $10 a month at this scale.</a:t>
            </a:r>
            <a:endParaRPr lang="en-US" sz="1800" dirty="0"/>
          </a:p>
        </p:txBody>
      </p:sp>
      <p:sp>
        <p:nvSpPr>
          <p:cNvPr id="5" name="Shape 3"/>
          <p:cNvSpPr/>
          <p:nvPr/>
        </p:nvSpPr>
        <p:spPr>
          <a:xfrm>
            <a:off x="548640" y="2103120"/>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713232" y="2267712"/>
            <a:ext cx="457200" cy="457200"/>
          </a:xfrm>
          <a:prstGeom prst="ellipse">
            <a:avLst/>
          </a:prstGeom>
          <a:solidFill>
            <a:srgbClr val="E7E4F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18388" y="2372868"/>
            <a:ext cx="246888" cy="246888"/>
          </a:xfrm>
          <a:prstGeom prst="rect">
            <a:avLst/>
          </a:prstGeom>
        </p:spPr>
      </p:pic>
      <p:sp>
        <p:nvSpPr>
          <p:cNvPr id="8" name="Text 5"/>
          <p:cNvSpPr txBox="1"/>
          <p:nvPr/>
        </p:nvSpPr>
        <p:spPr>
          <a:xfrm>
            <a:off x="1280160" y="2286000"/>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Workers</a:t>
            </a:r>
            <a:endParaRPr lang="en-US" sz="1600" dirty="0"/>
          </a:p>
        </p:txBody>
      </p:sp>
      <p:sp>
        <p:nvSpPr>
          <p:cNvPr id="9" name="Text 6"/>
          <p:cNvSpPr txBox="1"/>
          <p:nvPr/>
        </p:nvSpPr>
        <p:spPr>
          <a:xfrm>
            <a:off x="713232" y="2816352"/>
            <a:ext cx="1798259" cy="274320"/>
          </a:xfrm>
          <a:prstGeom prst="rect">
            <a:avLst/>
          </a:prstGeom>
          <a:noFill/>
          <a:ln/>
        </p:spPr>
        <p:txBody>
          <a:bodyPr wrap="square" lIns="0" tIns="0" rIns="0" bIns="0" rtlCol="0" anchor="t"/>
          <a:lstStyle/>
          <a:p>
            <a:pPr marL="0" indent="0">
              <a:buNone/>
            </a:pPr>
            <a:r>
              <a:rPr lang="en-US" sz="1400" dirty="0">
                <a:solidFill>
                  <a:srgbClr val="4A5563"/>
                </a:solidFill>
              </a:rPr>
              <a:t>AWS Lambda</a:t>
            </a:r>
            <a:endParaRPr lang="en-US" sz="1400" dirty="0"/>
          </a:p>
        </p:txBody>
      </p:sp>
      <p:sp>
        <p:nvSpPr>
          <p:cNvPr id="10" name="Shape 7"/>
          <p:cNvSpPr/>
          <p:nvPr/>
        </p:nvSpPr>
        <p:spPr>
          <a:xfrm>
            <a:off x="2804099" y="2103120"/>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11" name="Shape 8"/>
          <p:cNvSpPr/>
          <p:nvPr/>
        </p:nvSpPr>
        <p:spPr>
          <a:xfrm>
            <a:off x="2968691" y="2267712"/>
            <a:ext cx="457200" cy="457200"/>
          </a:xfrm>
          <a:prstGeom prst="ellipse">
            <a:avLst/>
          </a:prstGeom>
          <a:solidFill>
            <a:srgbClr val="E7E4FA"/>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073847" y="2372868"/>
            <a:ext cx="246888" cy="246888"/>
          </a:xfrm>
          <a:prstGeom prst="rect">
            <a:avLst/>
          </a:prstGeom>
        </p:spPr>
      </p:pic>
      <p:sp>
        <p:nvSpPr>
          <p:cNvPr id="13" name="Text 9"/>
          <p:cNvSpPr txBox="1"/>
          <p:nvPr/>
        </p:nvSpPr>
        <p:spPr>
          <a:xfrm>
            <a:off x="3535619" y="2286000"/>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Front door</a:t>
            </a:r>
            <a:endParaRPr lang="en-US" sz="1600" dirty="0"/>
          </a:p>
        </p:txBody>
      </p:sp>
      <p:sp>
        <p:nvSpPr>
          <p:cNvPr id="14" name="Text 10"/>
          <p:cNvSpPr txBox="1"/>
          <p:nvPr/>
        </p:nvSpPr>
        <p:spPr>
          <a:xfrm>
            <a:off x="2968691" y="2816352"/>
            <a:ext cx="1798259" cy="274320"/>
          </a:xfrm>
          <a:prstGeom prst="rect">
            <a:avLst/>
          </a:prstGeom>
          <a:noFill/>
          <a:ln/>
        </p:spPr>
        <p:txBody>
          <a:bodyPr wrap="square" lIns="0" tIns="0" rIns="0" bIns="0" rtlCol="0" anchor="t"/>
          <a:lstStyle/>
          <a:p>
            <a:pPr marL="0" indent="0">
              <a:buNone/>
            </a:pPr>
            <a:r>
              <a:rPr lang="en-US" sz="1400" dirty="0">
                <a:solidFill>
                  <a:srgbClr val="4A5563"/>
                </a:solidFill>
              </a:rPr>
              <a:t>API Gateway</a:t>
            </a:r>
            <a:endParaRPr lang="en-US" sz="1400" dirty="0"/>
          </a:p>
        </p:txBody>
      </p:sp>
      <p:sp>
        <p:nvSpPr>
          <p:cNvPr id="15" name="Shape 11"/>
          <p:cNvSpPr/>
          <p:nvPr/>
        </p:nvSpPr>
        <p:spPr>
          <a:xfrm>
            <a:off x="5059558" y="2103120"/>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16" name="Shape 12"/>
          <p:cNvSpPr/>
          <p:nvPr/>
        </p:nvSpPr>
        <p:spPr>
          <a:xfrm>
            <a:off x="5224150" y="2267712"/>
            <a:ext cx="457200" cy="457200"/>
          </a:xfrm>
          <a:prstGeom prst="ellipse">
            <a:avLst/>
          </a:prstGeom>
          <a:solidFill>
            <a:srgbClr val="E7E4FA"/>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5329306" y="2372868"/>
            <a:ext cx="246888" cy="246888"/>
          </a:xfrm>
          <a:prstGeom prst="rect">
            <a:avLst/>
          </a:prstGeom>
        </p:spPr>
      </p:pic>
      <p:sp>
        <p:nvSpPr>
          <p:cNvPr id="18" name="Text 13"/>
          <p:cNvSpPr txBox="1"/>
          <p:nvPr/>
        </p:nvSpPr>
        <p:spPr>
          <a:xfrm>
            <a:off x="5791078" y="2286000"/>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Conductor</a:t>
            </a:r>
            <a:endParaRPr lang="en-US" sz="1600" dirty="0"/>
          </a:p>
        </p:txBody>
      </p:sp>
      <p:sp>
        <p:nvSpPr>
          <p:cNvPr id="19" name="Text 14"/>
          <p:cNvSpPr txBox="1"/>
          <p:nvPr/>
        </p:nvSpPr>
        <p:spPr>
          <a:xfrm>
            <a:off x="5224150" y="2816352"/>
            <a:ext cx="1798259" cy="274320"/>
          </a:xfrm>
          <a:prstGeom prst="rect">
            <a:avLst/>
          </a:prstGeom>
          <a:noFill/>
          <a:ln/>
        </p:spPr>
        <p:txBody>
          <a:bodyPr wrap="square" lIns="0" tIns="0" rIns="0" bIns="0" rtlCol="0" anchor="t"/>
          <a:lstStyle/>
          <a:p>
            <a:pPr marL="0" indent="0">
              <a:buNone/>
            </a:pPr>
            <a:r>
              <a:rPr lang="en-US" sz="1400" dirty="0">
                <a:solidFill>
                  <a:srgbClr val="4A5563"/>
                </a:solidFill>
              </a:rPr>
              <a:t>Step Functions</a:t>
            </a:r>
            <a:endParaRPr lang="en-US" sz="1400" dirty="0"/>
          </a:p>
        </p:txBody>
      </p:sp>
      <p:sp>
        <p:nvSpPr>
          <p:cNvPr id="20" name="Shape 15"/>
          <p:cNvSpPr/>
          <p:nvPr/>
        </p:nvSpPr>
        <p:spPr>
          <a:xfrm>
            <a:off x="7315017" y="2103120"/>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21" name="Shape 16"/>
          <p:cNvSpPr/>
          <p:nvPr/>
        </p:nvSpPr>
        <p:spPr>
          <a:xfrm>
            <a:off x="7479609" y="2267712"/>
            <a:ext cx="457200" cy="457200"/>
          </a:xfrm>
          <a:prstGeom prst="ellipse">
            <a:avLst/>
          </a:prstGeom>
          <a:solidFill>
            <a:srgbClr val="E7E4FA"/>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7584765" y="2372868"/>
            <a:ext cx="246888" cy="246888"/>
          </a:xfrm>
          <a:prstGeom prst="rect">
            <a:avLst/>
          </a:prstGeom>
        </p:spPr>
      </p:pic>
      <p:sp>
        <p:nvSpPr>
          <p:cNvPr id="23" name="Text 17"/>
          <p:cNvSpPr txBox="1"/>
          <p:nvPr/>
        </p:nvSpPr>
        <p:spPr>
          <a:xfrm>
            <a:off x="8046537" y="2286000"/>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Alarm clock</a:t>
            </a:r>
            <a:endParaRPr lang="en-US" sz="1600" dirty="0"/>
          </a:p>
        </p:txBody>
      </p:sp>
      <p:sp>
        <p:nvSpPr>
          <p:cNvPr id="24" name="Text 18"/>
          <p:cNvSpPr txBox="1"/>
          <p:nvPr/>
        </p:nvSpPr>
        <p:spPr>
          <a:xfrm>
            <a:off x="7479609" y="2816352"/>
            <a:ext cx="1798259" cy="274320"/>
          </a:xfrm>
          <a:prstGeom prst="rect">
            <a:avLst/>
          </a:prstGeom>
          <a:noFill/>
          <a:ln/>
        </p:spPr>
        <p:txBody>
          <a:bodyPr wrap="square" lIns="0" tIns="0" rIns="0" bIns="0" rtlCol="0" anchor="t"/>
          <a:lstStyle/>
          <a:p>
            <a:pPr marL="0" indent="0">
              <a:buNone/>
            </a:pPr>
            <a:r>
              <a:rPr lang="en-US" sz="1400" dirty="0">
                <a:solidFill>
                  <a:srgbClr val="4A5563"/>
                </a:solidFill>
              </a:rPr>
              <a:t>EventBridge Scheduler</a:t>
            </a:r>
            <a:endParaRPr lang="en-US" sz="1400" dirty="0"/>
          </a:p>
        </p:txBody>
      </p:sp>
      <p:sp>
        <p:nvSpPr>
          <p:cNvPr id="25" name="Shape 19"/>
          <p:cNvSpPr/>
          <p:nvPr/>
        </p:nvSpPr>
        <p:spPr>
          <a:xfrm>
            <a:off x="9570476" y="2103120"/>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26" name="Shape 20"/>
          <p:cNvSpPr/>
          <p:nvPr/>
        </p:nvSpPr>
        <p:spPr>
          <a:xfrm>
            <a:off x="9735068" y="2267712"/>
            <a:ext cx="457200" cy="457200"/>
          </a:xfrm>
          <a:prstGeom prst="ellipse">
            <a:avLst/>
          </a:prstGeom>
          <a:solidFill>
            <a:srgbClr val="E7E4FA"/>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9840224" y="2372868"/>
            <a:ext cx="246888" cy="246888"/>
          </a:xfrm>
          <a:prstGeom prst="rect">
            <a:avLst/>
          </a:prstGeom>
        </p:spPr>
      </p:pic>
      <p:sp>
        <p:nvSpPr>
          <p:cNvPr id="28" name="Text 21"/>
          <p:cNvSpPr txBox="1"/>
          <p:nvPr/>
        </p:nvSpPr>
        <p:spPr>
          <a:xfrm>
            <a:off x="10301996" y="2286000"/>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Login</a:t>
            </a:r>
            <a:endParaRPr lang="en-US" sz="1600" dirty="0"/>
          </a:p>
        </p:txBody>
      </p:sp>
      <p:sp>
        <p:nvSpPr>
          <p:cNvPr id="29" name="Text 22"/>
          <p:cNvSpPr txBox="1"/>
          <p:nvPr/>
        </p:nvSpPr>
        <p:spPr>
          <a:xfrm>
            <a:off x="9735068" y="2816352"/>
            <a:ext cx="1798259" cy="274320"/>
          </a:xfrm>
          <a:prstGeom prst="rect">
            <a:avLst/>
          </a:prstGeom>
          <a:noFill/>
          <a:ln/>
        </p:spPr>
        <p:txBody>
          <a:bodyPr wrap="square" lIns="0" tIns="0" rIns="0" bIns="0" rtlCol="0" anchor="t"/>
          <a:lstStyle/>
          <a:p>
            <a:pPr marL="0" indent="0">
              <a:buNone/>
            </a:pPr>
            <a:r>
              <a:rPr lang="en-US" sz="1400" dirty="0">
                <a:solidFill>
                  <a:srgbClr val="4A5563"/>
                </a:solidFill>
              </a:rPr>
              <a:t>Amazon Cognito</a:t>
            </a:r>
            <a:endParaRPr lang="en-US" sz="1400" dirty="0"/>
          </a:p>
        </p:txBody>
      </p:sp>
      <p:sp>
        <p:nvSpPr>
          <p:cNvPr id="30" name="Shape 23"/>
          <p:cNvSpPr/>
          <p:nvPr/>
        </p:nvSpPr>
        <p:spPr>
          <a:xfrm>
            <a:off x="548640" y="3364992"/>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31" name="Shape 24"/>
          <p:cNvSpPr/>
          <p:nvPr/>
        </p:nvSpPr>
        <p:spPr>
          <a:xfrm>
            <a:off x="713232" y="3529584"/>
            <a:ext cx="457200" cy="457200"/>
          </a:xfrm>
          <a:prstGeom prst="ellipse">
            <a:avLst/>
          </a:prstGeom>
          <a:solidFill>
            <a:srgbClr val="E7E4FA"/>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18388" y="3634740"/>
            <a:ext cx="246888" cy="246888"/>
          </a:xfrm>
          <a:prstGeom prst="rect">
            <a:avLst/>
          </a:prstGeom>
        </p:spPr>
      </p:pic>
      <p:sp>
        <p:nvSpPr>
          <p:cNvPr id="33" name="Text 25"/>
          <p:cNvSpPr txBox="1"/>
          <p:nvPr/>
        </p:nvSpPr>
        <p:spPr>
          <a:xfrm>
            <a:off x="1280160" y="3547872"/>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Records</a:t>
            </a:r>
            <a:endParaRPr lang="en-US" sz="1600" dirty="0"/>
          </a:p>
        </p:txBody>
      </p:sp>
      <p:sp>
        <p:nvSpPr>
          <p:cNvPr id="34" name="Text 26"/>
          <p:cNvSpPr txBox="1"/>
          <p:nvPr/>
        </p:nvSpPr>
        <p:spPr>
          <a:xfrm>
            <a:off x="713232" y="4078224"/>
            <a:ext cx="1798259" cy="274320"/>
          </a:xfrm>
          <a:prstGeom prst="rect">
            <a:avLst/>
          </a:prstGeom>
          <a:noFill/>
          <a:ln/>
        </p:spPr>
        <p:txBody>
          <a:bodyPr wrap="square" lIns="0" tIns="0" rIns="0" bIns="0" rtlCol="0" anchor="t"/>
          <a:lstStyle/>
          <a:p>
            <a:pPr marL="0" indent="0">
              <a:buNone/>
            </a:pPr>
            <a:r>
              <a:rPr lang="en-US" sz="1400" dirty="0">
                <a:solidFill>
                  <a:srgbClr val="4A5563"/>
                </a:solidFill>
              </a:rPr>
              <a:t>Amazon DynamoDB</a:t>
            </a:r>
            <a:endParaRPr lang="en-US" sz="1400" dirty="0"/>
          </a:p>
        </p:txBody>
      </p:sp>
      <p:sp>
        <p:nvSpPr>
          <p:cNvPr id="35" name="Shape 27"/>
          <p:cNvSpPr/>
          <p:nvPr/>
        </p:nvSpPr>
        <p:spPr>
          <a:xfrm>
            <a:off x="2804099" y="3364992"/>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36" name="Shape 28"/>
          <p:cNvSpPr/>
          <p:nvPr/>
        </p:nvSpPr>
        <p:spPr>
          <a:xfrm>
            <a:off x="2968691" y="3529584"/>
            <a:ext cx="457200" cy="457200"/>
          </a:xfrm>
          <a:prstGeom prst="ellipse">
            <a:avLst/>
          </a:prstGeom>
          <a:solidFill>
            <a:srgbClr val="E7E4FA"/>
          </a:solidFill>
          <a:ln/>
        </p:spPr>
        <p:txBody>
          <a:bodyPr/>
          <a:lstStyle/>
          <a:p>
            <a:endParaRPr lang="en-US"/>
          </a:p>
        </p:txBody>
      </p:sp>
      <p:pic>
        <p:nvPicPr>
          <p:cNvPr id="37" name="Image 6" descr="preencoded.png"/>
          <p:cNvPicPr>
            <a:picLocks noChangeAspect="1"/>
          </p:cNvPicPr>
          <p:nvPr/>
        </p:nvPicPr>
        <p:blipFill>
          <a:blip r:embed="rId9"/>
          <a:stretch>
            <a:fillRect/>
          </a:stretch>
        </p:blipFill>
        <p:spPr>
          <a:xfrm>
            <a:off x="3073847" y="3634740"/>
            <a:ext cx="246888" cy="246888"/>
          </a:xfrm>
          <a:prstGeom prst="rect">
            <a:avLst/>
          </a:prstGeom>
        </p:spPr>
      </p:pic>
      <p:sp>
        <p:nvSpPr>
          <p:cNvPr id="38" name="Text 29"/>
          <p:cNvSpPr txBox="1"/>
          <p:nvPr/>
        </p:nvSpPr>
        <p:spPr>
          <a:xfrm>
            <a:off x="3535619" y="3547872"/>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Files</a:t>
            </a:r>
            <a:endParaRPr lang="en-US" sz="1600" dirty="0"/>
          </a:p>
        </p:txBody>
      </p:sp>
      <p:sp>
        <p:nvSpPr>
          <p:cNvPr id="39" name="Text 30"/>
          <p:cNvSpPr txBox="1"/>
          <p:nvPr/>
        </p:nvSpPr>
        <p:spPr>
          <a:xfrm>
            <a:off x="2968691" y="4078224"/>
            <a:ext cx="1798259" cy="274320"/>
          </a:xfrm>
          <a:prstGeom prst="rect">
            <a:avLst/>
          </a:prstGeom>
          <a:noFill/>
          <a:ln/>
        </p:spPr>
        <p:txBody>
          <a:bodyPr wrap="square" lIns="0" tIns="0" rIns="0" bIns="0" rtlCol="0" anchor="t"/>
          <a:lstStyle/>
          <a:p>
            <a:pPr marL="0" indent="0">
              <a:buNone/>
            </a:pPr>
            <a:r>
              <a:rPr lang="en-US" sz="1400" dirty="0">
                <a:solidFill>
                  <a:srgbClr val="4A5563"/>
                </a:solidFill>
              </a:rPr>
              <a:t>Amazon S3</a:t>
            </a:r>
            <a:endParaRPr lang="en-US" sz="1400" dirty="0"/>
          </a:p>
        </p:txBody>
      </p:sp>
      <p:sp>
        <p:nvSpPr>
          <p:cNvPr id="40" name="Shape 31"/>
          <p:cNvSpPr/>
          <p:nvPr/>
        </p:nvSpPr>
        <p:spPr>
          <a:xfrm>
            <a:off x="5059558" y="3364992"/>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41" name="Shape 32"/>
          <p:cNvSpPr/>
          <p:nvPr/>
        </p:nvSpPr>
        <p:spPr>
          <a:xfrm>
            <a:off x="5224150" y="3529584"/>
            <a:ext cx="457200" cy="457200"/>
          </a:xfrm>
          <a:prstGeom prst="ellipse">
            <a:avLst/>
          </a:prstGeom>
          <a:solidFill>
            <a:srgbClr val="E7E4FA"/>
          </a:solidFill>
          <a:ln/>
        </p:spPr>
        <p:txBody>
          <a:bodyPr/>
          <a:lstStyle/>
          <a:p>
            <a:endParaRPr lang="en-US"/>
          </a:p>
        </p:txBody>
      </p:sp>
      <p:pic>
        <p:nvPicPr>
          <p:cNvPr id="42" name="Image 7" descr="preencoded.png"/>
          <p:cNvPicPr>
            <a:picLocks noChangeAspect="1"/>
          </p:cNvPicPr>
          <p:nvPr/>
        </p:nvPicPr>
        <p:blipFill>
          <a:blip r:embed="rId10"/>
          <a:stretch>
            <a:fillRect/>
          </a:stretch>
        </p:blipFill>
        <p:spPr>
          <a:xfrm>
            <a:off x="5329306" y="3634740"/>
            <a:ext cx="246888" cy="246888"/>
          </a:xfrm>
          <a:prstGeom prst="rect">
            <a:avLst/>
          </a:prstGeom>
        </p:spPr>
      </p:pic>
      <p:sp>
        <p:nvSpPr>
          <p:cNvPr id="43" name="Text 33"/>
          <p:cNvSpPr txBox="1"/>
          <p:nvPr/>
        </p:nvSpPr>
        <p:spPr>
          <a:xfrm>
            <a:off x="5791078" y="3547872"/>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Delivery</a:t>
            </a:r>
            <a:endParaRPr lang="en-US" sz="1600" dirty="0"/>
          </a:p>
        </p:txBody>
      </p:sp>
      <p:sp>
        <p:nvSpPr>
          <p:cNvPr id="44" name="Text 34"/>
          <p:cNvSpPr txBox="1"/>
          <p:nvPr/>
        </p:nvSpPr>
        <p:spPr>
          <a:xfrm>
            <a:off x="5224150" y="4078224"/>
            <a:ext cx="1798259" cy="274320"/>
          </a:xfrm>
          <a:prstGeom prst="rect">
            <a:avLst/>
          </a:prstGeom>
          <a:noFill/>
          <a:ln/>
        </p:spPr>
        <p:txBody>
          <a:bodyPr wrap="square" lIns="0" tIns="0" rIns="0" bIns="0" rtlCol="0" anchor="t"/>
          <a:lstStyle/>
          <a:p>
            <a:pPr marL="0" indent="0">
              <a:buNone/>
            </a:pPr>
            <a:r>
              <a:rPr lang="en-US" sz="1400" dirty="0">
                <a:solidFill>
                  <a:srgbClr val="4A5563"/>
                </a:solidFill>
              </a:rPr>
              <a:t>Amazon CloudFront</a:t>
            </a:r>
            <a:endParaRPr lang="en-US" sz="1400" dirty="0"/>
          </a:p>
        </p:txBody>
      </p:sp>
      <p:sp>
        <p:nvSpPr>
          <p:cNvPr id="45" name="Shape 35"/>
          <p:cNvSpPr/>
          <p:nvPr/>
        </p:nvSpPr>
        <p:spPr>
          <a:xfrm>
            <a:off x="7315017" y="3364992"/>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46" name="Shape 36"/>
          <p:cNvSpPr/>
          <p:nvPr/>
        </p:nvSpPr>
        <p:spPr>
          <a:xfrm>
            <a:off x="7479609" y="3529584"/>
            <a:ext cx="457200" cy="457200"/>
          </a:xfrm>
          <a:prstGeom prst="ellipse">
            <a:avLst/>
          </a:prstGeom>
          <a:solidFill>
            <a:srgbClr val="E7E4FA"/>
          </a:solidFill>
          <a:ln/>
        </p:spPr>
        <p:txBody>
          <a:bodyPr/>
          <a:lstStyle/>
          <a:p>
            <a:endParaRPr lang="en-US"/>
          </a:p>
        </p:txBody>
      </p:sp>
      <p:pic>
        <p:nvPicPr>
          <p:cNvPr id="47" name="Image 8" descr="preencoded.png"/>
          <p:cNvPicPr>
            <a:picLocks noChangeAspect="1"/>
          </p:cNvPicPr>
          <p:nvPr/>
        </p:nvPicPr>
        <p:blipFill>
          <a:blip r:embed="rId11"/>
          <a:stretch>
            <a:fillRect/>
          </a:stretch>
        </p:blipFill>
        <p:spPr>
          <a:xfrm>
            <a:off x="7584765" y="3634740"/>
            <a:ext cx="246888" cy="246888"/>
          </a:xfrm>
          <a:prstGeom prst="rect">
            <a:avLst/>
          </a:prstGeom>
        </p:spPr>
      </p:pic>
      <p:sp>
        <p:nvSpPr>
          <p:cNvPr id="48" name="Text 37"/>
          <p:cNvSpPr txBox="1"/>
          <p:nvPr/>
        </p:nvSpPr>
        <p:spPr>
          <a:xfrm>
            <a:off x="8046537" y="3547872"/>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Key vault</a:t>
            </a:r>
            <a:endParaRPr lang="en-US" sz="1600" dirty="0"/>
          </a:p>
        </p:txBody>
      </p:sp>
      <p:sp>
        <p:nvSpPr>
          <p:cNvPr id="49" name="Text 38"/>
          <p:cNvSpPr txBox="1"/>
          <p:nvPr/>
        </p:nvSpPr>
        <p:spPr>
          <a:xfrm>
            <a:off x="7479609" y="4078224"/>
            <a:ext cx="1798259" cy="274320"/>
          </a:xfrm>
          <a:prstGeom prst="rect">
            <a:avLst/>
          </a:prstGeom>
          <a:noFill/>
          <a:ln/>
        </p:spPr>
        <p:txBody>
          <a:bodyPr wrap="square" lIns="0" tIns="0" rIns="0" bIns="0" rtlCol="0" anchor="t"/>
          <a:lstStyle/>
          <a:p>
            <a:pPr marL="0" indent="0">
              <a:buNone/>
            </a:pPr>
            <a:r>
              <a:rPr lang="en-US" sz="1400" dirty="0">
                <a:solidFill>
                  <a:srgbClr val="4A5563"/>
                </a:solidFill>
              </a:rPr>
              <a:t>Secrets Manager</a:t>
            </a:r>
            <a:endParaRPr lang="en-US" sz="1400" dirty="0"/>
          </a:p>
        </p:txBody>
      </p:sp>
      <p:sp>
        <p:nvSpPr>
          <p:cNvPr id="50" name="Shape 39"/>
          <p:cNvSpPr/>
          <p:nvPr/>
        </p:nvSpPr>
        <p:spPr>
          <a:xfrm>
            <a:off x="9570476" y="3364992"/>
            <a:ext cx="2072579" cy="1078992"/>
          </a:xfrm>
          <a:prstGeom prst="roundRect">
            <a:avLst>
              <a:gd name="adj" fmla="val 8475"/>
            </a:avLst>
          </a:prstGeom>
          <a:solidFill>
            <a:srgbClr val="FFFFFF"/>
          </a:solidFill>
          <a:ln w="12700">
            <a:solidFill>
              <a:srgbClr val="E5E7EB"/>
            </a:solidFill>
            <a:prstDash val="solid"/>
          </a:ln>
        </p:spPr>
        <p:txBody>
          <a:bodyPr/>
          <a:lstStyle/>
          <a:p>
            <a:endParaRPr lang="en-US"/>
          </a:p>
        </p:txBody>
      </p:sp>
      <p:sp>
        <p:nvSpPr>
          <p:cNvPr id="51" name="Shape 40"/>
          <p:cNvSpPr/>
          <p:nvPr/>
        </p:nvSpPr>
        <p:spPr>
          <a:xfrm>
            <a:off x="9735068" y="3529584"/>
            <a:ext cx="457200" cy="457200"/>
          </a:xfrm>
          <a:prstGeom prst="ellipse">
            <a:avLst/>
          </a:prstGeom>
          <a:solidFill>
            <a:srgbClr val="E7E4FA"/>
          </a:solidFill>
          <a:ln/>
        </p:spPr>
        <p:txBody>
          <a:bodyPr/>
          <a:lstStyle/>
          <a:p>
            <a:endParaRPr lang="en-US"/>
          </a:p>
        </p:txBody>
      </p:sp>
      <p:pic>
        <p:nvPicPr>
          <p:cNvPr id="52" name="Image 9" descr="preencoded.png"/>
          <p:cNvPicPr>
            <a:picLocks noChangeAspect="1"/>
          </p:cNvPicPr>
          <p:nvPr/>
        </p:nvPicPr>
        <p:blipFill>
          <a:blip r:embed="rId12"/>
          <a:stretch>
            <a:fillRect/>
          </a:stretch>
        </p:blipFill>
        <p:spPr>
          <a:xfrm>
            <a:off x="9840224" y="3634740"/>
            <a:ext cx="246888" cy="246888"/>
          </a:xfrm>
          <a:prstGeom prst="rect">
            <a:avLst/>
          </a:prstGeom>
        </p:spPr>
      </p:pic>
      <p:sp>
        <p:nvSpPr>
          <p:cNvPr id="53" name="Text 41"/>
          <p:cNvSpPr txBox="1"/>
          <p:nvPr/>
        </p:nvSpPr>
        <p:spPr>
          <a:xfrm>
            <a:off x="10301996" y="3547872"/>
            <a:ext cx="1249619" cy="420624"/>
          </a:xfrm>
          <a:prstGeom prst="rect">
            <a:avLst/>
          </a:prstGeom>
          <a:noFill/>
          <a:ln/>
        </p:spPr>
        <p:txBody>
          <a:bodyPr wrap="square" lIns="0" tIns="0" rIns="0" bIns="0" rtlCol="0" anchor="ctr"/>
          <a:lstStyle/>
          <a:p>
            <a:pPr marL="0" indent="0">
              <a:buNone/>
            </a:pPr>
            <a:r>
              <a:rPr lang="en-US" sz="1600" b="1" dirty="0">
                <a:solidFill>
                  <a:srgbClr val="16202C"/>
                </a:solidFill>
                <a:latin typeface="Cambria" pitchFamily="34" charset="0"/>
                <a:ea typeface="Cambria" pitchFamily="34" charset="-122"/>
                <a:cs typeface="Cambria" pitchFamily="34" charset="-120"/>
              </a:rPr>
              <a:t>Alarms</a:t>
            </a:r>
            <a:endParaRPr lang="en-US" sz="1600" dirty="0"/>
          </a:p>
        </p:txBody>
      </p:sp>
      <p:sp>
        <p:nvSpPr>
          <p:cNvPr id="54" name="Text 42"/>
          <p:cNvSpPr txBox="1"/>
          <p:nvPr/>
        </p:nvSpPr>
        <p:spPr>
          <a:xfrm>
            <a:off x="9735068" y="4078224"/>
            <a:ext cx="1798259" cy="274320"/>
          </a:xfrm>
          <a:prstGeom prst="rect">
            <a:avLst/>
          </a:prstGeom>
          <a:noFill/>
          <a:ln/>
        </p:spPr>
        <p:txBody>
          <a:bodyPr wrap="square" lIns="0" tIns="0" rIns="0" bIns="0" rtlCol="0" anchor="t"/>
          <a:lstStyle/>
          <a:p>
            <a:pPr marL="0" indent="0">
              <a:buNone/>
            </a:pPr>
            <a:r>
              <a:rPr lang="en-US" sz="1400" dirty="0">
                <a:solidFill>
                  <a:srgbClr val="4A5563"/>
                </a:solidFill>
              </a:rPr>
              <a:t>Amazon CloudWatch</a:t>
            </a:r>
            <a:endParaRPr lang="en-US" sz="1400" dirty="0"/>
          </a:p>
        </p:txBody>
      </p:sp>
      <p:pic>
        <p:nvPicPr>
          <p:cNvPr id="55" name="Image 10" descr="preencoded.png"/>
          <p:cNvPicPr>
            <a:picLocks noChangeAspect="1"/>
          </p:cNvPicPr>
          <p:nvPr/>
        </p:nvPicPr>
        <p:blipFill>
          <a:blip r:embed="rId13"/>
          <a:stretch>
            <a:fillRect/>
          </a:stretch>
        </p:blipFill>
        <p:spPr>
          <a:xfrm>
            <a:off x="548640" y="4645152"/>
            <a:ext cx="274320" cy="274320"/>
          </a:xfrm>
          <a:prstGeom prst="rect">
            <a:avLst/>
          </a:prstGeom>
        </p:spPr>
      </p:pic>
      <p:sp>
        <p:nvSpPr>
          <p:cNvPr id="56" name="Text 43"/>
          <p:cNvSpPr txBox="1"/>
          <p:nvPr/>
        </p:nvSpPr>
        <p:spPr>
          <a:xfrm>
            <a:off x="960120" y="4572000"/>
            <a:ext cx="10682935" cy="457200"/>
          </a:xfrm>
          <a:prstGeom prst="rect">
            <a:avLst/>
          </a:prstGeom>
          <a:noFill/>
          <a:ln/>
        </p:spPr>
        <p:txBody>
          <a:bodyPr wrap="square" lIns="0" tIns="0" rIns="0" bIns="0" rtlCol="0" anchor="t"/>
          <a:lstStyle/>
          <a:p>
            <a:pPr marL="0" indent="0">
              <a:buNone/>
            </a:pPr>
            <a:r>
              <a:rPr lang="en-US" sz="1400" b="1" dirty="0">
                <a:solidFill>
                  <a:srgbClr val="16202C"/>
                </a:solidFill>
              </a:rPr>
              <a:t>A traditional server </a:t>
            </a:r>
            <a:r>
              <a:rPr lang="en-US" sz="1400" dirty="0">
                <a:solidFill>
                  <a:srgbClr val="4A5563"/>
                </a:solidFill>
              </a:rPr>
              <a:t>is on all day, paid 24/7, and someone must patch it. </a:t>
            </a:r>
            <a:r>
              <a:rPr lang="en-US" sz="1400" b="1" dirty="0">
                <a:solidFill>
                  <a:srgbClr val="16202C"/>
                </a:solidFill>
              </a:rPr>
              <a:t>Serverless </a:t>
            </a:r>
            <a:r>
              <a:rPr lang="en-US" sz="1400" dirty="0">
                <a:solidFill>
                  <a:srgbClr val="4A5563"/>
                </a:solidFill>
              </a:rPr>
              <a:t>wakes up for each task, scales by itself, and costs almost nothing when idle.</a:t>
            </a:r>
            <a:endParaRPr lang="en-US" sz="1400" dirty="0"/>
          </a:p>
        </p:txBody>
      </p:sp>
      <p:sp>
        <p:nvSpPr>
          <p:cNvPr id="57" name="Under the hood"/>
          <p:cNvSpPr/>
          <p:nvPr/>
        </p:nvSpPr>
        <p:spPr>
          <a:xfrm>
            <a:off x="548640" y="5193792"/>
            <a:ext cx="11094415" cy="1069848"/>
          </a:xfrm>
          <a:prstGeom prst="roundRect">
            <a:avLst>
              <a:gd name="adj" fmla="val 8547"/>
            </a:avLst>
          </a:prstGeom>
          <a:solidFill>
            <a:srgbClr val="F3F4F6"/>
          </a:solidFill>
          <a:ln/>
        </p:spPr>
        <p:txBody>
          <a:bodyPr/>
          <a:lstStyle/>
          <a:p>
            <a:endParaRPr lang="en-US"/>
          </a:p>
        </p:txBody>
      </p:sp>
      <p:pic>
        <p:nvPicPr>
          <p:cNvPr id="58" name="Image 11" descr="preencoded.png"/>
          <p:cNvPicPr>
            <a:picLocks noChangeAspect="1"/>
          </p:cNvPicPr>
          <p:nvPr/>
        </p:nvPicPr>
        <p:blipFill>
          <a:blip r:embed="rId14"/>
          <a:stretch>
            <a:fillRect/>
          </a:stretch>
        </p:blipFill>
        <p:spPr>
          <a:xfrm>
            <a:off x="804672" y="5367528"/>
            <a:ext cx="219456" cy="219456"/>
          </a:xfrm>
          <a:prstGeom prst="rect">
            <a:avLst/>
          </a:prstGeom>
        </p:spPr>
      </p:pic>
      <p:sp>
        <p:nvSpPr>
          <p:cNvPr id="59" name="Text 45"/>
          <p:cNvSpPr txBox="1"/>
          <p:nvPr/>
        </p:nvSpPr>
        <p:spPr>
          <a:xfrm>
            <a:off x="1115568" y="5330952"/>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60" name="Text 46"/>
          <p:cNvSpPr txBox="1"/>
          <p:nvPr/>
        </p:nvSpPr>
        <p:spPr>
          <a:xfrm>
            <a:off x="804672" y="5696712"/>
            <a:ext cx="3283610" cy="502920"/>
          </a:xfrm>
          <a:prstGeom prst="rect">
            <a:avLst/>
          </a:prstGeom>
          <a:noFill/>
          <a:ln/>
        </p:spPr>
        <p:txBody>
          <a:bodyPr wrap="square" lIns="0" tIns="0" rIns="0" bIns="0" rtlCol="0" anchor="t"/>
          <a:lstStyle/>
          <a:p>
            <a:pPr marL="0" indent="0">
              <a:buNone/>
            </a:pPr>
            <a:r>
              <a:rPr lang="en-US" sz="1400" b="1" dirty="0">
                <a:solidFill>
                  <a:srgbClr val="16202C"/>
                </a:solidFill>
              </a:rPr>
              <a:t>Pay per use</a:t>
            </a:r>
            <a:r>
              <a:rPr lang="en-US" sz="1400" dirty="0">
                <a:solidFill>
                  <a:srgbClr val="4A5563"/>
                </a:solidFill>
              </a:rPr>
              <a:t>: billed by the millisecond, so quiet days cost almost nothing.</a:t>
            </a:r>
            <a:endParaRPr lang="en-US" sz="1400" dirty="0"/>
          </a:p>
        </p:txBody>
      </p:sp>
      <p:sp>
        <p:nvSpPr>
          <p:cNvPr id="61" name="Text 47"/>
          <p:cNvSpPr txBox="1"/>
          <p:nvPr/>
        </p:nvSpPr>
        <p:spPr>
          <a:xfrm>
            <a:off x="4454042" y="5696712"/>
            <a:ext cx="3283610" cy="502920"/>
          </a:xfrm>
          <a:prstGeom prst="rect">
            <a:avLst/>
          </a:prstGeom>
          <a:noFill/>
          <a:ln/>
        </p:spPr>
        <p:txBody>
          <a:bodyPr wrap="square" lIns="0" tIns="0" rIns="0" bIns="0" rtlCol="0" anchor="t"/>
          <a:lstStyle/>
          <a:p>
            <a:pPr marL="0" indent="0">
              <a:buNone/>
            </a:pPr>
            <a:r>
              <a:rPr lang="en-US" sz="1400" b="1" dirty="0">
                <a:solidFill>
                  <a:srgbClr val="16202C"/>
                </a:solidFill>
              </a:rPr>
              <a:t>AWS CDK</a:t>
            </a:r>
            <a:r>
              <a:rPr lang="en-US" sz="1400" dirty="0">
                <a:solidFill>
                  <a:srgbClr val="4A5563"/>
                </a:solidFill>
              </a:rPr>
              <a:t>: the setup is code; one command rebuilds it in any AWS account.</a:t>
            </a:r>
            <a:endParaRPr lang="en-US" sz="1400" dirty="0"/>
          </a:p>
        </p:txBody>
      </p:sp>
      <p:sp>
        <p:nvSpPr>
          <p:cNvPr id="62" name="Text 48"/>
          <p:cNvSpPr txBox="1"/>
          <p:nvPr/>
        </p:nvSpPr>
        <p:spPr>
          <a:xfrm>
            <a:off x="8103413" y="5696712"/>
            <a:ext cx="3283610" cy="502920"/>
          </a:xfrm>
          <a:prstGeom prst="rect">
            <a:avLst/>
          </a:prstGeom>
          <a:noFill/>
          <a:ln/>
        </p:spPr>
        <p:txBody>
          <a:bodyPr wrap="square" lIns="0" tIns="0" rIns="0" bIns="0" rtlCol="0" anchor="t"/>
          <a:lstStyle/>
          <a:p>
            <a:pPr marL="0" indent="0">
              <a:buNone/>
            </a:pPr>
            <a:r>
              <a:rPr lang="en-US" sz="1400" b="1" dirty="0">
                <a:solidFill>
                  <a:srgbClr val="16202C"/>
                </a:solidFill>
              </a:rPr>
              <a:t>cdk‑nag</a:t>
            </a:r>
            <a:r>
              <a:rPr lang="en-US" sz="1400" dirty="0">
                <a:solidFill>
                  <a:srgbClr val="4A5563"/>
                </a:solidFill>
              </a:rPr>
              <a:t>: checks the setup against AWS security rules on every build.</a:t>
            </a:r>
            <a:endParaRPr lang="en-US" sz="1400" dirty="0"/>
          </a:p>
        </p:txBody>
      </p:sp>
      <p:sp>
        <p:nvSpPr>
          <p:cNvPr id="63"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p:nvPr/>
        </p:nvSpPr>
        <p:spPr>
          <a:xfrm>
            <a:off x="548640" y="329184"/>
            <a:ext cx="972922" cy="274320"/>
          </a:xfrm>
          <a:prstGeom prst="roundRect">
            <a:avLst>
              <a:gd name="adj" fmla="val 50000"/>
            </a:avLst>
          </a:prstGeom>
          <a:solidFill>
            <a:srgbClr val="E7E4FA"/>
          </a:solidFill>
          <a:ln/>
        </p:spPr>
        <p:txBody>
          <a:bodyPr wrap="square" lIns="0" tIns="0" rIns="0" bIns="0" rtlCol="0" anchor="ctr"/>
          <a:lstStyle/>
          <a:p>
            <a:pPr marL="0" indent="0" algn="ctr">
              <a:buNone/>
            </a:pPr>
            <a:r>
              <a:rPr lang="en-US" sz="1050" b="1" kern="0" spc="150" dirty="0">
                <a:solidFill>
                  <a:srgbClr val="4A3AB5"/>
                </a:solidFill>
              </a:rPr>
              <a:t>BACKEND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The daily news run</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Every morning a six‑step workflow turns hundreds of search hits into a short list for you to review.</a:t>
            </a:r>
            <a:endParaRPr lang="en-US" sz="1800" dirty="0"/>
          </a:p>
        </p:txBody>
      </p:sp>
      <p:sp>
        <p:nvSpPr>
          <p:cNvPr id="5" name="Shape 3"/>
          <p:cNvSpPr/>
          <p:nvPr/>
        </p:nvSpPr>
        <p:spPr>
          <a:xfrm>
            <a:off x="548640" y="2103120"/>
            <a:ext cx="6995160" cy="621792"/>
          </a:xfrm>
          <a:prstGeom prst="roundRect">
            <a:avLst>
              <a:gd name="adj" fmla="val 14706"/>
            </a:avLst>
          </a:prstGeom>
          <a:solidFill>
            <a:srgbClr val="FFFFFF"/>
          </a:solidFill>
          <a:ln w="12700">
            <a:solidFill>
              <a:srgbClr val="E5E7EB"/>
            </a:solidFill>
            <a:prstDash val="solid"/>
          </a:ln>
        </p:spPr>
        <p:txBody>
          <a:bodyPr/>
          <a:lstStyle/>
          <a:p>
            <a:endParaRPr lang="en-US"/>
          </a:p>
        </p:txBody>
      </p:sp>
      <p:sp>
        <p:nvSpPr>
          <p:cNvPr id="6" name="Text 4"/>
          <p:cNvSpPr/>
          <p:nvPr/>
        </p:nvSpPr>
        <p:spPr>
          <a:xfrm>
            <a:off x="694944" y="2240280"/>
            <a:ext cx="347472" cy="347472"/>
          </a:xfrm>
          <a:prstGeom prst="ellipse">
            <a:avLst/>
          </a:prstGeom>
          <a:solidFill>
            <a:srgbClr val="4A3AB5"/>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txBox="1"/>
          <p:nvPr/>
        </p:nvSpPr>
        <p:spPr>
          <a:xfrm>
            <a:off x="1188720" y="2176272"/>
            <a:ext cx="4114800" cy="256032"/>
          </a:xfrm>
          <a:prstGeom prst="rect">
            <a:avLst/>
          </a:prstGeom>
          <a:noFill/>
          <a:ln/>
        </p:spPr>
        <p:txBody>
          <a:bodyPr wrap="square" lIns="0" tIns="0" rIns="0" bIns="0" rtlCol="0" anchor="ctr"/>
          <a:lstStyle/>
          <a:p>
            <a:pPr marL="0" indent="0">
              <a:buNone/>
            </a:pPr>
            <a:r>
              <a:rPr lang="en-US" sz="1500" b="1" dirty="0">
                <a:solidFill>
                  <a:srgbClr val="16202C"/>
                </a:solidFill>
              </a:rPr>
              <a:t>Search</a:t>
            </a:r>
            <a:endParaRPr lang="en-US" sz="1500" dirty="0"/>
          </a:p>
        </p:txBody>
      </p:sp>
      <p:sp>
        <p:nvSpPr>
          <p:cNvPr id="8" name="Text 6"/>
          <p:cNvSpPr txBox="1"/>
          <p:nvPr/>
        </p:nvSpPr>
        <p:spPr>
          <a:xfrm>
            <a:off x="1188720" y="2432304"/>
            <a:ext cx="5074920" cy="237744"/>
          </a:xfrm>
          <a:prstGeom prst="rect">
            <a:avLst/>
          </a:prstGeom>
          <a:noFill/>
          <a:ln/>
        </p:spPr>
        <p:txBody>
          <a:bodyPr wrap="square" lIns="0" tIns="0" rIns="0" bIns="0" rtlCol="0" anchor="ctr"/>
          <a:lstStyle/>
          <a:p>
            <a:pPr marL="0" indent="0">
              <a:buNone/>
            </a:pPr>
            <a:r>
              <a:rPr lang="en-US" sz="1400" dirty="0">
                <a:solidFill>
                  <a:srgbClr val="4A5563"/>
                </a:solidFill>
              </a:rPr>
              <a:t>Google News and GDELT, in Indonesian and English</a:t>
            </a:r>
            <a:endParaRPr lang="en-US" sz="1400" dirty="0"/>
          </a:p>
        </p:txBody>
      </p:sp>
      <p:sp>
        <p:nvSpPr>
          <p:cNvPr id="9" name="Text 7"/>
          <p:cNvSpPr/>
          <p:nvPr/>
        </p:nvSpPr>
        <p:spPr>
          <a:xfrm>
            <a:off x="6245352" y="2258568"/>
            <a:ext cx="1161288" cy="310896"/>
          </a:xfrm>
          <a:prstGeom prst="roundRect">
            <a:avLst>
              <a:gd name="adj" fmla="val 50000"/>
            </a:avLst>
          </a:prstGeom>
          <a:solidFill>
            <a:srgbClr val="E7E4FA"/>
          </a:solidFill>
          <a:ln/>
        </p:spPr>
        <p:txBody>
          <a:bodyPr wrap="square" lIns="0" tIns="0" rIns="0" bIns="0" rtlCol="0" anchor="ctr"/>
          <a:lstStyle/>
          <a:p>
            <a:pPr marL="0" indent="0" algn="ctr">
              <a:buNone/>
            </a:pPr>
            <a:r>
              <a:rPr lang="en-US" sz="1200" b="1" dirty="0">
                <a:solidFill>
                  <a:srgbClr val="4A3AB5"/>
                </a:solidFill>
              </a:rPr>
              <a:t>e.g. 300 hits</a:t>
            </a:r>
            <a:endParaRPr lang="en-US" sz="1200" dirty="0"/>
          </a:p>
        </p:txBody>
      </p:sp>
      <p:sp>
        <p:nvSpPr>
          <p:cNvPr id="10" name="Shape 8"/>
          <p:cNvSpPr/>
          <p:nvPr/>
        </p:nvSpPr>
        <p:spPr>
          <a:xfrm>
            <a:off x="548640" y="2798064"/>
            <a:ext cx="6995160" cy="621792"/>
          </a:xfrm>
          <a:prstGeom prst="roundRect">
            <a:avLst>
              <a:gd name="adj" fmla="val 14706"/>
            </a:avLst>
          </a:prstGeom>
          <a:solidFill>
            <a:srgbClr val="FFFFFF"/>
          </a:solidFill>
          <a:ln w="12700">
            <a:solidFill>
              <a:srgbClr val="E5E7EB"/>
            </a:solidFill>
            <a:prstDash val="solid"/>
          </a:ln>
        </p:spPr>
        <p:txBody>
          <a:bodyPr/>
          <a:lstStyle/>
          <a:p>
            <a:endParaRPr lang="en-US"/>
          </a:p>
        </p:txBody>
      </p:sp>
      <p:sp>
        <p:nvSpPr>
          <p:cNvPr id="11" name="Text 9"/>
          <p:cNvSpPr/>
          <p:nvPr/>
        </p:nvSpPr>
        <p:spPr>
          <a:xfrm>
            <a:off x="694944" y="2935224"/>
            <a:ext cx="347472" cy="347472"/>
          </a:xfrm>
          <a:prstGeom prst="ellipse">
            <a:avLst/>
          </a:prstGeom>
          <a:solidFill>
            <a:srgbClr val="4A3AB5"/>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2" name="Text 10"/>
          <p:cNvSpPr txBox="1"/>
          <p:nvPr/>
        </p:nvSpPr>
        <p:spPr>
          <a:xfrm>
            <a:off x="1188720" y="2871216"/>
            <a:ext cx="4114800" cy="256032"/>
          </a:xfrm>
          <a:prstGeom prst="rect">
            <a:avLst/>
          </a:prstGeom>
          <a:noFill/>
          <a:ln/>
        </p:spPr>
        <p:txBody>
          <a:bodyPr wrap="square" lIns="0" tIns="0" rIns="0" bIns="0" rtlCol="0" anchor="ctr"/>
          <a:lstStyle/>
          <a:p>
            <a:pPr marL="0" indent="0">
              <a:buNone/>
            </a:pPr>
            <a:r>
              <a:rPr lang="en-US" sz="1500" b="1" dirty="0">
                <a:solidFill>
                  <a:srgbClr val="16202C"/>
                </a:solidFill>
              </a:rPr>
              <a:t>Remove duplicates</a:t>
            </a:r>
            <a:endParaRPr lang="en-US" sz="1500" dirty="0"/>
          </a:p>
        </p:txBody>
      </p:sp>
      <p:sp>
        <p:nvSpPr>
          <p:cNvPr id="13" name="Text 11"/>
          <p:cNvSpPr txBox="1"/>
          <p:nvPr/>
        </p:nvSpPr>
        <p:spPr>
          <a:xfrm>
            <a:off x="1188720" y="3127248"/>
            <a:ext cx="5074920" cy="237744"/>
          </a:xfrm>
          <a:prstGeom prst="rect">
            <a:avLst/>
          </a:prstGeom>
          <a:noFill/>
          <a:ln/>
        </p:spPr>
        <p:txBody>
          <a:bodyPr wrap="square" lIns="0" tIns="0" rIns="0" bIns="0" rtlCol="0" anchor="ctr"/>
          <a:lstStyle/>
          <a:p>
            <a:pPr marL="0" indent="0">
              <a:buNone/>
            </a:pPr>
            <a:r>
              <a:rPr lang="en-US" sz="1400" dirty="0">
                <a:solidFill>
                  <a:srgbClr val="4A5563"/>
                </a:solidFill>
              </a:rPr>
              <a:t>The same article found twice, or seen or skipped before</a:t>
            </a:r>
            <a:endParaRPr lang="en-US" sz="1400" dirty="0"/>
          </a:p>
        </p:txBody>
      </p:sp>
      <p:sp>
        <p:nvSpPr>
          <p:cNvPr id="14" name="Text 12"/>
          <p:cNvSpPr/>
          <p:nvPr/>
        </p:nvSpPr>
        <p:spPr>
          <a:xfrm>
            <a:off x="6245352" y="2953512"/>
            <a:ext cx="1161288" cy="310896"/>
          </a:xfrm>
          <a:prstGeom prst="roundRect">
            <a:avLst>
              <a:gd name="adj" fmla="val 50000"/>
            </a:avLst>
          </a:prstGeom>
          <a:solidFill>
            <a:srgbClr val="E7E4FA"/>
          </a:solidFill>
          <a:ln/>
        </p:spPr>
        <p:txBody>
          <a:bodyPr wrap="square" lIns="0" tIns="0" rIns="0" bIns="0" rtlCol="0" anchor="ctr"/>
          <a:lstStyle/>
          <a:p>
            <a:pPr marL="0" indent="0" algn="ctr">
              <a:buNone/>
            </a:pPr>
            <a:r>
              <a:rPr lang="en-US" sz="1200" b="1" dirty="0">
                <a:solidFill>
                  <a:srgbClr val="4A3AB5"/>
                </a:solidFill>
              </a:rPr>
              <a:t>120 new</a:t>
            </a:r>
            <a:endParaRPr lang="en-US" sz="1200" dirty="0"/>
          </a:p>
        </p:txBody>
      </p:sp>
      <p:sp>
        <p:nvSpPr>
          <p:cNvPr id="15" name="Shape 13"/>
          <p:cNvSpPr/>
          <p:nvPr/>
        </p:nvSpPr>
        <p:spPr>
          <a:xfrm>
            <a:off x="548640" y="3493008"/>
            <a:ext cx="6995160" cy="621792"/>
          </a:xfrm>
          <a:prstGeom prst="roundRect">
            <a:avLst>
              <a:gd name="adj" fmla="val 14706"/>
            </a:avLst>
          </a:prstGeom>
          <a:solidFill>
            <a:srgbClr val="FFFFFF"/>
          </a:solidFill>
          <a:ln w="12700">
            <a:solidFill>
              <a:srgbClr val="E5E7EB"/>
            </a:solidFill>
            <a:prstDash val="solid"/>
          </a:ln>
        </p:spPr>
        <p:txBody>
          <a:bodyPr/>
          <a:lstStyle/>
          <a:p>
            <a:endParaRPr lang="en-US"/>
          </a:p>
        </p:txBody>
      </p:sp>
      <p:sp>
        <p:nvSpPr>
          <p:cNvPr id="16" name="Text 14"/>
          <p:cNvSpPr/>
          <p:nvPr/>
        </p:nvSpPr>
        <p:spPr>
          <a:xfrm>
            <a:off x="694944" y="3630168"/>
            <a:ext cx="347472" cy="347472"/>
          </a:xfrm>
          <a:prstGeom prst="ellipse">
            <a:avLst/>
          </a:prstGeom>
          <a:solidFill>
            <a:srgbClr val="4A3AB5"/>
          </a:solid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7" name="Text 15"/>
          <p:cNvSpPr txBox="1"/>
          <p:nvPr/>
        </p:nvSpPr>
        <p:spPr>
          <a:xfrm>
            <a:off x="1188720" y="3566160"/>
            <a:ext cx="4114800" cy="256032"/>
          </a:xfrm>
          <a:prstGeom prst="rect">
            <a:avLst/>
          </a:prstGeom>
          <a:noFill/>
          <a:ln/>
        </p:spPr>
        <p:txBody>
          <a:bodyPr wrap="square" lIns="0" tIns="0" rIns="0" bIns="0" rtlCol="0" anchor="ctr"/>
          <a:lstStyle/>
          <a:p>
            <a:pPr marL="0" indent="0">
              <a:buNone/>
            </a:pPr>
            <a:r>
              <a:rPr lang="en-US" sz="1500" b="1" dirty="0">
                <a:solidFill>
                  <a:srgbClr val="16202C"/>
                </a:solidFill>
              </a:rPr>
              <a:t>Quick AI screen</a:t>
            </a:r>
            <a:endParaRPr lang="en-US" sz="1500" dirty="0"/>
          </a:p>
        </p:txBody>
      </p:sp>
      <p:sp>
        <p:nvSpPr>
          <p:cNvPr id="18" name="Text 16"/>
          <p:cNvSpPr txBox="1"/>
          <p:nvPr/>
        </p:nvSpPr>
        <p:spPr>
          <a:xfrm>
            <a:off x="1188720" y="3822192"/>
            <a:ext cx="5074920" cy="237744"/>
          </a:xfrm>
          <a:prstGeom prst="rect">
            <a:avLst/>
          </a:prstGeom>
          <a:noFill/>
          <a:ln/>
        </p:spPr>
        <p:txBody>
          <a:bodyPr wrap="square" lIns="0" tIns="0" rIns="0" bIns="0" rtlCol="0" anchor="ctr"/>
          <a:lstStyle/>
          <a:p>
            <a:pPr marL="0" indent="0">
              <a:buNone/>
            </a:pPr>
            <a:r>
              <a:rPr lang="en-US" sz="1400" dirty="0">
                <a:solidFill>
                  <a:srgbClr val="4A5563"/>
                </a:solidFill>
              </a:rPr>
              <a:t>Headlines only; obvious noise is set aside for 30 days</a:t>
            </a:r>
            <a:endParaRPr lang="en-US" sz="1400" dirty="0"/>
          </a:p>
        </p:txBody>
      </p:sp>
      <p:sp>
        <p:nvSpPr>
          <p:cNvPr id="19" name="Text 17"/>
          <p:cNvSpPr/>
          <p:nvPr/>
        </p:nvSpPr>
        <p:spPr>
          <a:xfrm>
            <a:off x="6245352" y="3648456"/>
            <a:ext cx="1161288" cy="310896"/>
          </a:xfrm>
          <a:prstGeom prst="roundRect">
            <a:avLst>
              <a:gd name="adj" fmla="val 50000"/>
            </a:avLst>
          </a:prstGeom>
          <a:solidFill>
            <a:srgbClr val="E7E4FA"/>
          </a:solidFill>
          <a:ln/>
        </p:spPr>
        <p:txBody>
          <a:bodyPr wrap="square" lIns="0" tIns="0" rIns="0" bIns="0" rtlCol="0" anchor="ctr"/>
          <a:lstStyle/>
          <a:p>
            <a:pPr marL="0" indent="0" algn="ctr">
              <a:buNone/>
            </a:pPr>
            <a:r>
              <a:rPr lang="en-US" sz="1200" b="1" dirty="0">
                <a:solidFill>
                  <a:srgbClr val="4A3AB5"/>
                </a:solidFill>
              </a:rPr>
              <a:t>30 relevant</a:t>
            </a:r>
            <a:endParaRPr lang="en-US" sz="1200" dirty="0"/>
          </a:p>
        </p:txBody>
      </p:sp>
      <p:sp>
        <p:nvSpPr>
          <p:cNvPr id="20" name="Shape 18"/>
          <p:cNvSpPr/>
          <p:nvPr/>
        </p:nvSpPr>
        <p:spPr>
          <a:xfrm>
            <a:off x="548640" y="4187952"/>
            <a:ext cx="6995160" cy="621792"/>
          </a:xfrm>
          <a:prstGeom prst="roundRect">
            <a:avLst>
              <a:gd name="adj" fmla="val 14706"/>
            </a:avLst>
          </a:prstGeom>
          <a:solidFill>
            <a:srgbClr val="FFFFFF"/>
          </a:solidFill>
          <a:ln w="12700">
            <a:solidFill>
              <a:srgbClr val="E5E7EB"/>
            </a:solidFill>
            <a:prstDash val="solid"/>
          </a:ln>
        </p:spPr>
        <p:txBody>
          <a:bodyPr/>
          <a:lstStyle/>
          <a:p>
            <a:endParaRPr lang="en-US"/>
          </a:p>
        </p:txBody>
      </p:sp>
      <p:sp>
        <p:nvSpPr>
          <p:cNvPr id="21" name="Text 19"/>
          <p:cNvSpPr/>
          <p:nvPr/>
        </p:nvSpPr>
        <p:spPr>
          <a:xfrm>
            <a:off x="694944" y="4325112"/>
            <a:ext cx="347472" cy="347472"/>
          </a:xfrm>
          <a:prstGeom prst="ellipse">
            <a:avLst/>
          </a:prstGeom>
          <a:solidFill>
            <a:srgbClr val="4A3AB5"/>
          </a:solid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2" name="Text 20"/>
          <p:cNvSpPr txBox="1"/>
          <p:nvPr/>
        </p:nvSpPr>
        <p:spPr>
          <a:xfrm>
            <a:off x="1188720" y="4261104"/>
            <a:ext cx="4114800" cy="256032"/>
          </a:xfrm>
          <a:prstGeom prst="rect">
            <a:avLst/>
          </a:prstGeom>
          <a:noFill/>
          <a:ln/>
        </p:spPr>
        <p:txBody>
          <a:bodyPr wrap="square" lIns="0" tIns="0" rIns="0" bIns="0" rtlCol="0" anchor="ctr"/>
          <a:lstStyle/>
          <a:p>
            <a:pPr marL="0" indent="0">
              <a:buNone/>
            </a:pPr>
            <a:r>
              <a:rPr lang="en-US" sz="1500" b="1" dirty="0">
                <a:solidFill>
                  <a:srgbClr val="16202C"/>
                </a:solidFill>
              </a:rPr>
              <a:t>Read the article</a:t>
            </a:r>
            <a:endParaRPr lang="en-US" sz="1500" dirty="0"/>
          </a:p>
        </p:txBody>
      </p:sp>
      <p:sp>
        <p:nvSpPr>
          <p:cNvPr id="23" name="Text 21"/>
          <p:cNvSpPr txBox="1"/>
          <p:nvPr/>
        </p:nvSpPr>
        <p:spPr>
          <a:xfrm>
            <a:off x="1188720" y="4517136"/>
            <a:ext cx="5074920" cy="237744"/>
          </a:xfrm>
          <a:prstGeom prst="rect">
            <a:avLst/>
          </a:prstGeom>
          <a:noFill/>
          <a:ln/>
        </p:spPr>
        <p:txBody>
          <a:bodyPr wrap="square" lIns="0" tIns="0" rIns="0" bIns="0" rtlCol="0" anchor="ctr"/>
          <a:lstStyle/>
          <a:p>
            <a:pPr marL="0" indent="0">
              <a:buNone/>
            </a:pPr>
            <a:r>
              <a:rPr lang="en-US" sz="1400" dirty="0">
                <a:solidFill>
                  <a:srgbClr val="4A5563"/>
                </a:solidFill>
              </a:rPr>
              <a:t>Opens the publisher’s page and extracts the text</a:t>
            </a:r>
            <a:endParaRPr lang="en-US" sz="1400" dirty="0"/>
          </a:p>
        </p:txBody>
      </p:sp>
      <p:sp>
        <p:nvSpPr>
          <p:cNvPr id="24" name="Text 22"/>
          <p:cNvSpPr/>
          <p:nvPr/>
        </p:nvSpPr>
        <p:spPr>
          <a:xfrm>
            <a:off x="6245352" y="4343400"/>
            <a:ext cx="1161288" cy="310896"/>
          </a:xfrm>
          <a:prstGeom prst="roundRect">
            <a:avLst>
              <a:gd name="adj" fmla="val 50000"/>
            </a:avLst>
          </a:prstGeom>
          <a:solidFill>
            <a:srgbClr val="E7E4FA"/>
          </a:solidFill>
          <a:ln/>
        </p:spPr>
        <p:txBody>
          <a:bodyPr wrap="square" lIns="0" tIns="0" rIns="0" bIns="0" rtlCol="0" anchor="ctr"/>
          <a:lstStyle/>
          <a:p>
            <a:pPr marL="0" indent="0" algn="ctr">
              <a:buNone/>
            </a:pPr>
            <a:r>
              <a:rPr lang="en-US" sz="1200" b="1" dirty="0">
                <a:solidFill>
                  <a:srgbClr val="4A3AB5"/>
                </a:solidFill>
              </a:rPr>
              <a:t>30 read</a:t>
            </a:r>
            <a:endParaRPr lang="en-US" sz="1200" dirty="0"/>
          </a:p>
        </p:txBody>
      </p:sp>
      <p:sp>
        <p:nvSpPr>
          <p:cNvPr id="25" name="Shape 23"/>
          <p:cNvSpPr/>
          <p:nvPr/>
        </p:nvSpPr>
        <p:spPr>
          <a:xfrm>
            <a:off x="548640" y="4882896"/>
            <a:ext cx="6995160" cy="621792"/>
          </a:xfrm>
          <a:prstGeom prst="roundRect">
            <a:avLst>
              <a:gd name="adj" fmla="val 14706"/>
            </a:avLst>
          </a:prstGeom>
          <a:solidFill>
            <a:srgbClr val="FFFFFF"/>
          </a:solidFill>
          <a:ln w="12700">
            <a:solidFill>
              <a:srgbClr val="E5E7EB"/>
            </a:solidFill>
            <a:prstDash val="solid"/>
          </a:ln>
        </p:spPr>
        <p:txBody>
          <a:bodyPr/>
          <a:lstStyle/>
          <a:p>
            <a:endParaRPr lang="en-US"/>
          </a:p>
        </p:txBody>
      </p:sp>
      <p:sp>
        <p:nvSpPr>
          <p:cNvPr id="26" name="Text 24"/>
          <p:cNvSpPr/>
          <p:nvPr/>
        </p:nvSpPr>
        <p:spPr>
          <a:xfrm>
            <a:off x="694944" y="5020056"/>
            <a:ext cx="347472" cy="347472"/>
          </a:xfrm>
          <a:prstGeom prst="ellipse">
            <a:avLst/>
          </a:prstGeom>
          <a:solidFill>
            <a:srgbClr val="4A3AB5"/>
          </a:solid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7" name="Text 25"/>
          <p:cNvSpPr txBox="1"/>
          <p:nvPr/>
        </p:nvSpPr>
        <p:spPr>
          <a:xfrm>
            <a:off x="1188720" y="4956048"/>
            <a:ext cx="4114800" cy="256032"/>
          </a:xfrm>
          <a:prstGeom prst="rect">
            <a:avLst/>
          </a:prstGeom>
          <a:noFill/>
          <a:ln/>
        </p:spPr>
        <p:txBody>
          <a:bodyPr wrap="square" lIns="0" tIns="0" rIns="0" bIns="0" rtlCol="0" anchor="ctr"/>
          <a:lstStyle/>
          <a:p>
            <a:pPr marL="0" indent="0">
              <a:buNone/>
            </a:pPr>
            <a:r>
              <a:rPr lang="en-US" sz="1500" b="1" dirty="0">
                <a:solidFill>
                  <a:srgbClr val="16202C"/>
                </a:solidFill>
              </a:rPr>
              <a:t>AI tagging</a:t>
            </a:r>
            <a:endParaRPr lang="en-US" sz="1500" dirty="0"/>
          </a:p>
        </p:txBody>
      </p:sp>
      <p:sp>
        <p:nvSpPr>
          <p:cNvPr id="28" name="Text 26"/>
          <p:cNvSpPr txBox="1"/>
          <p:nvPr/>
        </p:nvSpPr>
        <p:spPr>
          <a:xfrm>
            <a:off x="1188720" y="5212080"/>
            <a:ext cx="5074920" cy="237744"/>
          </a:xfrm>
          <a:prstGeom prst="rect">
            <a:avLst/>
          </a:prstGeom>
          <a:noFill/>
          <a:ln/>
        </p:spPr>
        <p:txBody>
          <a:bodyPr wrap="square" lIns="0" tIns="0" rIns="0" bIns="0" rtlCol="0" anchor="ctr"/>
          <a:lstStyle/>
          <a:p>
            <a:pPr marL="0" indent="0">
              <a:buNone/>
            </a:pPr>
            <a:r>
              <a:rPr lang="en-US" sz="1400" dirty="0">
                <a:solidFill>
                  <a:srgbClr val="4A5563"/>
                </a:solidFill>
              </a:rPr>
              <a:t>Topics, sentiment, reason, summary and confidence</a:t>
            </a:r>
            <a:endParaRPr lang="en-US" sz="1400" dirty="0"/>
          </a:p>
        </p:txBody>
      </p:sp>
      <p:sp>
        <p:nvSpPr>
          <p:cNvPr id="29" name="Text 27"/>
          <p:cNvSpPr/>
          <p:nvPr/>
        </p:nvSpPr>
        <p:spPr>
          <a:xfrm>
            <a:off x="6245352" y="5038344"/>
            <a:ext cx="1161288" cy="310896"/>
          </a:xfrm>
          <a:prstGeom prst="roundRect">
            <a:avLst>
              <a:gd name="adj" fmla="val 50000"/>
            </a:avLst>
          </a:prstGeom>
          <a:solidFill>
            <a:srgbClr val="E7E4FA"/>
          </a:solidFill>
          <a:ln/>
        </p:spPr>
        <p:txBody>
          <a:bodyPr wrap="square" lIns="0" tIns="0" rIns="0" bIns="0" rtlCol="0" anchor="ctr"/>
          <a:lstStyle/>
          <a:p>
            <a:pPr marL="0" indent="0" algn="ctr">
              <a:buNone/>
            </a:pPr>
            <a:r>
              <a:rPr lang="en-US" sz="1200" b="1" dirty="0">
                <a:solidFill>
                  <a:srgbClr val="4A3AB5"/>
                </a:solidFill>
              </a:rPr>
              <a:t>30 to review</a:t>
            </a:r>
            <a:endParaRPr lang="en-US" sz="1200" dirty="0"/>
          </a:p>
        </p:txBody>
      </p:sp>
      <p:sp>
        <p:nvSpPr>
          <p:cNvPr id="30" name="Shape 28"/>
          <p:cNvSpPr/>
          <p:nvPr/>
        </p:nvSpPr>
        <p:spPr>
          <a:xfrm>
            <a:off x="548640" y="5577840"/>
            <a:ext cx="6995160" cy="621792"/>
          </a:xfrm>
          <a:prstGeom prst="roundRect">
            <a:avLst>
              <a:gd name="adj" fmla="val 14706"/>
            </a:avLst>
          </a:prstGeom>
          <a:solidFill>
            <a:srgbClr val="FFFFFF"/>
          </a:solidFill>
          <a:ln w="12700">
            <a:solidFill>
              <a:srgbClr val="E5E7EB"/>
            </a:solidFill>
            <a:prstDash val="solid"/>
          </a:ln>
        </p:spPr>
        <p:txBody>
          <a:bodyPr/>
          <a:lstStyle/>
          <a:p>
            <a:endParaRPr lang="en-US"/>
          </a:p>
        </p:txBody>
      </p:sp>
      <p:sp>
        <p:nvSpPr>
          <p:cNvPr id="31" name="Text 29"/>
          <p:cNvSpPr/>
          <p:nvPr/>
        </p:nvSpPr>
        <p:spPr>
          <a:xfrm>
            <a:off x="694944" y="5715000"/>
            <a:ext cx="347472" cy="347472"/>
          </a:xfrm>
          <a:prstGeom prst="ellipse">
            <a:avLst/>
          </a:prstGeom>
          <a:solidFill>
            <a:srgbClr val="4A3AB5"/>
          </a:solid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2" name="Text 30"/>
          <p:cNvSpPr txBox="1"/>
          <p:nvPr/>
        </p:nvSpPr>
        <p:spPr>
          <a:xfrm>
            <a:off x="1188720" y="5650992"/>
            <a:ext cx="4114800" cy="256032"/>
          </a:xfrm>
          <a:prstGeom prst="rect">
            <a:avLst/>
          </a:prstGeom>
          <a:noFill/>
          <a:ln/>
        </p:spPr>
        <p:txBody>
          <a:bodyPr wrap="square" lIns="0" tIns="0" rIns="0" bIns="0" rtlCol="0" anchor="ctr"/>
          <a:lstStyle/>
          <a:p>
            <a:pPr marL="0" indent="0">
              <a:buNone/>
            </a:pPr>
            <a:r>
              <a:rPr lang="en-US" sz="1500" b="1" dirty="0">
                <a:solidFill>
                  <a:srgbClr val="16202C"/>
                </a:solidFill>
              </a:rPr>
              <a:t>Digest</a:t>
            </a:r>
            <a:endParaRPr lang="en-US" sz="1500" dirty="0"/>
          </a:p>
        </p:txBody>
      </p:sp>
      <p:sp>
        <p:nvSpPr>
          <p:cNvPr id="33" name="Text 31"/>
          <p:cNvSpPr txBox="1"/>
          <p:nvPr/>
        </p:nvSpPr>
        <p:spPr>
          <a:xfrm>
            <a:off x="1188720" y="5907024"/>
            <a:ext cx="5074920" cy="237744"/>
          </a:xfrm>
          <a:prstGeom prst="rect">
            <a:avLst/>
          </a:prstGeom>
          <a:noFill/>
          <a:ln/>
        </p:spPr>
        <p:txBody>
          <a:bodyPr wrap="square" lIns="0" tIns="0" rIns="0" bIns="0" rtlCol="0" anchor="ctr"/>
          <a:lstStyle/>
          <a:p>
            <a:pPr marL="0" indent="0">
              <a:buNone/>
            </a:pPr>
            <a:r>
              <a:rPr lang="en-US" sz="1400" dirty="0">
                <a:solidFill>
                  <a:srgbClr val="4A5563"/>
                </a:solidFill>
              </a:rPr>
              <a:t>A short summary in the app and on Telegram</a:t>
            </a:r>
            <a:endParaRPr lang="en-US" sz="1400" dirty="0"/>
          </a:p>
        </p:txBody>
      </p:sp>
      <p:sp>
        <p:nvSpPr>
          <p:cNvPr id="34" name="Text 32"/>
          <p:cNvSpPr/>
          <p:nvPr/>
        </p:nvSpPr>
        <p:spPr>
          <a:xfrm>
            <a:off x="6245352" y="5733288"/>
            <a:ext cx="1161288" cy="310896"/>
          </a:xfrm>
          <a:prstGeom prst="roundRect">
            <a:avLst>
              <a:gd name="adj" fmla="val 50000"/>
            </a:avLst>
          </a:prstGeom>
          <a:solidFill>
            <a:srgbClr val="E7E4FA"/>
          </a:solidFill>
          <a:ln/>
        </p:spPr>
        <p:txBody>
          <a:bodyPr wrap="square" lIns="0" tIns="0" rIns="0" bIns="0" rtlCol="0" anchor="ctr"/>
          <a:lstStyle/>
          <a:p>
            <a:pPr marL="0" indent="0" algn="ctr">
              <a:buNone/>
            </a:pPr>
            <a:r>
              <a:rPr lang="en-US" sz="1200" b="1" dirty="0">
                <a:solidFill>
                  <a:srgbClr val="4A3AB5"/>
                </a:solidFill>
              </a:rPr>
              <a:t>1 message</a:t>
            </a:r>
            <a:endParaRPr lang="en-US" sz="1200" dirty="0"/>
          </a:p>
        </p:txBody>
      </p:sp>
      <p:sp>
        <p:nvSpPr>
          <p:cNvPr id="35"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36" name="Image 0" descr="preencoded.png"/>
          <p:cNvPicPr>
            <a:picLocks noChangeAspect="1"/>
          </p:cNvPicPr>
          <p:nvPr/>
        </p:nvPicPr>
        <p:blipFill>
          <a:blip r:embed="rId3"/>
          <a:stretch>
            <a:fillRect/>
          </a:stretch>
        </p:blipFill>
        <p:spPr>
          <a:xfrm>
            <a:off x="8074152" y="2322576"/>
            <a:ext cx="219456" cy="219456"/>
          </a:xfrm>
          <a:prstGeom prst="rect">
            <a:avLst/>
          </a:prstGeom>
        </p:spPr>
      </p:pic>
      <p:sp>
        <p:nvSpPr>
          <p:cNvPr id="37" name="Text 34"/>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38" name="Text 35"/>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Step Functions</a:t>
            </a:r>
            <a:r>
              <a:rPr lang="en-US" sz="1400" dirty="0">
                <a:solidFill>
                  <a:srgbClr val="4A5563"/>
                </a:solidFill>
              </a:rPr>
              <a:t>: runs the steps in order, with many searches in parallel.</a:t>
            </a:r>
            <a:endParaRPr lang="en-US" sz="1400" dirty="0"/>
          </a:p>
          <a:p>
            <a:pPr marL="0" indent="0">
              <a:spcAft>
                <a:spcPts val="800"/>
              </a:spcAft>
              <a:buNone/>
            </a:pPr>
            <a:r>
              <a:rPr lang="en-US" sz="1400" b="1" dirty="0">
                <a:solidFill>
                  <a:srgbClr val="16202C"/>
                </a:solidFill>
              </a:rPr>
              <a:t>Resilient</a:t>
            </a:r>
            <a:r>
              <a:rPr lang="en-US" sz="1400" dirty="0">
                <a:solidFill>
                  <a:srgbClr val="4A5563"/>
                </a:solidFill>
              </a:rPr>
              <a:t>: a failed search is skipped; a failed run is marked and you get a Telegram alert.</a:t>
            </a:r>
            <a:endParaRPr lang="en-US" sz="1400" dirty="0"/>
          </a:p>
          <a:p>
            <a:pPr marL="0" indent="0">
              <a:spcAft>
                <a:spcPts val="800"/>
              </a:spcAft>
              <a:buNone/>
            </a:pPr>
            <a:r>
              <a:rPr lang="en-US" sz="1400" b="1" dirty="0">
                <a:solidFill>
                  <a:srgbClr val="16202C"/>
                </a:solidFill>
              </a:rPr>
              <a:t>Backfill</a:t>
            </a:r>
            <a:r>
              <a:rPr lang="en-US" sz="1400" dirty="0">
                <a:solidFill>
                  <a:srgbClr val="4A5563"/>
                </a:solidFill>
              </a:rPr>
              <a:t>: when you add a topic, the same workflow searches past months, in windows of 7 to 30 days.</a:t>
            </a:r>
            <a:endParaRPr lang="en-US" sz="1400" dirty="0"/>
          </a:p>
          <a:p>
            <a:pPr marL="0" indent="0">
              <a:spcAft>
                <a:spcPts val="800"/>
              </a:spcAft>
              <a:buNone/>
            </a:pPr>
            <a:r>
              <a:rPr lang="en-US" sz="1400" b="1" dirty="0">
                <a:solidFill>
                  <a:srgbClr val="16202C"/>
                </a:solidFill>
              </a:rPr>
              <a:t>Sources</a:t>
            </a:r>
            <a:r>
              <a:rPr lang="en-US" sz="1400" dirty="0">
                <a:solidFill>
                  <a:srgbClr val="4A5563"/>
                </a:solidFill>
              </a:rPr>
              <a:t>: free Google News RSS feeds and the GDELT news database (last ~3 months).</a:t>
            </a:r>
            <a:endParaRPr lang="en-US" sz="1400" dirty="0"/>
          </a:p>
        </p:txBody>
      </p:sp>
      <p:sp>
        <p:nvSpPr>
          <p:cNvPr id="39"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p:cNvSpPr/>
          <p:nvPr/>
        </p:nvSpPr>
        <p:spPr>
          <a:xfrm>
            <a:off x="548640" y="329184"/>
            <a:ext cx="972922" cy="274320"/>
          </a:xfrm>
          <a:prstGeom prst="roundRect">
            <a:avLst>
              <a:gd name="adj" fmla="val 50000"/>
            </a:avLst>
          </a:prstGeom>
          <a:solidFill>
            <a:srgbClr val="E7E4FA"/>
          </a:solidFill>
          <a:ln/>
        </p:spPr>
        <p:txBody>
          <a:bodyPr wrap="square" lIns="0" tIns="0" rIns="0" bIns="0" rtlCol="0" anchor="ctr"/>
          <a:lstStyle/>
          <a:p>
            <a:pPr marL="0" indent="0" algn="ctr">
              <a:buNone/>
            </a:pPr>
            <a:r>
              <a:rPr lang="en-US" sz="1050" b="1" kern="0" spc="150" dirty="0">
                <a:solidFill>
                  <a:srgbClr val="4A3AB5"/>
                </a:solidFill>
              </a:rPr>
              <a:t>BACKEND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How the AI tags an article</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The AI gets clear instructions plus the article, and must answer in a fixed format that the app can check.</a:t>
            </a:r>
            <a:endParaRPr lang="en-US" sz="1800" dirty="0"/>
          </a:p>
        </p:txBody>
      </p:sp>
      <p:sp>
        <p:nvSpPr>
          <p:cNvPr id="5" name="Shape 3"/>
          <p:cNvSpPr/>
          <p:nvPr/>
        </p:nvSpPr>
        <p:spPr>
          <a:xfrm>
            <a:off x="548640" y="2103120"/>
            <a:ext cx="2514600" cy="2514600"/>
          </a:xfrm>
          <a:prstGeom prst="roundRect">
            <a:avLst>
              <a:gd name="adj" fmla="val 3636"/>
            </a:avLst>
          </a:prstGeom>
          <a:solidFill>
            <a:srgbClr val="FFFFFF"/>
          </a:solidFill>
          <a:ln w="12700">
            <a:solidFill>
              <a:srgbClr val="E5E7EB"/>
            </a:solidFill>
            <a:prstDash val="solid"/>
          </a:ln>
        </p:spPr>
        <p:txBody>
          <a:bodyPr/>
          <a:lstStyle/>
          <a:p>
            <a:endParaRPr lang="en-US"/>
          </a:p>
        </p:txBody>
      </p:sp>
      <p:sp>
        <p:nvSpPr>
          <p:cNvPr id="6" name="Text 4"/>
          <p:cNvSpPr txBox="1"/>
          <p:nvPr/>
        </p:nvSpPr>
        <p:spPr>
          <a:xfrm>
            <a:off x="731520" y="2249424"/>
            <a:ext cx="2194560" cy="274320"/>
          </a:xfrm>
          <a:prstGeom prst="rect">
            <a:avLst/>
          </a:prstGeom>
          <a:noFill/>
          <a:ln/>
        </p:spPr>
        <p:txBody>
          <a:bodyPr wrap="square" lIns="0" tIns="0" rIns="0" bIns="0" rtlCol="0" anchor="t"/>
          <a:lstStyle/>
          <a:p>
            <a:pPr marL="0" indent="0">
              <a:buNone/>
            </a:pPr>
            <a:r>
              <a:rPr lang="en-US" sz="1400" b="1" dirty="0">
                <a:solidFill>
                  <a:srgbClr val="16202C"/>
                </a:solidFill>
              </a:rPr>
              <a:t>What the AI is given</a:t>
            </a:r>
            <a:endParaRPr lang="en-US" sz="1400" dirty="0"/>
          </a:p>
        </p:txBody>
      </p:sp>
      <p:sp>
        <p:nvSpPr>
          <p:cNvPr id="7" name="Text 5"/>
          <p:cNvSpPr txBox="1"/>
          <p:nvPr/>
        </p:nvSpPr>
        <p:spPr>
          <a:xfrm>
            <a:off x="731520" y="2633472"/>
            <a:ext cx="2194560" cy="18745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4A5563"/>
                </a:solidFill>
              </a:rPr>
              <a:t>About Prodia and its group</a:t>
            </a:r>
            <a:endParaRPr lang="en-US" sz="1400" dirty="0"/>
          </a:p>
          <a:p>
            <a:pPr marL="203200" indent="-203200">
              <a:spcAft>
                <a:spcPts val="600"/>
              </a:spcAft>
              <a:buSzPct val="100000"/>
              <a:buChar char="•"/>
            </a:pPr>
            <a:r>
              <a:rPr lang="en-US" sz="1400" dirty="0">
                <a:solidFill>
                  <a:srgbClr val="4A5563"/>
                </a:solidFill>
              </a:rPr>
              <a:t>Your topic definitions</a:t>
            </a:r>
            <a:endParaRPr lang="en-US" sz="1400" dirty="0"/>
          </a:p>
          <a:p>
            <a:pPr marL="203200" indent="-203200">
              <a:spcAft>
                <a:spcPts val="600"/>
              </a:spcAft>
              <a:buSzPct val="100000"/>
              <a:buChar char="•"/>
            </a:pPr>
            <a:r>
              <a:rPr lang="en-US" sz="1400" dirty="0">
                <a:solidFill>
                  <a:srgbClr val="4A5563"/>
                </a:solidFill>
              </a:rPr>
              <a:t>The sentiment rules</a:t>
            </a:r>
            <a:endParaRPr lang="en-US" sz="1400" dirty="0"/>
          </a:p>
          <a:p>
            <a:pPr marL="203200" indent="-203200">
              <a:spcAft>
                <a:spcPts val="600"/>
              </a:spcAft>
              <a:buSzPct val="100000"/>
              <a:buChar char="•"/>
            </a:pPr>
            <a:r>
              <a:rPr lang="en-US" sz="1400" dirty="0">
                <a:solidFill>
                  <a:srgbClr val="4A5563"/>
                </a:solidFill>
              </a:rPr>
              <a:t>The article, marked as untrusted text</a:t>
            </a:r>
            <a:endParaRPr lang="en-US" sz="1400" dirty="0"/>
          </a:p>
        </p:txBody>
      </p:sp>
      <p:sp>
        <p:nvSpPr>
          <p:cNvPr id="8" name="Shape 6"/>
          <p:cNvSpPr/>
          <p:nvPr/>
        </p:nvSpPr>
        <p:spPr>
          <a:xfrm>
            <a:off x="3108960" y="3154680"/>
            <a:ext cx="411480" cy="0"/>
          </a:xfrm>
          <a:prstGeom prst="line">
            <a:avLst/>
          </a:prstGeom>
          <a:noFill/>
          <a:ln w="25400">
            <a:solidFill>
              <a:srgbClr val="94A3B8"/>
            </a:solidFill>
            <a:prstDash val="solid"/>
            <a:tailEnd type="triangle"/>
          </a:ln>
        </p:spPr>
        <p:txBody>
          <a:bodyPr/>
          <a:lstStyle/>
          <a:p>
            <a:endParaRPr lang="en-US"/>
          </a:p>
        </p:txBody>
      </p:sp>
      <p:sp>
        <p:nvSpPr>
          <p:cNvPr id="9" name="Shape 7"/>
          <p:cNvSpPr/>
          <p:nvPr/>
        </p:nvSpPr>
        <p:spPr>
          <a:xfrm>
            <a:off x="3566160" y="2697480"/>
            <a:ext cx="914400" cy="914400"/>
          </a:xfrm>
          <a:prstGeom prst="ellipse">
            <a:avLst/>
          </a:prstGeom>
          <a:solidFill>
            <a:srgbClr val="E7E4FA"/>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3776472" y="2907792"/>
            <a:ext cx="493776" cy="493776"/>
          </a:xfrm>
          <a:prstGeom prst="rect">
            <a:avLst/>
          </a:prstGeom>
        </p:spPr>
      </p:pic>
      <p:sp>
        <p:nvSpPr>
          <p:cNvPr id="11" name="Text 8"/>
          <p:cNvSpPr txBox="1"/>
          <p:nvPr/>
        </p:nvSpPr>
        <p:spPr>
          <a:xfrm>
            <a:off x="3337560" y="3703320"/>
            <a:ext cx="1371600" cy="274320"/>
          </a:xfrm>
          <a:prstGeom prst="rect">
            <a:avLst/>
          </a:prstGeom>
          <a:noFill/>
          <a:ln/>
        </p:spPr>
        <p:txBody>
          <a:bodyPr wrap="square" lIns="0" tIns="0" rIns="0" bIns="0" rtlCol="0" anchor="t"/>
          <a:lstStyle/>
          <a:p>
            <a:pPr marL="0" indent="0" algn="ctr">
              <a:buNone/>
            </a:pPr>
            <a:r>
              <a:rPr lang="en-US" sz="1400" b="1" dirty="0">
                <a:solidFill>
                  <a:srgbClr val="16202C"/>
                </a:solidFill>
              </a:rPr>
              <a:t>AI model</a:t>
            </a:r>
            <a:endParaRPr lang="en-US" sz="1400" dirty="0"/>
          </a:p>
        </p:txBody>
      </p:sp>
      <p:sp>
        <p:nvSpPr>
          <p:cNvPr id="13" name="Shape 10"/>
          <p:cNvSpPr/>
          <p:nvPr/>
        </p:nvSpPr>
        <p:spPr>
          <a:xfrm>
            <a:off x="4526280" y="3154680"/>
            <a:ext cx="320040" cy="0"/>
          </a:xfrm>
          <a:prstGeom prst="line">
            <a:avLst/>
          </a:prstGeom>
          <a:noFill/>
          <a:ln w="25400">
            <a:solidFill>
              <a:srgbClr val="94A3B8"/>
            </a:solidFill>
            <a:prstDash val="solid"/>
            <a:tailEnd type="triangle"/>
          </a:ln>
        </p:spPr>
        <p:txBody>
          <a:bodyPr/>
          <a:lstStyle/>
          <a:p>
            <a:endParaRPr lang="en-US"/>
          </a:p>
        </p:txBody>
      </p:sp>
      <p:sp>
        <p:nvSpPr>
          <p:cNvPr id="14" name="Shape 11"/>
          <p:cNvSpPr/>
          <p:nvPr/>
        </p:nvSpPr>
        <p:spPr>
          <a:xfrm>
            <a:off x="4892040" y="2103120"/>
            <a:ext cx="2651760" cy="2514600"/>
          </a:xfrm>
          <a:prstGeom prst="roundRect">
            <a:avLst>
              <a:gd name="adj" fmla="val 3636"/>
            </a:avLst>
          </a:prstGeom>
          <a:solidFill>
            <a:srgbClr val="FAFAFF"/>
          </a:solidFill>
          <a:ln w="12700">
            <a:solidFill>
              <a:srgbClr val="D9D4F7"/>
            </a:solidFill>
            <a:prstDash val="solid"/>
          </a:ln>
        </p:spPr>
        <p:txBody>
          <a:bodyPr/>
          <a:lstStyle/>
          <a:p>
            <a:endParaRPr lang="en-US"/>
          </a:p>
        </p:txBody>
      </p:sp>
      <p:sp>
        <p:nvSpPr>
          <p:cNvPr id="15" name="Text 12"/>
          <p:cNvSpPr txBox="1"/>
          <p:nvPr/>
        </p:nvSpPr>
        <p:spPr>
          <a:xfrm>
            <a:off x="5074920" y="2249424"/>
            <a:ext cx="2286000" cy="274320"/>
          </a:xfrm>
          <a:prstGeom prst="rect">
            <a:avLst/>
          </a:prstGeom>
          <a:noFill/>
          <a:ln/>
        </p:spPr>
        <p:txBody>
          <a:bodyPr wrap="square" lIns="0" tIns="0" rIns="0" bIns="0" rtlCol="0" anchor="t"/>
          <a:lstStyle/>
          <a:p>
            <a:pPr marL="0" indent="0">
              <a:buNone/>
            </a:pPr>
            <a:r>
              <a:rPr lang="en-US" sz="1400" b="1" dirty="0">
                <a:solidFill>
                  <a:srgbClr val="16202C"/>
                </a:solidFill>
              </a:rPr>
              <a:t>What it must return</a:t>
            </a:r>
            <a:endParaRPr lang="en-US" sz="1400" dirty="0"/>
          </a:p>
        </p:txBody>
      </p:sp>
      <p:sp>
        <p:nvSpPr>
          <p:cNvPr id="16" name="Text 13"/>
          <p:cNvSpPr txBox="1"/>
          <p:nvPr/>
        </p:nvSpPr>
        <p:spPr>
          <a:xfrm>
            <a:off x="5074920" y="2633472"/>
            <a:ext cx="2286000" cy="1874520"/>
          </a:xfrm>
          <a:prstGeom prst="rect">
            <a:avLst/>
          </a:prstGeom>
          <a:noFill/>
          <a:ln/>
        </p:spPr>
        <p:txBody>
          <a:bodyPr wrap="square" lIns="0" tIns="0" rIns="0" bIns="0" rtlCol="0" anchor="t"/>
          <a:lstStyle/>
          <a:p>
            <a:pPr marL="0" indent="0">
              <a:spcAft>
                <a:spcPts val="400"/>
              </a:spcAft>
              <a:buNone/>
            </a:pPr>
            <a:r>
              <a:rPr lang="en-US" sz="1400" b="1" dirty="0">
                <a:solidFill>
                  <a:srgbClr val="16202C"/>
                </a:solidFill>
              </a:rPr>
              <a:t>Topic</a:t>
            </a:r>
            <a:r>
              <a:rPr lang="en-US" sz="1400" dirty="0">
                <a:solidFill>
                  <a:srgbClr val="4A5563"/>
                </a:solidFill>
              </a:rPr>
              <a:t>: Healthcare regulation</a:t>
            </a:r>
            <a:endParaRPr lang="en-US" sz="1400" dirty="0"/>
          </a:p>
          <a:p>
            <a:pPr marL="0" indent="0">
              <a:spcAft>
                <a:spcPts val="400"/>
              </a:spcAft>
              <a:buNone/>
            </a:pPr>
            <a:r>
              <a:rPr lang="en-US" sz="1400" b="1" dirty="0">
                <a:solidFill>
                  <a:srgbClr val="16202C"/>
                </a:solidFill>
              </a:rPr>
              <a:t>Sentiment</a:t>
            </a:r>
            <a:r>
              <a:rPr lang="en-US" sz="1400" dirty="0">
                <a:solidFill>
                  <a:srgbClr val="4A5563"/>
                </a:solidFill>
              </a:rPr>
              <a:t>: Negative</a:t>
            </a:r>
            <a:endParaRPr lang="en-US" sz="1400" dirty="0"/>
          </a:p>
          <a:p>
            <a:pPr marL="0" indent="0">
              <a:spcAft>
                <a:spcPts val="400"/>
              </a:spcAft>
              <a:buNone/>
            </a:pPr>
            <a:r>
              <a:rPr lang="en-US" sz="1400" b="1" dirty="0">
                <a:solidFill>
                  <a:srgbClr val="16202C"/>
                </a:solidFill>
              </a:rPr>
              <a:t>Why</a:t>
            </a:r>
            <a:r>
              <a:rPr lang="en-US" sz="1400" dirty="0">
                <a:solidFill>
                  <a:srgbClr val="4A5563"/>
                </a:solidFill>
              </a:rPr>
              <a:t>: lower tariffs could pressure margins</a:t>
            </a:r>
            <a:endParaRPr lang="en-US" sz="1400" dirty="0"/>
          </a:p>
          <a:p>
            <a:pPr marL="0" indent="0">
              <a:spcAft>
                <a:spcPts val="400"/>
              </a:spcAft>
              <a:buNone/>
            </a:pPr>
            <a:r>
              <a:rPr lang="en-US" sz="1400" b="1" dirty="0">
                <a:solidFill>
                  <a:srgbClr val="16202C"/>
                </a:solidFill>
              </a:rPr>
              <a:t>Summary</a:t>
            </a:r>
            <a:r>
              <a:rPr lang="en-US" sz="1400" dirty="0">
                <a:solidFill>
                  <a:srgbClr val="4A5563"/>
                </a:solidFill>
              </a:rPr>
              <a:t>: one or two sentences</a:t>
            </a:r>
            <a:endParaRPr lang="en-US" sz="1400" dirty="0"/>
          </a:p>
          <a:p>
            <a:pPr marL="0" indent="0">
              <a:spcAft>
                <a:spcPts val="400"/>
              </a:spcAft>
              <a:buNone/>
            </a:pPr>
            <a:r>
              <a:rPr lang="en-US" sz="1400" b="1" dirty="0">
                <a:solidFill>
                  <a:srgbClr val="16202C"/>
                </a:solidFill>
              </a:rPr>
              <a:t>Confidence</a:t>
            </a:r>
            <a:r>
              <a:rPr lang="en-US" sz="1400" dirty="0">
                <a:solidFill>
                  <a:srgbClr val="4A5563"/>
                </a:solidFill>
              </a:rPr>
              <a:t>: 83%</a:t>
            </a:r>
            <a:endParaRPr lang="en-US" sz="1400" dirty="0"/>
          </a:p>
        </p:txBody>
      </p:sp>
      <p:sp>
        <p:nvSpPr>
          <p:cNvPr id="17" name="Shape 14"/>
          <p:cNvSpPr/>
          <p:nvPr/>
        </p:nvSpPr>
        <p:spPr>
          <a:xfrm>
            <a:off x="548640" y="4773168"/>
            <a:ext cx="1632204" cy="1490472"/>
          </a:xfrm>
          <a:prstGeom prst="roundRect">
            <a:avLst>
              <a:gd name="adj" fmla="val 6135"/>
            </a:avLst>
          </a:prstGeom>
          <a:solidFill>
            <a:srgbClr val="FFFFFF"/>
          </a:solidFill>
          <a:ln w="12700">
            <a:solidFill>
              <a:srgbClr val="E5E7EB"/>
            </a:solidFill>
            <a:prstDash val="solid"/>
          </a:ln>
        </p:spPr>
        <p:txBody>
          <a:bodyPr/>
          <a:lstStyle/>
          <a:p>
            <a:endParaRPr lang="en-US"/>
          </a:p>
        </p:txBody>
      </p:sp>
      <p:sp>
        <p:nvSpPr>
          <p:cNvPr id="18" name="Shape 15"/>
          <p:cNvSpPr/>
          <p:nvPr/>
        </p:nvSpPr>
        <p:spPr>
          <a:xfrm>
            <a:off x="694944" y="4919472"/>
            <a:ext cx="384048" cy="384048"/>
          </a:xfrm>
          <a:prstGeom prst="ellipse">
            <a:avLst/>
          </a:prstGeom>
          <a:solidFill>
            <a:srgbClr val="E3F5E3"/>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783275" y="5007803"/>
            <a:ext cx="207386" cy="207386"/>
          </a:xfrm>
          <a:prstGeom prst="rect">
            <a:avLst/>
          </a:prstGeom>
        </p:spPr>
      </p:pic>
      <p:sp>
        <p:nvSpPr>
          <p:cNvPr id="20" name="Text 16"/>
          <p:cNvSpPr txBox="1"/>
          <p:nvPr/>
        </p:nvSpPr>
        <p:spPr>
          <a:xfrm>
            <a:off x="1152144" y="4937760"/>
            <a:ext cx="946404" cy="347472"/>
          </a:xfrm>
          <a:prstGeom prst="rect">
            <a:avLst/>
          </a:prstGeom>
          <a:noFill/>
          <a:ln/>
        </p:spPr>
        <p:txBody>
          <a:bodyPr wrap="square" lIns="0" tIns="0" rIns="0" bIns="0" rtlCol="0" anchor="ctr"/>
          <a:lstStyle/>
          <a:p>
            <a:pPr marL="0" indent="0">
              <a:buNone/>
            </a:pPr>
            <a:r>
              <a:rPr lang="en-US" sz="1500" b="1" dirty="0">
                <a:solidFill>
                  <a:srgbClr val="16202C"/>
                </a:solidFill>
              </a:rPr>
              <a:t>Positive</a:t>
            </a:r>
            <a:endParaRPr lang="en-US" sz="1500" dirty="0"/>
          </a:p>
        </p:txBody>
      </p:sp>
      <p:sp>
        <p:nvSpPr>
          <p:cNvPr id="21" name="Text 17"/>
          <p:cNvSpPr txBox="1"/>
          <p:nvPr/>
        </p:nvSpPr>
        <p:spPr>
          <a:xfrm>
            <a:off x="694944" y="5413248"/>
            <a:ext cx="1357884" cy="777240"/>
          </a:xfrm>
          <a:prstGeom prst="rect">
            <a:avLst/>
          </a:prstGeom>
          <a:noFill/>
          <a:ln/>
        </p:spPr>
        <p:txBody>
          <a:bodyPr wrap="square" lIns="0" tIns="0" rIns="0" bIns="0" rtlCol="0" anchor="t"/>
          <a:lstStyle/>
          <a:p>
            <a:pPr marL="0" indent="0">
              <a:buNone/>
            </a:pPr>
            <a:r>
              <a:rPr lang="en-US" sz="1400" dirty="0">
                <a:solidFill>
                  <a:srgbClr val="4A5563"/>
                </a:solidFill>
              </a:rPr>
              <a:t>Likely to support the share price</a:t>
            </a:r>
            <a:endParaRPr lang="en-US" sz="1400" dirty="0"/>
          </a:p>
        </p:txBody>
      </p:sp>
      <p:sp>
        <p:nvSpPr>
          <p:cNvPr id="22" name="Shape 18"/>
          <p:cNvSpPr/>
          <p:nvPr/>
        </p:nvSpPr>
        <p:spPr>
          <a:xfrm>
            <a:off x="2336292" y="4773168"/>
            <a:ext cx="1632204" cy="1490472"/>
          </a:xfrm>
          <a:prstGeom prst="roundRect">
            <a:avLst>
              <a:gd name="adj" fmla="val 6135"/>
            </a:avLst>
          </a:prstGeom>
          <a:solidFill>
            <a:srgbClr val="FFFFFF"/>
          </a:solidFill>
          <a:ln w="12700">
            <a:solidFill>
              <a:srgbClr val="E5E7EB"/>
            </a:solidFill>
            <a:prstDash val="solid"/>
          </a:ln>
        </p:spPr>
        <p:txBody>
          <a:bodyPr/>
          <a:lstStyle/>
          <a:p>
            <a:endParaRPr lang="en-US"/>
          </a:p>
        </p:txBody>
      </p:sp>
      <p:sp>
        <p:nvSpPr>
          <p:cNvPr id="23" name="Shape 19"/>
          <p:cNvSpPr/>
          <p:nvPr/>
        </p:nvSpPr>
        <p:spPr>
          <a:xfrm>
            <a:off x="2482596" y="4919472"/>
            <a:ext cx="384048" cy="384048"/>
          </a:xfrm>
          <a:prstGeom prst="ellipse">
            <a:avLst/>
          </a:prstGeom>
          <a:solidFill>
            <a:srgbClr val="FBE5E5"/>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2570927" y="5007803"/>
            <a:ext cx="207386" cy="207386"/>
          </a:xfrm>
          <a:prstGeom prst="rect">
            <a:avLst/>
          </a:prstGeom>
        </p:spPr>
      </p:pic>
      <p:sp>
        <p:nvSpPr>
          <p:cNvPr id="25" name="Text 20"/>
          <p:cNvSpPr txBox="1"/>
          <p:nvPr/>
        </p:nvSpPr>
        <p:spPr>
          <a:xfrm>
            <a:off x="2939796" y="4937760"/>
            <a:ext cx="946404" cy="347472"/>
          </a:xfrm>
          <a:prstGeom prst="rect">
            <a:avLst/>
          </a:prstGeom>
          <a:noFill/>
          <a:ln/>
        </p:spPr>
        <p:txBody>
          <a:bodyPr wrap="square" lIns="0" tIns="0" rIns="0" bIns="0" rtlCol="0" anchor="ctr"/>
          <a:lstStyle/>
          <a:p>
            <a:pPr marL="0" indent="0">
              <a:buNone/>
            </a:pPr>
            <a:r>
              <a:rPr lang="en-US" sz="1500" b="1" dirty="0">
                <a:solidFill>
                  <a:srgbClr val="16202C"/>
                </a:solidFill>
              </a:rPr>
              <a:t>Negative</a:t>
            </a:r>
            <a:endParaRPr lang="en-US" sz="1500" dirty="0"/>
          </a:p>
        </p:txBody>
      </p:sp>
      <p:sp>
        <p:nvSpPr>
          <p:cNvPr id="26" name="Text 21"/>
          <p:cNvSpPr txBox="1"/>
          <p:nvPr/>
        </p:nvSpPr>
        <p:spPr>
          <a:xfrm>
            <a:off x="2482596" y="5413248"/>
            <a:ext cx="1357884" cy="777240"/>
          </a:xfrm>
          <a:prstGeom prst="rect">
            <a:avLst/>
          </a:prstGeom>
          <a:noFill/>
          <a:ln/>
        </p:spPr>
        <p:txBody>
          <a:bodyPr wrap="square" lIns="0" tIns="0" rIns="0" bIns="0" rtlCol="0" anchor="t"/>
          <a:lstStyle/>
          <a:p>
            <a:pPr marL="0" indent="0">
              <a:buNone/>
            </a:pPr>
            <a:r>
              <a:rPr lang="en-US" sz="1400" dirty="0">
                <a:solidFill>
                  <a:srgbClr val="4A5563"/>
                </a:solidFill>
              </a:rPr>
              <a:t>Likely to pressure the share price</a:t>
            </a:r>
            <a:endParaRPr lang="en-US" sz="1400" dirty="0"/>
          </a:p>
        </p:txBody>
      </p:sp>
      <p:sp>
        <p:nvSpPr>
          <p:cNvPr id="27" name="Shape 22"/>
          <p:cNvSpPr/>
          <p:nvPr/>
        </p:nvSpPr>
        <p:spPr>
          <a:xfrm>
            <a:off x="4123944" y="4773168"/>
            <a:ext cx="1632204" cy="1490472"/>
          </a:xfrm>
          <a:prstGeom prst="roundRect">
            <a:avLst>
              <a:gd name="adj" fmla="val 6135"/>
            </a:avLst>
          </a:prstGeom>
          <a:solidFill>
            <a:srgbClr val="FFFFFF"/>
          </a:solidFill>
          <a:ln w="12700">
            <a:solidFill>
              <a:srgbClr val="E5E7EB"/>
            </a:solidFill>
            <a:prstDash val="solid"/>
          </a:ln>
        </p:spPr>
        <p:txBody>
          <a:bodyPr/>
          <a:lstStyle/>
          <a:p>
            <a:endParaRPr lang="en-US"/>
          </a:p>
        </p:txBody>
      </p:sp>
      <p:sp>
        <p:nvSpPr>
          <p:cNvPr id="28" name="Shape 23"/>
          <p:cNvSpPr/>
          <p:nvPr/>
        </p:nvSpPr>
        <p:spPr>
          <a:xfrm>
            <a:off x="4270248" y="4919472"/>
            <a:ext cx="384048" cy="384048"/>
          </a:xfrm>
          <a:prstGeom prst="ellipse">
            <a:avLst/>
          </a:prstGeom>
          <a:solidFill>
            <a:srgbClr val="EEEEEC"/>
          </a:solidFill>
          <a:ln/>
        </p:spPr>
        <p:txBody>
          <a:bodyPr/>
          <a:lstStyle/>
          <a:p>
            <a:endParaRPr lang="en-US"/>
          </a:p>
        </p:txBody>
      </p:sp>
      <p:pic>
        <p:nvPicPr>
          <p:cNvPr id="29" name="Image 3" descr="preencoded.png"/>
          <p:cNvPicPr>
            <a:picLocks noChangeAspect="1"/>
          </p:cNvPicPr>
          <p:nvPr/>
        </p:nvPicPr>
        <p:blipFill>
          <a:blip r:embed="rId6"/>
          <a:stretch>
            <a:fillRect/>
          </a:stretch>
        </p:blipFill>
        <p:spPr>
          <a:xfrm>
            <a:off x="4358579" y="5007803"/>
            <a:ext cx="207386" cy="207386"/>
          </a:xfrm>
          <a:prstGeom prst="rect">
            <a:avLst/>
          </a:prstGeom>
        </p:spPr>
      </p:pic>
      <p:sp>
        <p:nvSpPr>
          <p:cNvPr id="30" name="Text 24"/>
          <p:cNvSpPr txBox="1"/>
          <p:nvPr/>
        </p:nvSpPr>
        <p:spPr>
          <a:xfrm>
            <a:off x="4727448" y="4937760"/>
            <a:ext cx="946404" cy="347472"/>
          </a:xfrm>
          <a:prstGeom prst="rect">
            <a:avLst/>
          </a:prstGeom>
          <a:noFill/>
          <a:ln/>
        </p:spPr>
        <p:txBody>
          <a:bodyPr wrap="square" lIns="0" tIns="0" rIns="0" bIns="0" rtlCol="0" anchor="ctr"/>
          <a:lstStyle/>
          <a:p>
            <a:pPr marL="0" indent="0">
              <a:buNone/>
            </a:pPr>
            <a:r>
              <a:rPr lang="en-US" sz="1500" b="1" dirty="0">
                <a:solidFill>
                  <a:srgbClr val="16202C"/>
                </a:solidFill>
              </a:rPr>
              <a:t>Neutral</a:t>
            </a:r>
            <a:endParaRPr lang="en-US" sz="1500" dirty="0"/>
          </a:p>
        </p:txBody>
      </p:sp>
      <p:sp>
        <p:nvSpPr>
          <p:cNvPr id="31" name="Text 25"/>
          <p:cNvSpPr txBox="1"/>
          <p:nvPr/>
        </p:nvSpPr>
        <p:spPr>
          <a:xfrm>
            <a:off x="4270248" y="5413248"/>
            <a:ext cx="1357884" cy="777240"/>
          </a:xfrm>
          <a:prstGeom prst="rect">
            <a:avLst/>
          </a:prstGeom>
          <a:noFill/>
          <a:ln/>
        </p:spPr>
        <p:txBody>
          <a:bodyPr wrap="square" lIns="0" tIns="0" rIns="0" bIns="0" rtlCol="0" anchor="t"/>
          <a:lstStyle/>
          <a:p>
            <a:pPr marL="0" indent="0">
              <a:buNone/>
            </a:pPr>
            <a:r>
              <a:rPr lang="en-US" sz="1400" dirty="0">
                <a:solidFill>
                  <a:srgbClr val="4A5563"/>
                </a:solidFill>
              </a:rPr>
              <a:t>Relevant, but unlikely to move it</a:t>
            </a:r>
            <a:endParaRPr lang="en-US" sz="1400" dirty="0"/>
          </a:p>
        </p:txBody>
      </p:sp>
      <p:sp>
        <p:nvSpPr>
          <p:cNvPr id="32" name="Shape 26"/>
          <p:cNvSpPr/>
          <p:nvPr/>
        </p:nvSpPr>
        <p:spPr>
          <a:xfrm>
            <a:off x="5911596" y="4773168"/>
            <a:ext cx="1632204" cy="1490472"/>
          </a:xfrm>
          <a:prstGeom prst="roundRect">
            <a:avLst>
              <a:gd name="adj" fmla="val 6135"/>
            </a:avLst>
          </a:prstGeom>
          <a:solidFill>
            <a:srgbClr val="FFFFFF"/>
          </a:solidFill>
          <a:ln w="12700">
            <a:solidFill>
              <a:srgbClr val="E5E7EB"/>
            </a:solidFill>
            <a:prstDash val="solid"/>
          </a:ln>
        </p:spPr>
        <p:txBody>
          <a:bodyPr/>
          <a:lstStyle/>
          <a:p>
            <a:endParaRPr lang="en-US"/>
          </a:p>
        </p:txBody>
      </p:sp>
      <p:sp>
        <p:nvSpPr>
          <p:cNvPr id="33" name="Shape 27"/>
          <p:cNvSpPr/>
          <p:nvPr/>
        </p:nvSpPr>
        <p:spPr>
          <a:xfrm>
            <a:off x="6057900" y="4919472"/>
            <a:ext cx="384048" cy="384048"/>
          </a:xfrm>
          <a:prstGeom prst="ellipse">
            <a:avLst/>
          </a:prstGeom>
          <a:solidFill>
            <a:srgbClr val="FEF3D6"/>
          </a:solidFill>
          <a:ln/>
        </p:spPr>
        <p:txBody>
          <a:bodyPr/>
          <a:lstStyle/>
          <a:p>
            <a:endParaRPr lang="en-US"/>
          </a:p>
        </p:txBody>
      </p:sp>
      <p:pic>
        <p:nvPicPr>
          <p:cNvPr id="34" name="Image 4" descr="preencoded.png"/>
          <p:cNvPicPr>
            <a:picLocks noChangeAspect="1"/>
          </p:cNvPicPr>
          <p:nvPr/>
        </p:nvPicPr>
        <p:blipFill>
          <a:blip r:embed="rId7"/>
          <a:stretch>
            <a:fillRect/>
          </a:stretch>
        </p:blipFill>
        <p:spPr>
          <a:xfrm>
            <a:off x="6146231" y="5007803"/>
            <a:ext cx="207386" cy="207386"/>
          </a:xfrm>
          <a:prstGeom prst="rect">
            <a:avLst/>
          </a:prstGeom>
        </p:spPr>
      </p:pic>
      <p:sp>
        <p:nvSpPr>
          <p:cNvPr id="35" name="Text 28"/>
          <p:cNvSpPr txBox="1"/>
          <p:nvPr/>
        </p:nvSpPr>
        <p:spPr>
          <a:xfrm>
            <a:off x="6515100" y="4937760"/>
            <a:ext cx="946404" cy="347472"/>
          </a:xfrm>
          <a:prstGeom prst="rect">
            <a:avLst/>
          </a:prstGeom>
          <a:noFill/>
          <a:ln/>
        </p:spPr>
        <p:txBody>
          <a:bodyPr wrap="square" lIns="0" tIns="0" rIns="0" bIns="0" rtlCol="0" anchor="ctr"/>
          <a:lstStyle/>
          <a:p>
            <a:pPr marL="0" indent="0">
              <a:buNone/>
            </a:pPr>
            <a:r>
              <a:rPr lang="en-US" sz="1500" b="1" dirty="0">
                <a:solidFill>
                  <a:srgbClr val="16202C"/>
                </a:solidFill>
              </a:rPr>
              <a:t>Undecided</a:t>
            </a:r>
            <a:endParaRPr lang="en-US" sz="1500" dirty="0"/>
          </a:p>
        </p:txBody>
      </p:sp>
      <p:sp>
        <p:nvSpPr>
          <p:cNvPr id="36" name="Text 29"/>
          <p:cNvSpPr txBox="1"/>
          <p:nvPr/>
        </p:nvSpPr>
        <p:spPr>
          <a:xfrm>
            <a:off x="6057900" y="5413248"/>
            <a:ext cx="1357884" cy="777240"/>
          </a:xfrm>
          <a:prstGeom prst="rect">
            <a:avLst/>
          </a:prstGeom>
          <a:noFill/>
          <a:ln/>
        </p:spPr>
        <p:txBody>
          <a:bodyPr wrap="square" lIns="0" tIns="0" rIns="0" bIns="0" rtlCol="0" anchor="t"/>
          <a:lstStyle/>
          <a:p>
            <a:pPr marL="0" indent="0">
              <a:buNone/>
            </a:pPr>
            <a:r>
              <a:rPr lang="en-US" sz="1400" dirty="0">
                <a:solidFill>
                  <a:srgbClr val="4A5563"/>
                </a:solidFill>
              </a:rPr>
              <a:t>Could matter; the direction is unclear</a:t>
            </a:r>
            <a:endParaRPr lang="en-US" sz="1400" dirty="0"/>
          </a:p>
        </p:txBody>
      </p:sp>
      <p:sp>
        <p:nvSpPr>
          <p:cNvPr id="37"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8074152" y="2322576"/>
            <a:ext cx="219456" cy="219456"/>
          </a:xfrm>
          <a:prstGeom prst="rect">
            <a:avLst/>
          </a:prstGeom>
        </p:spPr>
      </p:pic>
      <p:sp>
        <p:nvSpPr>
          <p:cNvPr id="39" name="Text 31"/>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40" name="Text 32"/>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Structured output</a:t>
            </a:r>
            <a:r>
              <a:rPr lang="en-US" sz="1400" dirty="0">
                <a:solidFill>
                  <a:srgbClr val="4A5563"/>
                </a:solidFill>
              </a:rPr>
              <a:t>: the answer must match a fixed JSON format, checked (with zod) before it is saved.</a:t>
            </a:r>
            <a:endParaRPr lang="en-US" sz="1400" dirty="0"/>
          </a:p>
          <a:p>
            <a:pPr marL="0" indent="0">
              <a:spcAft>
                <a:spcPts val="800"/>
              </a:spcAft>
              <a:buNone/>
            </a:pPr>
            <a:r>
              <a:rPr lang="en-US" sz="1400" b="1" dirty="0">
                <a:solidFill>
                  <a:srgbClr val="16202C"/>
                </a:solidFill>
              </a:rPr>
              <a:t>Untrusted text</a:t>
            </a:r>
            <a:r>
              <a:rPr lang="en-US" sz="1400" dirty="0">
                <a:solidFill>
                  <a:srgbClr val="4A5563"/>
                </a:solidFill>
              </a:rPr>
              <a:t>: the article is fenced off as data, so instructions hidden in a web page are ignored.</a:t>
            </a:r>
            <a:endParaRPr lang="en-US" sz="1400" dirty="0"/>
          </a:p>
          <a:p>
            <a:pPr marL="0" indent="0">
              <a:spcAft>
                <a:spcPts val="800"/>
              </a:spcAft>
              <a:buNone/>
            </a:pPr>
            <a:r>
              <a:rPr lang="en-US" sz="1400" b="1" dirty="0">
                <a:solidFill>
                  <a:srgbClr val="16202C"/>
                </a:solidFill>
              </a:rPr>
              <a:t>Fallback</a:t>
            </a:r>
            <a:r>
              <a:rPr lang="en-US" sz="1400" dirty="0">
                <a:solidFill>
                  <a:srgbClr val="4A5563"/>
                </a:solidFill>
              </a:rPr>
              <a:t>: one retry, then a backup model if the answer still fails.</a:t>
            </a:r>
            <a:endParaRPr lang="en-US" sz="1400" dirty="0"/>
          </a:p>
          <a:p>
            <a:pPr marL="0" indent="0">
              <a:spcAft>
                <a:spcPts val="800"/>
              </a:spcAft>
              <a:buNone/>
            </a:pPr>
            <a:r>
              <a:rPr lang="en-US" sz="1400" b="1" dirty="0">
                <a:solidFill>
                  <a:srgbClr val="16202C"/>
                </a:solidFill>
              </a:rPr>
              <a:t>Usage</a:t>
            </a:r>
            <a:r>
              <a:rPr lang="en-US" sz="1400" dirty="0">
                <a:solidFill>
                  <a:srgbClr val="4A5563"/>
                </a:solidFill>
              </a:rPr>
              <a:t>: tokens are counted per run, for cost tracking.</a:t>
            </a:r>
            <a:endParaRPr lang="en-US" sz="1400" dirty="0"/>
          </a:p>
          <a:p>
            <a:pPr marL="0" indent="0">
              <a:spcAft>
                <a:spcPts val="800"/>
              </a:spcAft>
              <a:buNone/>
            </a:pPr>
            <a:r>
              <a:rPr lang="en-US" sz="1400" b="1" dirty="0">
                <a:solidFill>
                  <a:srgbClr val="16202C"/>
                </a:solidFill>
              </a:rPr>
              <a:t>Learning</a:t>
            </a:r>
            <a:r>
              <a:rPr lang="en-US" sz="1400" dirty="0">
                <a:solidFill>
                  <a:srgbClr val="4A5563"/>
                </a:solidFill>
              </a:rPr>
              <a:t>: optionally, your recent corrections are shown as examples (Settings).</a:t>
            </a:r>
            <a:endParaRPr lang="en-US" sz="1400" dirty="0"/>
          </a:p>
        </p:txBody>
      </p:sp>
      <p:sp>
        <p:nvSpPr>
          <p:cNvPr id="41"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p:cNvSpPr/>
          <p:nvPr/>
        </p:nvSpPr>
        <p:spPr>
          <a:xfrm>
            <a:off x="548640" y="329184"/>
            <a:ext cx="972922" cy="274320"/>
          </a:xfrm>
          <a:prstGeom prst="roundRect">
            <a:avLst>
              <a:gd name="adj" fmla="val 50000"/>
            </a:avLst>
          </a:prstGeom>
          <a:solidFill>
            <a:srgbClr val="E7E4FA"/>
          </a:solidFill>
          <a:ln/>
        </p:spPr>
        <p:txBody>
          <a:bodyPr wrap="square" lIns="0" tIns="0" rIns="0" bIns="0" rtlCol="0" anchor="ctr"/>
          <a:lstStyle/>
          <a:p>
            <a:pPr marL="0" indent="0" algn="ctr">
              <a:buNone/>
            </a:pPr>
            <a:r>
              <a:rPr lang="en-US" sz="1050" b="1" kern="0" spc="150" dirty="0">
                <a:solidFill>
                  <a:srgbClr val="4A3AB5"/>
                </a:solidFill>
              </a:rPr>
              <a:t>BACKEND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Where the data lives</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Four stores, each for one kind of data, all private and encrypted inside our AWS account.</a:t>
            </a:r>
            <a:endParaRPr lang="en-US" sz="1800" dirty="0"/>
          </a:p>
        </p:txBody>
      </p:sp>
      <p:sp>
        <p:nvSpPr>
          <p:cNvPr id="5" name="Shape 3"/>
          <p:cNvSpPr/>
          <p:nvPr/>
        </p:nvSpPr>
        <p:spPr>
          <a:xfrm>
            <a:off x="548640" y="2103120"/>
            <a:ext cx="3360420" cy="1261872"/>
          </a:xfrm>
          <a:prstGeom prst="roundRect">
            <a:avLst>
              <a:gd name="adj" fmla="val 7246"/>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731520" y="2286000"/>
            <a:ext cx="457200" cy="457200"/>
          </a:xfrm>
          <a:prstGeom prst="ellipse">
            <a:avLst/>
          </a:prstGeom>
          <a:solidFill>
            <a:srgbClr val="E7E4F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36676" y="2391156"/>
            <a:ext cx="246888" cy="246888"/>
          </a:xfrm>
          <a:prstGeom prst="rect">
            <a:avLst/>
          </a:prstGeom>
        </p:spPr>
      </p:pic>
      <p:sp>
        <p:nvSpPr>
          <p:cNvPr id="8" name="Text 5"/>
          <p:cNvSpPr txBox="1"/>
          <p:nvPr/>
        </p:nvSpPr>
        <p:spPr>
          <a:xfrm>
            <a:off x="1335024" y="2322576"/>
            <a:ext cx="2446020" cy="384048"/>
          </a:xfrm>
          <a:prstGeom prst="rect">
            <a:avLst/>
          </a:prstGeom>
          <a:noFill/>
          <a:ln/>
        </p:spPr>
        <p:txBody>
          <a:bodyPr wrap="square" lIns="0" tIns="0" rIns="0" bIns="0" rtlCol="0" anchor="ctr"/>
          <a:lstStyle/>
          <a:p>
            <a:pPr marL="0" indent="0">
              <a:buNone/>
            </a:pPr>
            <a:r>
              <a:rPr lang="en-US" sz="1600" b="1" dirty="0">
                <a:solidFill>
                  <a:srgbClr val="16202C"/>
                </a:solidFill>
              </a:rPr>
              <a:t>DynamoDB</a:t>
            </a:r>
            <a:r>
              <a:rPr lang="en-US" sz="1400" b="1" dirty="0">
                <a:solidFill>
                  <a:srgbClr val="4A3AB5"/>
                </a:solidFill>
              </a:rPr>
              <a:t>  ·  Records</a:t>
            </a:r>
            <a:endParaRPr lang="en-US" sz="1400" dirty="0"/>
          </a:p>
        </p:txBody>
      </p:sp>
      <p:sp>
        <p:nvSpPr>
          <p:cNvPr id="9" name="Text 6"/>
          <p:cNvSpPr txBox="1"/>
          <p:nvPr/>
        </p:nvSpPr>
        <p:spPr>
          <a:xfrm>
            <a:off x="731520" y="2834640"/>
            <a:ext cx="2994660" cy="475488"/>
          </a:xfrm>
          <a:prstGeom prst="rect">
            <a:avLst/>
          </a:prstGeom>
          <a:noFill/>
          <a:ln/>
        </p:spPr>
        <p:txBody>
          <a:bodyPr wrap="square" lIns="0" tIns="0" rIns="0" bIns="0" rtlCol="0" anchor="t"/>
          <a:lstStyle/>
          <a:p>
            <a:pPr marL="0" indent="0">
              <a:buNone/>
            </a:pPr>
            <a:r>
              <a:rPr lang="en-US" sz="1400" dirty="0">
                <a:solidFill>
                  <a:srgbClr val="4A5563"/>
                </a:solidFill>
              </a:rPr>
              <a:t>Articles and tags, topics, runs, digests, prices, settings, your feedback.</a:t>
            </a:r>
            <a:endParaRPr lang="en-US" sz="1400" dirty="0"/>
          </a:p>
        </p:txBody>
      </p:sp>
      <p:sp>
        <p:nvSpPr>
          <p:cNvPr id="10" name="Shape 7"/>
          <p:cNvSpPr/>
          <p:nvPr/>
        </p:nvSpPr>
        <p:spPr>
          <a:xfrm>
            <a:off x="4183380" y="2103120"/>
            <a:ext cx="3360420" cy="1261872"/>
          </a:xfrm>
          <a:prstGeom prst="roundRect">
            <a:avLst>
              <a:gd name="adj" fmla="val 7246"/>
            </a:avLst>
          </a:prstGeom>
          <a:solidFill>
            <a:srgbClr val="FFFFFF"/>
          </a:solidFill>
          <a:ln w="12700">
            <a:solidFill>
              <a:srgbClr val="E5E7EB"/>
            </a:solidFill>
            <a:prstDash val="solid"/>
          </a:ln>
        </p:spPr>
        <p:txBody>
          <a:bodyPr/>
          <a:lstStyle/>
          <a:p>
            <a:endParaRPr lang="en-US"/>
          </a:p>
        </p:txBody>
      </p:sp>
      <p:sp>
        <p:nvSpPr>
          <p:cNvPr id="11" name="Shape 8"/>
          <p:cNvSpPr/>
          <p:nvPr/>
        </p:nvSpPr>
        <p:spPr>
          <a:xfrm>
            <a:off x="4366260" y="2286000"/>
            <a:ext cx="457200" cy="457200"/>
          </a:xfrm>
          <a:prstGeom prst="ellipse">
            <a:avLst/>
          </a:prstGeom>
          <a:solidFill>
            <a:srgbClr val="E7E4FA"/>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471416" y="2391156"/>
            <a:ext cx="246888" cy="246888"/>
          </a:xfrm>
          <a:prstGeom prst="rect">
            <a:avLst/>
          </a:prstGeom>
        </p:spPr>
      </p:pic>
      <p:sp>
        <p:nvSpPr>
          <p:cNvPr id="13" name="Text 9"/>
          <p:cNvSpPr txBox="1"/>
          <p:nvPr/>
        </p:nvSpPr>
        <p:spPr>
          <a:xfrm>
            <a:off x="4969764" y="2322576"/>
            <a:ext cx="2446020" cy="384048"/>
          </a:xfrm>
          <a:prstGeom prst="rect">
            <a:avLst/>
          </a:prstGeom>
          <a:noFill/>
          <a:ln/>
        </p:spPr>
        <p:txBody>
          <a:bodyPr wrap="square" lIns="0" tIns="0" rIns="0" bIns="0" rtlCol="0" anchor="ctr"/>
          <a:lstStyle/>
          <a:p>
            <a:pPr marL="0" indent="0">
              <a:buNone/>
            </a:pPr>
            <a:r>
              <a:rPr lang="en-US" sz="1600" b="1" dirty="0">
                <a:solidFill>
                  <a:srgbClr val="16202C"/>
                </a:solidFill>
              </a:rPr>
              <a:t>S3</a:t>
            </a:r>
            <a:r>
              <a:rPr lang="en-US" sz="1400" b="1" dirty="0">
                <a:solidFill>
                  <a:srgbClr val="4A3AB5"/>
                </a:solidFill>
              </a:rPr>
              <a:t>  ·  Files</a:t>
            </a:r>
            <a:endParaRPr lang="en-US" sz="1400" dirty="0"/>
          </a:p>
        </p:txBody>
      </p:sp>
      <p:sp>
        <p:nvSpPr>
          <p:cNvPr id="14" name="Text 10"/>
          <p:cNvSpPr txBox="1"/>
          <p:nvPr/>
        </p:nvSpPr>
        <p:spPr>
          <a:xfrm>
            <a:off x="4366260" y="2834640"/>
            <a:ext cx="2994660" cy="475488"/>
          </a:xfrm>
          <a:prstGeom prst="rect">
            <a:avLst/>
          </a:prstGeom>
          <a:noFill/>
          <a:ln/>
        </p:spPr>
        <p:txBody>
          <a:bodyPr wrap="square" lIns="0" tIns="0" rIns="0" bIns="0" rtlCol="0" anchor="t"/>
          <a:lstStyle/>
          <a:p>
            <a:pPr marL="0" indent="0">
              <a:buNone/>
            </a:pPr>
            <a:r>
              <a:rPr lang="en-US" sz="1400" dirty="0">
                <a:solidFill>
                  <a:srgbClr val="4A5563"/>
                </a:solidFill>
              </a:rPr>
              <a:t>Full article text, chat conversations, raw search results (kept 90 days).</a:t>
            </a:r>
            <a:endParaRPr lang="en-US" sz="1400" dirty="0"/>
          </a:p>
        </p:txBody>
      </p:sp>
      <p:sp>
        <p:nvSpPr>
          <p:cNvPr id="15" name="Shape 11"/>
          <p:cNvSpPr/>
          <p:nvPr/>
        </p:nvSpPr>
        <p:spPr>
          <a:xfrm>
            <a:off x="548640" y="3547872"/>
            <a:ext cx="3360420" cy="1261872"/>
          </a:xfrm>
          <a:prstGeom prst="roundRect">
            <a:avLst>
              <a:gd name="adj" fmla="val 7246"/>
            </a:avLst>
          </a:prstGeom>
          <a:solidFill>
            <a:srgbClr val="FFFFFF"/>
          </a:solidFill>
          <a:ln w="12700">
            <a:solidFill>
              <a:srgbClr val="E5E7EB"/>
            </a:solidFill>
            <a:prstDash val="solid"/>
          </a:ln>
        </p:spPr>
        <p:txBody>
          <a:bodyPr/>
          <a:lstStyle/>
          <a:p>
            <a:endParaRPr lang="en-US"/>
          </a:p>
        </p:txBody>
      </p:sp>
      <p:sp>
        <p:nvSpPr>
          <p:cNvPr id="16" name="Shape 12"/>
          <p:cNvSpPr/>
          <p:nvPr/>
        </p:nvSpPr>
        <p:spPr>
          <a:xfrm>
            <a:off x="731520" y="3730752"/>
            <a:ext cx="457200" cy="457200"/>
          </a:xfrm>
          <a:prstGeom prst="ellipse">
            <a:avLst/>
          </a:prstGeom>
          <a:solidFill>
            <a:srgbClr val="E7E4FA"/>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36676" y="3835908"/>
            <a:ext cx="246888" cy="246888"/>
          </a:xfrm>
          <a:prstGeom prst="rect">
            <a:avLst/>
          </a:prstGeom>
        </p:spPr>
      </p:pic>
      <p:sp>
        <p:nvSpPr>
          <p:cNvPr id="18" name="Text 13"/>
          <p:cNvSpPr txBox="1"/>
          <p:nvPr/>
        </p:nvSpPr>
        <p:spPr>
          <a:xfrm>
            <a:off x="1335024" y="3767328"/>
            <a:ext cx="2446020" cy="384048"/>
          </a:xfrm>
          <a:prstGeom prst="rect">
            <a:avLst/>
          </a:prstGeom>
          <a:noFill/>
          <a:ln/>
        </p:spPr>
        <p:txBody>
          <a:bodyPr wrap="square" lIns="0" tIns="0" rIns="0" bIns="0" rtlCol="0" anchor="ctr"/>
          <a:lstStyle/>
          <a:p>
            <a:pPr marL="0" indent="0">
              <a:buNone/>
            </a:pPr>
            <a:r>
              <a:rPr lang="en-US" sz="1600" b="1" dirty="0">
                <a:solidFill>
                  <a:srgbClr val="16202C"/>
                </a:solidFill>
              </a:rPr>
              <a:t>S3 Vectors</a:t>
            </a:r>
            <a:r>
              <a:rPr lang="en-US" sz="1400" b="1" dirty="0">
                <a:solidFill>
                  <a:srgbClr val="4A3AB5"/>
                </a:solidFill>
              </a:rPr>
              <a:t>  ·  Meaning index</a:t>
            </a:r>
            <a:endParaRPr lang="en-US" sz="1400" dirty="0"/>
          </a:p>
        </p:txBody>
      </p:sp>
      <p:sp>
        <p:nvSpPr>
          <p:cNvPr id="19" name="Text 14"/>
          <p:cNvSpPr txBox="1"/>
          <p:nvPr/>
        </p:nvSpPr>
        <p:spPr>
          <a:xfrm>
            <a:off x="731520" y="4279392"/>
            <a:ext cx="2994660" cy="475488"/>
          </a:xfrm>
          <a:prstGeom prst="rect">
            <a:avLst/>
          </a:prstGeom>
          <a:noFill/>
          <a:ln/>
        </p:spPr>
        <p:txBody>
          <a:bodyPr wrap="square" lIns="0" tIns="0" rIns="0" bIns="0" rtlCol="0" anchor="t"/>
          <a:lstStyle/>
          <a:p>
            <a:pPr marL="0" indent="0">
              <a:buNone/>
            </a:pPr>
            <a:r>
              <a:rPr lang="en-US" sz="1400" dirty="0">
                <a:solidFill>
                  <a:srgbClr val="4A5563"/>
                </a:solidFill>
              </a:rPr>
              <a:t>Saved articles as lists of numbers, so the chat can search by meaning.</a:t>
            </a:r>
            <a:endParaRPr lang="en-US" sz="1400" dirty="0"/>
          </a:p>
        </p:txBody>
      </p:sp>
      <p:sp>
        <p:nvSpPr>
          <p:cNvPr id="20" name="Shape 15"/>
          <p:cNvSpPr/>
          <p:nvPr/>
        </p:nvSpPr>
        <p:spPr>
          <a:xfrm>
            <a:off x="4183380" y="3547872"/>
            <a:ext cx="3360420" cy="1261872"/>
          </a:xfrm>
          <a:prstGeom prst="roundRect">
            <a:avLst>
              <a:gd name="adj" fmla="val 7246"/>
            </a:avLst>
          </a:prstGeom>
          <a:solidFill>
            <a:srgbClr val="FFFFFF"/>
          </a:solidFill>
          <a:ln w="12700">
            <a:solidFill>
              <a:srgbClr val="E5E7EB"/>
            </a:solidFill>
            <a:prstDash val="solid"/>
          </a:ln>
        </p:spPr>
        <p:txBody>
          <a:bodyPr/>
          <a:lstStyle/>
          <a:p>
            <a:endParaRPr lang="en-US"/>
          </a:p>
        </p:txBody>
      </p:sp>
      <p:sp>
        <p:nvSpPr>
          <p:cNvPr id="21" name="Shape 16"/>
          <p:cNvSpPr/>
          <p:nvPr/>
        </p:nvSpPr>
        <p:spPr>
          <a:xfrm>
            <a:off x="4366260" y="3730752"/>
            <a:ext cx="457200" cy="457200"/>
          </a:xfrm>
          <a:prstGeom prst="ellipse">
            <a:avLst/>
          </a:prstGeom>
          <a:solidFill>
            <a:srgbClr val="E7E4FA"/>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4471416" y="3835908"/>
            <a:ext cx="246888" cy="246888"/>
          </a:xfrm>
          <a:prstGeom prst="rect">
            <a:avLst/>
          </a:prstGeom>
        </p:spPr>
      </p:pic>
      <p:sp>
        <p:nvSpPr>
          <p:cNvPr id="23" name="Text 17"/>
          <p:cNvSpPr txBox="1"/>
          <p:nvPr/>
        </p:nvSpPr>
        <p:spPr>
          <a:xfrm>
            <a:off x="4969764" y="3767328"/>
            <a:ext cx="2446020" cy="384048"/>
          </a:xfrm>
          <a:prstGeom prst="rect">
            <a:avLst/>
          </a:prstGeom>
          <a:noFill/>
          <a:ln/>
        </p:spPr>
        <p:txBody>
          <a:bodyPr wrap="square" lIns="0" tIns="0" rIns="0" bIns="0" rtlCol="0" anchor="ctr"/>
          <a:lstStyle/>
          <a:p>
            <a:pPr marL="0" indent="0">
              <a:buNone/>
            </a:pPr>
            <a:r>
              <a:rPr lang="en-US" sz="1600" b="1" dirty="0">
                <a:solidFill>
                  <a:srgbClr val="16202C"/>
                </a:solidFill>
              </a:rPr>
              <a:t>Secrets Manager</a:t>
            </a:r>
            <a:r>
              <a:rPr lang="en-US" sz="1400" b="1" dirty="0">
                <a:solidFill>
                  <a:srgbClr val="4A3AB5"/>
                </a:solidFill>
              </a:rPr>
              <a:t>  ·  Key vault</a:t>
            </a:r>
            <a:endParaRPr lang="en-US" sz="1400" dirty="0"/>
          </a:p>
        </p:txBody>
      </p:sp>
      <p:sp>
        <p:nvSpPr>
          <p:cNvPr id="24" name="Text 18"/>
          <p:cNvSpPr txBox="1"/>
          <p:nvPr/>
        </p:nvSpPr>
        <p:spPr>
          <a:xfrm>
            <a:off x="4366260" y="4279392"/>
            <a:ext cx="2994660" cy="475488"/>
          </a:xfrm>
          <a:prstGeom prst="rect">
            <a:avLst/>
          </a:prstGeom>
          <a:noFill/>
          <a:ln/>
        </p:spPr>
        <p:txBody>
          <a:bodyPr wrap="square" lIns="0" tIns="0" rIns="0" bIns="0" rtlCol="0" anchor="t"/>
          <a:lstStyle/>
          <a:p>
            <a:pPr marL="0" indent="0">
              <a:buNone/>
            </a:pPr>
            <a:r>
              <a:rPr lang="en-US" sz="1400" dirty="0">
                <a:solidFill>
                  <a:srgbClr val="4A5563"/>
                </a:solidFill>
              </a:rPr>
              <a:t>AI provider keys and the Telegram token, kept out of the code.</a:t>
            </a:r>
            <a:endParaRPr lang="en-US" sz="1400" dirty="0"/>
          </a:p>
        </p:txBody>
      </p:sp>
      <p:sp>
        <p:nvSpPr>
          <p:cNvPr id="25" name="Text 19"/>
          <p:cNvSpPr txBox="1"/>
          <p:nvPr/>
        </p:nvSpPr>
        <p:spPr>
          <a:xfrm>
            <a:off x="548640" y="4956048"/>
            <a:ext cx="6995160" cy="274320"/>
          </a:xfrm>
          <a:prstGeom prst="rect">
            <a:avLst/>
          </a:prstGeom>
          <a:noFill/>
          <a:ln/>
        </p:spPr>
        <p:txBody>
          <a:bodyPr wrap="square" lIns="0" tIns="0" rIns="0" bIns="0" rtlCol="0" anchor="t"/>
          <a:lstStyle/>
          <a:p>
            <a:pPr marL="0" indent="0">
              <a:buNone/>
            </a:pPr>
            <a:r>
              <a:rPr lang="en-US" sz="1400" b="1" dirty="0">
                <a:solidFill>
                  <a:srgbClr val="16202C"/>
                </a:solidFill>
              </a:rPr>
              <a:t>One trading day of PRDA, as stored in DynamoDB</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5303520"/>
          <a:ext cx="6995160" cy="585216"/>
        </p:xfrm>
        <a:graphic>
          <a:graphicData uri="http://schemas.openxmlformats.org/drawingml/2006/table">
            <a:tbl>
              <a:tblPr/>
              <a:tblGrid>
                <a:gridCol w="16002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960120">
                  <a:extLst>
                    <a:ext uri="{9D8B030D-6E8A-4147-A177-3AD203B41FA5}">
                      <a16:colId xmlns:a16="http://schemas.microsoft.com/office/drawing/2014/main" val="20006"/>
                    </a:ext>
                  </a:extLst>
                </a:gridCol>
              </a:tblGrid>
              <a:tr h="292608">
                <a:tc>
                  <a:txBody>
                    <a:bodyPr/>
                    <a:lstStyle/>
                    <a:p>
                      <a:pPr marL="0" indent="0">
                        <a:buNone/>
                      </a:pPr>
                      <a:r>
                        <a:rPr lang="en-US" sz="1200" b="1" dirty="0">
                          <a:solidFill>
                            <a:srgbClr val="4A5563"/>
                          </a:solidFill>
                        </a:rPr>
                        <a:t>PK (what)</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SK (when)</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open</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high</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low</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close</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volume</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0"/>
                  </a:ext>
                </a:extLst>
              </a:tr>
              <a:tr h="292608">
                <a:tc>
                  <a:txBody>
                    <a:bodyPr/>
                    <a:lstStyle/>
                    <a:p>
                      <a:pPr marL="0" indent="0">
                        <a:buNone/>
                      </a:pPr>
                      <a:r>
                        <a:rPr lang="en-US" sz="1200" dirty="0">
                          <a:solidFill>
                            <a:srgbClr val="16202C"/>
                          </a:solidFill>
                        </a:rPr>
                        <a:t>STOCK#PRDA.JK</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16202C"/>
                          </a:solidFill>
                        </a:rPr>
                        <a:t>D#2026-10-14</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16202C"/>
                          </a:solidFill>
                        </a:rPr>
                        <a:t>3,567</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16202C"/>
                          </a:solidFill>
                        </a:rPr>
                        <a:t>3,598</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16202C"/>
                          </a:solidFill>
                        </a:rPr>
                        <a:t>3,541</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16202C"/>
                          </a:solidFill>
                        </a:rPr>
                        <a:t>3,586</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16202C"/>
                          </a:solidFill>
                        </a:rPr>
                        <a:t>2.2M</a:t>
                      </a:r>
                      <a:endParaRPr lang="en-US" sz="1200" dirty="0"/>
                    </a:p>
                  </a:txBody>
                  <a:tcPr marL="73152" marR="73152" marT="18288" marB="18288"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7" name="Text 20"/>
          <p:cNvSpPr txBox="1"/>
          <p:nvPr/>
        </p:nvSpPr>
        <p:spPr>
          <a:xfrm>
            <a:off x="548640" y="5961888"/>
            <a:ext cx="6995160" cy="237744"/>
          </a:xfrm>
          <a:prstGeom prst="rect">
            <a:avLst/>
          </a:prstGeom>
          <a:noFill/>
          <a:ln/>
        </p:spPr>
        <p:txBody>
          <a:bodyPr wrap="square" lIns="0" tIns="0" rIns="0" bIns="0" rtlCol="0" anchor="t"/>
          <a:lstStyle/>
          <a:p>
            <a:pPr marL="0" indent="0">
              <a:buNone/>
            </a:pPr>
            <a:r>
              <a:rPr lang="en-US" sz="1200" dirty="0">
                <a:solidFill>
                  <a:srgbClr val="6B7280"/>
                </a:solidFill>
              </a:rPr>
              <a:t>Demo values. Slide 19 shows how rows like this become the chart.</a:t>
            </a:r>
            <a:endParaRPr lang="en-US" sz="1200" dirty="0"/>
          </a:p>
        </p:txBody>
      </p:sp>
      <p:sp>
        <p:nvSpPr>
          <p:cNvPr id="28"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29" name="Image 4" descr="preencoded.png"/>
          <p:cNvPicPr>
            <a:picLocks noChangeAspect="1"/>
          </p:cNvPicPr>
          <p:nvPr/>
        </p:nvPicPr>
        <p:blipFill>
          <a:blip r:embed="rId7"/>
          <a:stretch>
            <a:fillRect/>
          </a:stretch>
        </p:blipFill>
        <p:spPr>
          <a:xfrm>
            <a:off x="8074152" y="2322576"/>
            <a:ext cx="219456" cy="219456"/>
          </a:xfrm>
          <a:prstGeom prst="rect">
            <a:avLst/>
          </a:prstGeom>
        </p:spPr>
      </p:pic>
      <p:sp>
        <p:nvSpPr>
          <p:cNvPr id="30" name="Text 22"/>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31" name="Text 23"/>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Single table</a:t>
            </a:r>
            <a:r>
              <a:rPr lang="en-US" sz="1400" dirty="0">
                <a:solidFill>
                  <a:srgbClr val="4A5563"/>
                </a:solidFill>
              </a:rPr>
              <a:t>: one DynamoDB table; each item’s key says what it is (ART#…, STOCK#…, CATEGORY).</a:t>
            </a:r>
            <a:endParaRPr lang="en-US" sz="1400" dirty="0"/>
          </a:p>
          <a:p>
            <a:pPr marL="0" indent="0">
              <a:spcAft>
                <a:spcPts val="800"/>
              </a:spcAft>
              <a:buNone/>
            </a:pPr>
            <a:r>
              <a:rPr lang="en-US" sz="1400" b="1" dirty="0">
                <a:solidFill>
                  <a:srgbClr val="16202C"/>
                </a:solidFill>
              </a:rPr>
              <a:t>Auto‑expiry (TTL)</a:t>
            </a:r>
            <a:r>
              <a:rPr lang="en-US" sz="1400" dirty="0">
                <a:solidFill>
                  <a:srgbClr val="4A5563"/>
                </a:solidFill>
              </a:rPr>
              <a:t>: temporary items delete themselves, e.g. 15‑minute price bars after 10 days.</a:t>
            </a:r>
            <a:endParaRPr lang="en-US" sz="1400" dirty="0"/>
          </a:p>
          <a:p>
            <a:pPr marL="0" indent="0">
              <a:spcAft>
                <a:spcPts val="800"/>
              </a:spcAft>
              <a:buNone/>
            </a:pPr>
            <a:r>
              <a:rPr lang="en-US" sz="1400" b="1" dirty="0">
                <a:solidFill>
                  <a:srgbClr val="16202C"/>
                </a:solidFill>
              </a:rPr>
              <a:t>Private</a:t>
            </a:r>
            <a:r>
              <a:rPr lang="en-US" sz="1400" dirty="0">
                <a:solidFill>
                  <a:srgbClr val="4A5563"/>
                </a:solidFill>
              </a:rPr>
              <a:t>: encrypted storage that only the app’s own functions can read.</a:t>
            </a:r>
            <a:endParaRPr lang="en-US" sz="1400" dirty="0"/>
          </a:p>
          <a:p>
            <a:pPr marL="0" indent="0">
              <a:spcAft>
                <a:spcPts val="800"/>
              </a:spcAft>
              <a:buNone/>
            </a:pPr>
            <a:r>
              <a:rPr lang="en-US" sz="1400" b="1" dirty="0">
                <a:solidFill>
                  <a:srgbClr val="16202C"/>
                </a:solidFill>
              </a:rPr>
              <a:t>Auto re‑index</a:t>
            </a:r>
            <a:r>
              <a:rPr lang="en-US" sz="1400" dirty="0">
                <a:solidFill>
                  <a:srgbClr val="4A5563"/>
                </a:solidFill>
              </a:rPr>
              <a:t>: saving or editing an article updates the meaning index (DynamoDB stream → indexer).</a:t>
            </a:r>
            <a:endParaRPr lang="en-US" sz="1400" dirty="0"/>
          </a:p>
        </p:txBody>
      </p:sp>
      <p:sp>
        <p:nvSpPr>
          <p:cNvPr id="32"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p:nvPr/>
        </p:nvSpPr>
        <p:spPr>
          <a:xfrm>
            <a:off x="548640" y="329184"/>
            <a:ext cx="972922" cy="274320"/>
          </a:xfrm>
          <a:prstGeom prst="roundRect">
            <a:avLst>
              <a:gd name="adj" fmla="val 50000"/>
            </a:avLst>
          </a:prstGeom>
          <a:solidFill>
            <a:srgbClr val="E7E4FA"/>
          </a:solidFill>
          <a:ln/>
        </p:spPr>
        <p:txBody>
          <a:bodyPr wrap="square" lIns="0" tIns="0" rIns="0" bIns="0" rtlCol="0" anchor="ctr"/>
          <a:lstStyle/>
          <a:p>
            <a:pPr marL="0" indent="0" algn="ctr">
              <a:buNone/>
            </a:pPr>
            <a:r>
              <a:rPr lang="en-US" sz="1050" b="1" kern="0" spc="150" dirty="0">
                <a:solidFill>
                  <a:srgbClr val="4A3AB5"/>
                </a:solidFill>
              </a:rPr>
              <a:t>BACKEND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The chat assistant</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It looks things up before it answers: it searches your saved news, checks prices, then replies with sources.</a:t>
            </a:r>
            <a:endParaRPr lang="en-US" sz="1800" dirty="0"/>
          </a:p>
        </p:txBody>
      </p:sp>
      <p:sp>
        <p:nvSpPr>
          <p:cNvPr id="5" name="Shape 3"/>
          <p:cNvSpPr/>
          <p:nvPr/>
        </p:nvSpPr>
        <p:spPr>
          <a:xfrm>
            <a:off x="530352" y="2084832"/>
            <a:ext cx="6711696" cy="3487658"/>
          </a:xfrm>
          <a:prstGeom prst="rect">
            <a:avLst/>
          </a:prstGeom>
          <a:solidFill>
            <a:srgbClr val="FFFFFF"/>
          </a:solidFill>
          <a:ln w="12700">
            <a:solidFill>
              <a:srgbClr val="D1D5DB"/>
            </a:solidFill>
            <a:prstDash val="solid"/>
          </a:ln>
        </p:spPr>
        <p:txBody>
          <a:bodyPr/>
          <a:lstStyle/>
          <a:p>
            <a:endParaRPr lang="en-US"/>
          </a:p>
        </p:txBody>
      </p:sp>
      <p:pic>
        <p:nvPicPr>
          <p:cNvPr id="6" name="Chat screenshot" descr="C:\Users\juanf\AppData\Local\Temp\claude\D--projects-local-code-bio-majesty\af963771-534c-477c-a7ea-371a585f8f2d\scratchpad\deck\assets\crop-chat.jpg"/>
          <p:cNvPicPr>
            <a:picLocks noChangeAspect="1"/>
          </p:cNvPicPr>
          <p:nvPr/>
        </p:nvPicPr>
        <p:blipFill>
          <a:blip r:embed="rId3"/>
          <a:stretch>
            <a:fillRect/>
          </a:stretch>
        </p:blipFill>
        <p:spPr>
          <a:xfrm>
            <a:off x="548640" y="2103120"/>
            <a:ext cx="6675120" cy="3451082"/>
          </a:xfrm>
          <a:prstGeom prst="rect">
            <a:avLst/>
          </a:prstGeom>
        </p:spPr>
      </p:pic>
      <p:sp>
        <p:nvSpPr>
          <p:cNvPr id="7" name="Text 4"/>
          <p:cNvSpPr/>
          <p:nvPr/>
        </p:nvSpPr>
        <p:spPr>
          <a:xfrm>
            <a:off x="2252880" y="2149905"/>
            <a:ext cx="310896" cy="310896"/>
          </a:xfrm>
          <a:prstGeom prst="ellipse">
            <a:avLst/>
          </a:prstGeom>
          <a:solidFill>
            <a:srgbClr val="4A3AB5"/>
          </a:solidFill>
          <a:ln w="19050">
            <a:solidFill>
              <a:srgbClr val="FFFFF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5"/>
          <p:cNvSpPr/>
          <p:nvPr/>
        </p:nvSpPr>
        <p:spPr>
          <a:xfrm>
            <a:off x="4139269" y="2578875"/>
            <a:ext cx="310896" cy="310896"/>
          </a:xfrm>
          <a:prstGeom prst="ellipse">
            <a:avLst/>
          </a:prstGeom>
          <a:solidFill>
            <a:srgbClr val="4A3AB5"/>
          </a:solidFill>
          <a:ln w="19050">
            <a:solidFill>
              <a:srgbClr val="FFFFF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9" name="Text 6"/>
          <p:cNvSpPr/>
          <p:nvPr/>
        </p:nvSpPr>
        <p:spPr>
          <a:xfrm>
            <a:off x="4527761" y="3253216"/>
            <a:ext cx="310896" cy="310896"/>
          </a:xfrm>
          <a:prstGeom prst="ellipse">
            <a:avLst/>
          </a:prstGeom>
          <a:solidFill>
            <a:srgbClr val="4A3AB5"/>
          </a:solidFill>
          <a:ln w="19050">
            <a:solidFill>
              <a:srgbClr val="FFFFF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0" name="Text 7"/>
          <p:cNvSpPr/>
          <p:nvPr/>
        </p:nvSpPr>
        <p:spPr>
          <a:xfrm>
            <a:off x="3186062" y="3968281"/>
            <a:ext cx="310896" cy="310896"/>
          </a:xfrm>
          <a:prstGeom prst="ellipse">
            <a:avLst/>
          </a:prstGeom>
          <a:solidFill>
            <a:srgbClr val="4A3AB5"/>
          </a:solidFill>
          <a:ln w="19050">
            <a:solidFill>
              <a:srgbClr val="FFFFFF"/>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1" name="Text 8"/>
          <p:cNvSpPr/>
          <p:nvPr/>
        </p:nvSpPr>
        <p:spPr>
          <a:xfrm>
            <a:off x="548640" y="5682218"/>
            <a:ext cx="256032" cy="256032"/>
          </a:xfrm>
          <a:prstGeom prst="ellipse">
            <a:avLst/>
          </a:prstGeom>
          <a:solidFill>
            <a:srgbClr val="4A3AB5"/>
          </a:solidFill>
          <a:ln w="19050">
            <a:solidFill>
              <a:srgbClr val="FFFFFF"/>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2" name="Text 9"/>
          <p:cNvSpPr txBox="1"/>
          <p:nvPr/>
        </p:nvSpPr>
        <p:spPr>
          <a:xfrm>
            <a:off x="914400" y="5682218"/>
            <a:ext cx="3086100" cy="256032"/>
          </a:xfrm>
          <a:prstGeom prst="rect">
            <a:avLst/>
          </a:prstGeom>
          <a:noFill/>
          <a:ln/>
        </p:spPr>
        <p:txBody>
          <a:bodyPr wrap="square" lIns="0" tIns="0" rIns="0" bIns="0" rtlCol="0" anchor="ctr"/>
          <a:lstStyle/>
          <a:p>
            <a:pPr marL="0" indent="0">
              <a:buNone/>
            </a:pPr>
            <a:r>
              <a:rPr lang="en-US" sz="1400" dirty="0">
                <a:solidFill>
                  <a:srgbClr val="16202C"/>
                </a:solidFill>
              </a:rPr>
              <a:t>Your question</a:t>
            </a:r>
            <a:endParaRPr lang="en-US" sz="1400" dirty="0"/>
          </a:p>
        </p:txBody>
      </p:sp>
      <p:sp>
        <p:nvSpPr>
          <p:cNvPr id="13" name="Text 10"/>
          <p:cNvSpPr/>
          <p:nvPr/>
        </p:nvSpPr>
        <p:spPr>
          <a:xfrm>
            <a:off x="4046220" y="5682218"/>
            <a:ext cx="256032" cy="256032"/>
          </a:xfrm>
          <a:prstGeom prst="ellipse">
            <a:avLst/>
          </a:prstGeom>
          <a:solidFill>
            <a:srgbClr val="4A3AB5"/>
          </a:solidFill>
          <a:ln w="19050">
            <a:solidFill>
              <a:srgbClr val="FFFFFF"/>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Text 11"/>
          <p:cNvSpPr txBox="1"/>
          <p:nvPr/>
        </p:nvSpPr>
        <p:spPr>
          <a:xfrm>
            <a:off x="4411980" y="5682218"/>
            <a:ext cx="3086100" cy="256032"/>
          </a:xfrm>
          <a:prstGeom prst="rect">
            <a:avLst/>
          </a:prstGeom>
          <a:noFill/>
          <a:ln/>
        </p:spPr>
        <p:txBody>
          <a:bodyPr wrap="square" lIns="0" tIns="0" rIns="0" bIns="0" rtlCol="0" anchor="ctr"/>
          <a:lstStyle/>
          <a:p>
            <a:pPr marL="0" indent="0">
              <a:buNone/>
            </a:pPr>
            <a:r>
              <a:rPr lang="en-US" sz="1400" dirty="0">
                <a:solidFill>
                  <a:srgbClr val="16202C"/>
                </a:solidFill>
              </a:rPr>
              <a:t>It searches the saved news</a:t>
            </a:r>
            <a:endParaRPr lang="en-US" sz="1400" dirty="0"/>
          </a:p>
        </p:txBody>
      </p:sp>
      <p:sp>
        <p:nvSpPr>
          <p:cNvPr id="15" name="Text 12"/>
          <p:cNvSpPr/>
          <p:nvPr/>
        </p:nvSpPr>
        <p:spPr>
          <a:xfrm>
            <a:off x="548640" y="6011402"/>
            <a:ext cx="256032" cy="256032"/>
          </a:xfrm>
          <a:prstGeom prst="ellipse">
            <a:avLst/>
          </a:prstGeom>
          <a:solidFill>
            <a:srgbClr val="4A3AB5"/>
          </a:solidFill>
          <a:ln w="19050">
            <a:solidFill>
              <a:srgbClr val="FFFFFF"/>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6" name="Text 13"/>
          <p:cNvSpPr txBox="1"/>
          <p:nvPr/>
        </p:nvSpPr>
        <p:spPr>
          <a:xfrm>
            <a:off x="914400" y="6011402"/>
            <a:ext cx="3086100" cy="256032"/>
          </a:xfrm>
          <a:prstGeom prst="rect">
            <a:avLst/>
          </a:prstGeom>
          <a:noFill/>
          <a:ln/>
        </p:spPr>
        <p:txBody>
          <a:bodyPr wrap="square" lIns="0" tIns="0" rIns="0" bIns="0" rtlCol="0" anchor="ctr"/>
          <a:lstStyle/>
          <a:p>
            <a:pPr marL="0" indent="0">
              <a:buNone/>
            </a:pPr>
            <a:r>
              <a:rPr lang="en-US" sz="1400" dirty="0">
                <a:solidFill>
                  <a:srgbClr val="16202C"/>
                </a:solidFill>
              </a:rPr>
              <a:t>The articles it found</a:t>
            </a:r>
            <a:endParaRPr lang="en-US" sz="1400" dirty="0"/>
          </a:p>
        </p:txBody>
      </p:sp>
      <p:sp>
        <p:nvSpPr>
          <p:cNvPr id="17" name="Text 14"/>
          <p:cNvSpPr/>
          <p:nvPr/>
        </p:nvSpPr>
        <p:spPr>
          <a:xfrm>
            <a:off x="4046220" y="6011402"/>
            <a:ext cx="256032" cy="256032"/>
          </a:xfrm>
          <a:prstGeom prst="ellipse">
            <a:avLst/>
          </a:prstGeom>
          <a:solidFill>
            <a:srgbClr val="4A3AB5"/>
          </a:solidFill>
          <a:ln w="19050">
            <a:solidFill>
              <a:srgbClr val="FFFFFF"/>
            </a:solid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18" name="Text 15"/>
          <p:cNvSpPr txBox="1"/>
          <p:nvPr/>
        </p:nvSpPr>
        <p:spPr>
          <a:xfrm>
            <a:off x="4411980" y="6011402"/>
            <a:ext cx="3086100" cy="256032"/>
          </a:xfrm>
          <a:prstGeom prst="rect">
            <a:avLst/>
          </a:prstGeom>
          <a:noFill/>
          <a:ln/>
        </p:spPr>
        <p:txBody>
          <a:bodyPr wrap="square" lIns="0" tIns="0" rIns="0" bIns="0" rtlCol="0" anchor="ctr"/>
          <a:lstStyle/>
          <a:p>
            <a:pPr marL="0" indent="0">
              <a:buNone/>
            </a:pPr>
            <a:r>
              <a:rPr lang="en-US" sz="1400" dirty="0">
                <a:solidFill>
                  <a:srgbClr val="16202C"/>
                </a:solidFill>
              </a:rPr>
              <a:t>An answer that cites them</a:t>
            </a:r>
            <a:endParaRPr lang="en-US" sz="1400" dirty="0"/>
          </a:p>
        </p:txBody>
      </p:sp>
      <p:sp>
        <p:nvSpPr>
          <p:cNvPr id="19"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20" name="Image 1" descr="preencoded.png"/>
          <p:cNvPicPr>
            <a:picLocks noChangeAspect="1"/>
          </p:cNvPicPr>
          <p:nvPr/>
        </p:nvPicPr>
        <p:blipFill>
          <a:blip r:embed="rId4"/>
          <a:stretch>
            <a:fillRect/>
          </a:stretch>
        </p:blipFill>
        <p:spPr>
          <a:xfrm>
            <a:off x="8074152" y="2322576"/>
            <a:ext cx="219456" cy="219456"/>
          </a:xfrm>
          <a:prstGeom prst="rect">
            <a:avLst/>
          </a:prstGeom>
        </p:spPr>
      </p:pic>
      <p:sp>
        <p:nvSpPr>
          <p:cNvPr id="21" name="Text 17"/>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22" name="Text 18"/>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Search by meaning</a:t>
            </a:r>
            <a:r>
              <a:rPr lang="en-US" sz="1400" dirty="0">
                <a:solidFill>
                  <a:srgbClr val="4A5563"/>
                </a:solidFill>
              </a:rPr>
              <a:t>: each article becomes 768 numbers that capture its meaning, so “tariff cut” also finds “lower BPJS reimbursement” (Gemini Embedding 2 in S3 Vectors).</a:t>
            </a:r>
            <a:endParaRPr lang="en-US" sz="1400" dirty="0"/>
          </a:p>
          <a:p>
            <a:pPr marL="0" indent="0">
              <a:spcAft>
                <a:spcPts val="800"/>
              </a:spcAft>
              <a:buNone/>
            </a:pPr>
            <a:r>
              <a:rPr lang="en-US" sz="1400" b="1" dirty="0">
                <a:solidFill>
                  <a:srgbClr val="16202C"/>
                </a:solidFill>
              </a:rPr>
              <a:t>Tool calling</a:t>
            </a:r>
            <a:r>
              <a:rPr lang="en-US" sz="1400" dirty="0">
                <a:solidFill>
                  <a:srgbClr val="4A5563"/>
                </a:solidFill>
              </a:rPr>
              <a:t>: the model asks for searchNews or getStockPrices; our code runs them and returns the results.</a:t>
            </a:r>
            <a:endParaRPr lang="en-US" sz="1400" dirty="0"/>
          </a:p>
          <a:p>
            <a:pPr marL="0" indent="0">
              <a:spcAft>
                <a:spcPts val="800"/>
              </a:spcAft>
              <a:buNone/>
            </a:pPr>
            <a:r>
              <a:rPr lang="en-US" sz="1400" b="1" dirty="0">
                <a:solidFill>
                  <a:srgbClr val="16202C"/>
                </a:solidFill>
              </a:rPr>
              <a:t>Read‑only</a:t>
            </a:r>
            <a:r>
              <a:rPr lang="en-US" sz="1400" dirty="0">
                <a:solidFill>
                  <a:srgbClr val="4A5563"/>
                </a:solidFill>
              </a:rPr>
              <a:t>: the assistant cannot change or delete anything.</a:t>
            </a:r>
            <a:endParaRPr lang="en-US" sz="1400" dirty="0"/>
          </a:p>
          <a:p>
            <a:pPr marL="0" indent="0">
              <a:spcAft>
                <a:spcPts val="800"/>
              </a:spcAft>
              <a:buNone/>
            </a:pPr>
            <a:r>
              <a:rPr lang="en-US" sz="1400" b="1" dirty="0">
                <a:solidFill>
                  <a:srgbClr val="16202C"/>
                </a:solidFill>
              </a:rPr>
              <a:t>Streaming</a:t>
            </a:r>
            <a:r>
              <a:rPr lang="en-US" sz="1400" dirty="0">
                <a:solidFill>
                  <a:srgbClr val="4A5563"/>
                </a:solidFill>
              </a:rPr>
              <a:t>: words appear as they are written; conversations are saved per user.</a:t>
            </a:r>
            <a:endParaRPr lang="en-US" sz="1400" dirty="0"/>
          </a:p>
        </p:txBody>
      </p:sp>
      <p:sp>
        <p:nvSpPr>
          <p:cNvPr id="25"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p:cNvSpPr/>
          <p:nvPr/>
        </p:nvSpPr>
        <p:spPr>
          <a:xfrm>
            <a:off x="548640" y="329184"/>
            <a:ext cx="972922" cy="274320"/>
          </a:xfrm>
          <a:prstGeom prst="roundRect">
            <a:avLst>
              <a:gd name="adj" fmla="val 50000"/>
            </a:avLst>
          </a:prstGeom>
          <a:solidFill>
            <a:srgbClr val="E7E4FA"/>
          </a:solidFill>
          <a:ln/>
        </p:spPr>
        <p:txBody>
          <a:bodyPr wrap="square" lIns="0" tIns="0" rIns="0" bIns="0" rtlCol="0" anchor="ctr"/>
          <a:lstStyle/>
          <a:p>
            <a:pPr marL="0" indent="0" algn="ctr">
              <a:buNone/>
            </a:pPr>
            <a:r>
              <a:rPr lang="en-US" sz="1050" b="1" kern="0" spc="150" dirty="0">
                <a:solidFill>
                  <a:srgbClr val="4A3AB5"/>
                </a:solidFill>
              </a:rPr>
              <a:t>BACKEND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Stock prices and unusual volume</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Prices refresh every 15 minutes during trading hours, and you get an alert when trading volume jumps.</a:t>
            </a:r>
            <a:endParaRPr lang="en-US" sz="1800" dirty="0"/>
          </a:p>
        </p:txBody>
      </p:sp>
      <p:sp>
        <p:nvSpPr>
          <p:cNvPr id="5" name="Shape 3"/>
          <p:cNvSpPr/>
          <p:nvPr/>
        </p:nvSpPr>
        <p:spPr>
          <a:xfrm>
            <a:off x="530352" y="2084832"/>
            <a:ext cx="2587965" cy="3895344"/>
          </a:xfrm>
          <a:prstGeom prst="rect">
            <a:avLst/>
          </a:prstGeom>
          <a:solidFill>
            <a:srgbClr val="FFFFFF"/>
          </a:solidFill>
          <a:ln w="12700">
            <a:solidFill>
              <a:srgbClr val="D1D5DB"/>
            </a:solidFill>
            <a:prstDash val="solid"/>
          </a:ln>
        </p:spPr>
        <p:txBody>
          <a:bodyPr/>
          <a:lstStyle/>
          <a:p>
            <a:endParaRPr lang="en-US"/>
          </a:p>
        </p:txBody>
      </p:sp>
      <p:pic>
        <p:nvPicPr>
          <p:cNvPr id="6" name="Stock panel screenshot" descr="C:\Users\juanf\AppData\Local\Temp\claude\D--projects-local-code-bio-majesty\af963771-534c-477c-a7ea-371a585f8f2d\scratchpad\deck\assets\crop-stock.jpg"/>
          <p:cNvPicPr>
            <a:picLocks noChangeAspect="1"/>
          </p:cNvPicPr>
          <p:nvPr/>
        </p:nvPicPr>
        <p:blipFill>
          <a:blip r:embed="rId3"/>
          <a:stretch>
            <a:fillRect/>
          </a:stretch>
        </p:blipFill>
        <p:spPr>
          <a:xfrm>
            <a:off x="548640" y="2103120"/>
            <a:ext cx="2551389" cy="3858768"/>
          </a:xfrm>
          <a:prstGeom prst="rect">
            <a:avLst/>
          </a:prstGeom>
        </p:spPr>
      </p:pic>
      <p:sp>
        <p:nvSpPr>
          <p:cNvPr id="7" name="Text 4"/>
          <p:cNvSpPr txBox="1"/>
          <p:nvPr/>
        </p:nvSpPr>
        <p:spPr>
          <a:xfrm>
            <a:off x="548640" y="6035040"/>
            <a:ext cx="2551389" cy="228600"/>
          </a:xfrm>
          <a:prstGeom prst="rect">
            <a:avLst/>
          </a:prstGeom>
          <a:noFill/>
          <a:ln/>
        </p:spPr>
        <p:txBody>
          <a:bodyPr wrap="square" lIns="0" tIns="0" rIns="0" bIns="0" rtlCol="0" anchor="t"/>
          <a:lstStyle/>
          <a:p>
            <a:pPr marL="0" indent="0">
              <a:buNone/>
            </a:pPr>
            <a:r>
              <a:rPr lang="en-US" sz="1100" dirty="0">
                <a:solidFill>
                  <a:srgbClr val="6B7280"/>
                </a:solidFill>
              </a:rPr>
              <a:t>Stock panel (demo data)</a:t>
            </a:r>
            <a:endParaRPr lang="en-US" sz="1100" dirty="0"/>
          </a:p>
        </p:txBody>
      </p:sp>
      <p:sp>
        <p:nvSpPr>
          <p:cNvPr id="8" name="Text 5"/>
          <p:cNvSpPr txBox="1"/>
          <p:nvPr/>
        </p:nvSpPr>
        <p:spPr>
          <a:xfrm>
            <a:off x="3465789" y="2103120"/>
            <a:ext cx="4078011" cy="274320"/>
          </a:xfrm>
          <a:prstGeom prst="rect">
            <a:avLst/>
          </a:prstGeom>
          <a:noFill/>
          <a:ln/>
        </p:spPr>
        <p:txBody>
          <a:bodyPr wrap="square" lIns="0" tIns="0" rIns="0" bIns="0" rtlCol="0" anchor="t"/>
          <a:lstStyle/>
          <a:p>
            <a:pPr marL="0" indent="0">
              <a:buNone/>
            </a:pPr>
            <a:r>
              <a:rPr lang="en-US" sz="1500" b="1">
                <a:solidFill>
                  <a:srgbClr val="16202C"/>
                </a:solidFill>
              </a:rPr>
              <a:t>When prices update (Mon–Fri, Singapore time)</a:t>
            </a:r>
            <a:endParaRPr lang="en-US" sz="1500" dirty="0"/>
          </a:p>
        </p:txBody>
      </p:sp>
      <p:sp>
        <p:nvSpPr>
          <p:cNvPr id="9" name="Shape 6"/>
          <p:cNvSpPr/>
          <p:nvPr/>
        </p:nvSpPr>
        <p:spPr>
          <a:xfrm>
            <a:off x="3511509" y="2852928"/>
            <a:ext cx="3468071" cy="201168"/>
          </a:xfrm>
          <a:prstGeom prst="roundRect">
            <a:avLst>
              <a:gd name="adj" fmla="val 50000"/>
            </a:avLst>
          </a:prstGeom>
          <a:solidFill>
            <a:srgbClr val="E7E4FA"/>
          </a:solidFill>
          <a:ln/>
        </p:spPr>
        <p:txBody>
          <a:bodyPr/>
          <a:lstStyle/>
          <a:p>
            <a:endParaRPr lang="en-US"/>
          </a:p>
        </p:txBody>
      </p:sp>
      <p:sp>
        <p:nvSpPr>
          <p:cNvPr id="10" name="Shape 7"/>
          <p:cNvSpPr/>
          <p:nvPr/>
        </p:nvSpPr>
        <p:spPr>
          <a:xfrm>
            <a:off x="3511509" y="2889504"/>
            <a:ext cx="0" cy="128016"/>
          </a:xfrm>
          <a:prstGeom prst="line">
            <a:avLst/>
          </a:prstGeom>
          <a:noFill/>
          <a:ln w="9525">
            <a:solidFill>
              <a:srgbClr val="4A3AB5"/>
            </a:solidFill>
            <a:prstDash val="solid"/>
          </a:ln>
        </p:spPr>
        <p:txBody>
          <a:bodyPr/>
          <a:lstStyle/>
          <a:p>
            <a:endParaRPr lang="en-US"/>
          </a:p>
        </p:txBody>
      </p:sp>
      <p:sp>
        <p:nvSpPr>
          <p:cNvPr id="11" name="Shape 8"/>
          <p:cNvSpPr/>
          <p:nvPr/>
        </p:nvSpPr>
        <p:spPr>
          <a:xfrm>
            <a:off x="3623383" y="2889504"/>
            <a:ext cx="0" cy="128016"/>
          </a:xfrm>
          <a:prstGeom prst="line">
            <a:avLst/>
          </a:prstGeom>
          <a:noFill/>
          <a:ln w="9525">
            <a:solidFill>
              <a:srgbClr val="4A3AB5"/>
            </a:solidFill>
            <a:prstDash val="solid"/>
          </a:ln>
        </p:spPr>
        <p:txBody>
          <a:bodyPr/>
          <a:lstStyle/>
          <a:p>
            <a:endParaRPr lang="en-US"/>
          </a:p>
        </p:txBody>
      </p:sp>
      <p:sp>
        <p:nvSpPr>
          <p:cNvPr id="12" name="Shape 9"/>
          <p:cNvSpPr/>
          <p:nvPr/>
        </p:nvSpPr>
        <p:spPr>
          <a:xfrm>
            <a:off x="3735256" y="2889504"/>
            <a:ext cx="0" cy="128016"/>
          </a:xfrm>
          <a:prstGeom prst="line">
            <a:avLst/>
          </a:prstGeom>
          <a:noFill/>
          <a:ln w="9525">
            <a:solidFill>
              <a:srgbClr val="4A3AB5"/>
            </a:solidFill>
            <a:prstDash val="solid"/>
          </a:ln>
        </p:spPr>
        <p:txBody>
          <a:bodyPr/>
          <a:lstStyle/>
          <a:p>
            <a:endParaRPr lang="en-US"/>
          </a:p>
        </p:txBody>
      </p:sp>
      <p:sp>
        <p:nvSpPr>
          <p:cNvPr id="13" name="Shape 10"/>
          <p:cNvSpPr/>
          <p:nvPr/>
        </p:nvSpPr>
        <p:spPr>
          <a:xfrm>
            <a:off x="3847129" y="2889504"/>
            <a:ext cx="0" cy="128016"/>
          </a:xfrm>
          <a:prstGeom prst="line">
            <a:avLst/>
          </a:prstGeom>
          <a:noFill/>
          <a:ln w="9525">
            <a:solidFill>
              <a:srgbClr val="4A3AB5"/>
            </a:solidFill>
            <a:prstDash val="solid"/>
          </a:ln>
        </p:spPr>
        <p:txBody>
          <a:bodyPr/>
          <a:lstStyle/>
          <a:p>
            <a:endParaRPr lang="en-US"/>
          </a:p>
        </p:txBody>
      </p:sp>
      <p:sp>
        <p:nvSpPr>
          <p:cNvPr id="14" name="Shape 11"/>
          <p:cNvSpPr/>
          <p:nvPr/>
        </p:nvSpPr>
        <p:spPr>
          <a:xfrm>
            <a:off x="3959002" y="2889504"/>
            <a:ext cx="0" cy="128016"/>
          </a:xfrm>
          <a:prstGeom prst="line">
            <a:avLst/>
          </a:prstGeom>
          <a:noFill/>
          <a:ln w="9525">
            <a:solidFill>
              <a:srgbClr val="4A3AB5"/>
            </a:solidFill>
            <a:prstDash val="solid"/>
          </a:ln>
        </p:spPr>
        <p:txBody>
          <a:bodyPr/>
          <a:lstStyle/>
          <a:p>
            <a:endParaRPr lang="en-US"/>
          </a:p>
        </p:txBody>
      </p:sp>
      <p:sp>
        <p:nvSpPr>
          <p:cNvPr id="15" name="Shape 12"/>
          <p:cNvSpPr/>
          <p:nvPr/>
        </p:nvSpPr>
        <p:spPr>
          <a:xfrm>
            <a:off x="4070876" y="2889504"/>
            <a:ext cx="0" cy="128016"/>
          </a:xfrm>
          <a:prstGeom prst="line">
            <a:avLst/>
          </a:prstGeom>
          <a:noFill/>
          <a:ln w="9525">
            <a:solidFill>
              <a:srgbClr val="4A3AB5"/>
            </a:solidFill>
            <a:prstDash val="solid"/>
          </a:ln>
        </p:spPr>
        <p:txBody>
          <a:bodyPr/>
          <a:lstStyle/>
          <a:p>
            <a:endParaRPr lang="en-US"/>
          </a:p>
        </p:txBody>
      </p:sp>
      <p:sp>
        <p:nvSpPr>
          <p:cNvPr id="16" name="Shape 13"/>
          <p:cNvSpPr/>
          <p:nvPr/>
        </p:nvSpPr>
        <p:spPr>
          <a:xfrm>
            <a:off x="4182749" y="2889504"/>
            <a:ext cx="0" cy="128016"/>
          </a:xfrm>
          <a:prstGeom prst="line">
            <a:avLst/>
          </a:prstGeom>
          <a:noFill/>
          <a:ln w="9525">
            <a:solidFill>
              <a:srgbClr val="4A3AB5"/>
            </a:solidFill>
            <a:prstDash val="solid"/>
          </a:ln>
        </p:spPr>
        <p:txBody>
          <a:bodyPr/>
          <a:lstStyle/>
          <a:p>
            <a:endParaRPr lang="en-US"/>
          </a:p>
        </p:txBody>
      </p:sp>
      <p:sp>
        <p:nvSpPr>
          <p:cNvPr id="17" name="Shape 14"/>
          <p:cNvSpPr/>
          <p:nvPr/>
        </p:nvSpPr>
        <p:spPr>
          <a:xfrm>
            <a:off x="4294622" y="2889504"/>
            <a:ext cx="0" cy="128016"/>
          </a:xfrm>
          <a:prstGeom prst="line">
            <a:avLst/>
          </a:prstGeom>
          <a:noFill/>
          <a:ln w="9525">
            <a:solidFill>
              <a:srgbClr val="4A3AB5"/>
            </a:solidFill>
            <a:prstDash val="solid"/>
          </a:ln>
        </p:spPr>
        <p:txBody>
          <a:bodyPr/>
          <a:lstStyle/>
          <a:p>
            <a:endParaRPr lang="en-US"/>
          </a:p>
        </p:txBody>
      </p:sp>
      <p:sp>
        <p:nvSpPr>
          <p:cNvPr id="18" name="Shape 15"/>
          <p:cNvSpPr/>
          <p:nvPr/>
        </p:nvSpPr>
        <p:spPr>
          <a:xfrm>
            <a:off x="4406495" y="2889504"/>
            <a:ext cx="0" cy="128016"/>
          </a:xfrm>
          <a:prstGeom prst="line">
            <a:avLst/>
          </a:prstGeom>
          <a:noFill/>
          <a:ln w="9525">
            <a:solidFill>
              <a:srgbClr val="4A3AB5"/>
            </a:solidFill>
            <a:prstDash val="solid"/>
          </a:ln>
        </p:spPr>
        <p:txBody>
          <a:bodyPr/>
          <a:lstStyle/>
          <a:p>
            <a:endParaRPr lang="en-US"/>
          </a:p>
        </p:txBody>
      </p:sp>
      <p:sp>
        <p:nvSpPr>
          <p:cNvPr id="19" name="Shape 16"/>
          <p:cNvSpPr/>
          <p:nvPr/>
        </p:nvSpPr>
        <p:spPr>
          <a:xfrm>
            <a:off x="4518369" y="2889504"/>
            <a:ext cx="0" cy="128016"/>
          </a:xfrm>
          <a:prstGeom prst="line">
            <a:avLst/>
          </a:prstGeom>
          <a:noFill/>
          <a:ln w="9525">
            <a:solidFill>
              <a:srgbClr val="4A3AB5"/>
            </a:solidFill>
            <a:prstDash val="solid"/>
          </a:ln>
        </p:spPr>
        <p:txBody>
          <a:bodyPr/>
          <a:lstStyle/>
          <a:p>
            <a:endParaRPr lang="en-US"/>
          </a:p>
        </p:txBody>
      </p:sp>
      <p:sp>
        <p:nvSpPr>
          <p:cNvPr id="20" name="Shape 17"/>
          <p:cNvSpPr/>
          <p:nvPr/>
        </p:nvSpPr>
        <p:spPr>
          <a:xfrm>
            <a:off x="4630242" y="2889504"/>
            <a:ext cx="0" cy="128016"/>
          </a:xfrm>
          <a:prstGeom prst="line">
            <a:avLst/>
          </a:prstGeom>
          <a:noFill/>
          <a:ln w="9525">
            <a:solidFill>
              <a:srgbClr val="4A3AB5"/>
            </a:solidFill>
            <a:prstDash val="solid"/>
          </a:ln>
        </p:spPr>
        <p:txBody>
          <a:bodyPr/>
          <a:lstStyle/>
          <a:p>
            <a:endParaRPr lang="en-US"/>
          </a:p>
        </p:txBody>
      </p:sp>
      <p:sp>
        <p:nvSpPr>
          <p:cNvPr id="21" name="Shape 18"/>
          <p:cNvSpPr/>
          <p:nvPr/>
        </p:nvSpPr>
        <p:spPr>
          <a:xfrm>
            <a:off x="4742115" y="2889504"/>
            <a:ext cx="0" cy="128016"/>
          </a:xfrm>
          <a:prstGeom prst="line">
            <a:avLst/>
          </a:prstGeom>
          <a:noFill/>
          <a:ln w="9525">
            <a:solidFill>
              <a:srgbClr val="4A3AB5"/>
            </a:solidFill>
            <a:prstDash val="solid"/>
          </a:ln>
        </p:spPr>
        <p:txBody>
          <a:bodyPr/>
          <a:lstStyle/>
          <a:p>
            <a:endParaRPr lang="en-US"/>
          </a:p>
        </p:txBody>
      </p:sp>
      <p:sp>
        <p:nvSpPr>
          <p:cNvPr id="22" name="Shape 19"/>
          <p:cNvSpPr/>
          <p:nvPr/>
        </p:nvSpPr>
        <p:spPr>
          <a:xfrm>
            <a:off x="4853988" y="2889504"/>
            <a:ext cx="0" cy="128016"/>
          </a:xfrm>
          <a:prstGeom prst="line">
            <a:avLst/>
          </a:prstGeom>
          <a:noFill/>
          <a:ln w="9525">
            <a:solidFill>
              <a:srgbClr val="4A3AB5"/>
            </a:solidFill>
            <a:prstDash val="solid"/>
          </a:ln>
        </p:spPr>
        <p:txBody>
          <a:bodyPr/>
          <a:lstStyle/>
          <a:p>
            <a:endParaRPr lang="en-US"/>
          </a:p>
        </p:txBody>
      </p:sp>
      <p:sp>
        <p:nvSpPr>
          <p:cNvPr id="23" name="Shape 20"/>
          <p:cNvSpPr/>
          <p:nvPr/>
        </p:nvSpPr>
        <p:spPr>
          <a:xfrm>
            <a:off x="4965862" y="2889504"/>
            <a:ext cx="0" cy="128016"/>
          </a:xfrm>
          <a:prstGeom prst="line">
            <a:avLst/>
          </a:prstGeom>
          <a:noFill/>
          <a:ln w="9525">
            <a:solidFill>
              <a:srgbClr val="4A3AB5"/>
            </a:solidFill>
            <a:prstDash val="solid"/>
          </a:ln>
        </p:spPr>
        <p:txBody>
          <a:bodyPr/>
          <a:lstStyle/>
          <a:p>
            <a:endParaRPr lang="en-US"/>
          </a:p>
        </p:txBody>
      </p:sp>
      <p:sp>
        <p:nvSpPr>
          <p:cNvPr id="24" name="Shape 21"/>
          <p:cNvSpPr/>
          <p:nvPr/>
        </p:nvSpPr>
        <p:spPr>
          <a:xfrm>
            <a:off x="5077735" y="2889504"/>
            <a:ext cx="0" cy="128016"/>
          </a:xfrm>
          <a:prstGeom prst="line">
            <a:avLst/>
          </a:prstGeom>
          <a:noFill/>
          <a:ln w="9525">
            <a:solidFill>
              <a:srgbClr val="4A3AB5"/>
            </a:solidFill>
            <a:prstDash val="solid"/>
          </a:ln>
        </p:spPr>
        <p:txBody>
          <a:bodyPr/>
          <a:lstStyle/>
          <a:p>
            <a:endParaRPr lang="en-US"/>
          </a:p>
        </p:txBody>
      </p:sp>
      <p:sp>
        <p:nvSpPr>
          <p:cNvPr id="25" name="Shape 22"/>
          <p:cNvSpPr/>
          <p:nvPr/>
        </p:nvSpPr>
        <p:spPr>
          <a:xfrm>
            <a:off x="5189608" y="2889504"/>
            <a:ext cx="0" cy="128016"/>
          </a:xfrm>
          <a:prstGeom prst="line">
            <a:avLst/>
          </a:prstGeom>
          <a:noFill/>
          <a:ln w="9525">
            <a:solidFill>
              <a:srgbClr val="4A3AB5"/>
            </a:solidFill>
            <a:prstDash val="solid"/>
          </a:ln>
        </p:spPr>
        <p:txBody>
          <a:bodyPr/>
          <a:lstStyle/>
          <a:p>
            <a:endParaRPr lang="en-US"/>
          </a:p>
        </p:txBody>
      </p:sp>
      <p:sp>
        <p:nvSpPr>
          <p:cNvPr id="26" name="Shape 23"/>
          <p:cNvSpPr/>
          <p:nvPr/>
        </p:nvSpPr>
        <p:spPr>
          <a:xfrm>
            <a:off x="5301481" y="2889504"/>
            <a:ext cx="0" cy="128016"/>
          </a:xfrm>
          <a:prstGeom prst="line">
            <a:avLst/>
          </a:prstGeom>
          <a:noFill/>
          <a:ln w="9525">
            <a:solidFill>
              <a:srgbClr val="4A3AB5"/>
            </a:solidFill>
            <a:prstDash val="solid"/>
          </a:ln>
        </p:spPr>
        <p:txBody>
          <a:bodyPr/>
          <a:lstStyle/>
          <a:p>
            <a:endParaRPr lang="en-US"/>
          </a:p>
        </p:txBody>
      </p:sp>
      <p:sp>
        <p:nvSpPr>
          <p:cNvPr id="27" name="Shape 24"/>
          <p:cNvSpPr/>
          <p:nvPr/>
        </p:nvSpPr>
        <p:spPr>
          <a:xfrm>
            <a:off x="5413355" y="2889504"/>
            <a:ext cx="0" cy="128016"/>
          </a:xfrm>
          <a:prstGeom prst="line">
            <a:avLst/>
          </a:prstGeom>
          <a:noFill/>
          <a:ln w="9525">
            <a:solidFill>
              <a:srgbClr val="4A3AB5"/>
            </a:solidFill>
            <a:prstDash val="solid"/>
          </a:ln>
        </p:spPr>
        <p:txBody>
          <a:bodyPr/>
          <a:lstStyle/>
          <a:p>
            <a:endParaRPr lang="en-US"/>
          </a:p>
        </p:txBody>
      </p:sp>
      <p:sp>
        <p:nvSpPr>
          <p:cNvPr id="28" name="Shape 25"/>
          <p:cNvSpPr/>
          <p:nvPr/>
        </p:nvSpPr>
        <p:spPr>
          <a:xfrm>
            <a:off x="5525228" y="2889504"/>
            <a:ext cx="0" cy="128016"/>
          </a:xfrm>
          <a:prstGeom prst="line">
            <a:avLst/>
          </a:prstGeom>
          <a:noFill/>
          <a:ln w="9525">
            <a:solidFill>
              <a:srgbClr val="4A3AB5"/>
            </a:solidFill>
            <a:prstDash val="solid"/>
          </a:ln>
        </p:spPr>
        <p:txBody>
          <a:bodyPr/>
          <a:lstStyle/>
          <a:p>
            <a:endParaRPr lang="en-US"/>
          </a:p>
        </p:txBody>
      </p:sp>
      <p:sp>
        <p:nvSpPr>
          <p:cNvPr id="29" name="Shape 26"/>
          <p:cNvSpPr/>
          <p:nvPr/>
        </p:nvSpPr>
        <p:spPr>
          <a:xfrm>
            <a:off x="5637101" y="2889504"/>
            <a:ext cx="0" cy="128016"/>
          </a:xfrm>
          <a:prstGeom prst="line">
            <a:avLst/>
          </a:prstGeom>
          <a:noFill/>
          <a:ln w="9525">
            <a:solidFill>
              <a:srgbClr val="4A3AB5"/>
            </a:solidFill>
            <a:prstDash val="solid"/>
          </a:ln>
        </p:spPr>
        <p:txBody>
          <a:bodyPr/>
          <a:lstStyle/>
          <a:p>
            <a:endParaRPr lang="en-US"/>
          </a:p>
        </p:txBody>
      </p:sp>
      <p:sp>
        <p:nvSpPr>
          <p:cNvPr id="30" name="Shape 27"/>
          <p:cNvSpPr/>
          <p:nvPr/>
        </p:nvSpPr>
        <p:spPr>
          <a:xfrm>
            <a:off x="5748974" y="2889504"/>
            <a:ext cx="0" cy="128016"/>
          </a:xfrm>
          <a:prstGeom prst="line">
            <a:avLst/>
          </a:prstGeom>
          <a:noFill/>
          <a:ln w="9525">
            <a:solidFill>
              <a:srgbClr val="4A3AB5"/>
            </a:solidFill>
            <a:prstDash val="solid"/>
          </a:ln>
        </p:spPr>
        <p:txBody>
          <a:bodyPr/>
          <a:lstStyle/>
          <a:p>
            <a:endParaRPr lang="en-US"/>
          </a:p>
        </p:txBody>
      </p:sp>
      <p:sp>
        <p:nvSpPr>
          <p:cNvPr id="31" name="Shape 28"/>
          <p:cNvSpPr/>
          <p:nvPr/>
        </p:nvSpPr>
        <p:spPr>
          <a:xfrm>
            <a:off x="5860848" y="2889504"/>
            <a:ext cx="0" cy="128016"/>
          </a:xfrm>
          <a:prstGeom prst="line">
            <a:avLst/>
          </a:prstGeom>
          <a:noFill/>
          <a:ln w="9525">
            <a:solidFill>
              <a:srgbClr val="4A3AB5"/>
            </a:solidFill>
            <a:prstDash val="solid"/>
          </a:ln>
        </p:spPr>
        <p:txBody>
          <a:bodyPr/>
          <a:lstStyle/>
          <a:p>
            <a:endParaRPr lang="en-US"/>
          </a:p>
        </p:txBody>
      </p:sp>
      <p:sp>
        <p:nvSpPr>
          <p:cNvPr id="32" name="Shape 29"/>
          <p:cNvSpPr/>
          <p:nvPr/>
        </p:nvSpPr>
        <p:spPr>
          <a:xfrm>
            <a:off x="5972721" y="2889504"/>
            <a:ext cx="0" cy="128016"/>
          </a:xfrm>
          <a:prstGeom prst="line">
            <a:avLst/>
          </a:prstGeom>
          <a:noFill/>
          <a:ln w="9525">
            <a:solidFill>
              <a:srgbClr val="4A3AB5"/>
            </a:solidFill>
            <a:prstDash val="solid"/>
          </a:ln>
        </p:spPr>
        <p:txBody>
          <a:bodyPr/>
          <a:lstStyle/>
          <a:p>
            <a:endParaRPr lang="en-US"/>
          </a:p>
        </p:txBody>
      </p:sp>
      <p:sp>
        <p:nvSpPr>
          <p:cNvPr id="33" name="Shape 30"/>
          <p:cNvSpPr/>
          <p:nvPr/>
        </p:nvSpPr>
        <p:spPr>
          <a:xfrm>
            <a:off x="6084594" y="2889504"/>
            <a:ext cx="0" cy="128016"/>
          </a:xfrm>
          <a:prstGeom prst="line">
            <a:avLst/>
          </a:prstGeom>
          <a:noFill/>
          <a:ln w="9525">
            <a:solidFill>
              <a:srgbClr val="4A3AB5"/>
            </a:solidFill>
            <a:prstDash val="solid"/>
          </a:ln>
        </p:spPr>
        <p:txBody>
          <a:bodyPr/>
          <a:lstStyle/>
          <a:p>
            <a:endParaRPr lang="en-US"/>
          </a:p>
        </p:txBody>
      </p:sp>
      <p:sp>
        <p:nvSpPr>
          <p:cNvPr id="34" name="Shape 31"/>
          <p:cNvSpPr/>
          <p:nvPr/>
        </p:nvSpPr>
        <p:spPr>
          <a:xfrm>
            <a:off x="6196467" y="2889504"/>
            <a:ext cx="0" cy="128016"/>
          </a:xfrm>
          <a:prstGeom prst="line">
            <a:avLst/>
          </a:prstGeom>
          <a:noFill/>
          <a:ln w="9525">
            <a:solidFill>
              <a:srgbClr val="4A3AB5"/>
            </a:solidFill>
            <a:prstDash val="solid"/>
          </a:ln>
        </p:spPr>
        <p:txBody>
          <a:bodyPr/>
          <a:lstStyle/>
          <a:p>
            <a:endParaRPr lang="en-US"/>
          </a:p>
        </p:txBody>
      </p:sp>
      <p:sp>
        <p:nvSpPr>
          <p:cNvPr id="35" name="Shape 32"/>
          <p:cNvSpPr/>
          <p:nvPr/>
        </p:nvSpPr>
        <p:spPr>
          <a:xfrm>
            <a:off x="6308341" y="2889504"/>
            <a:ext cx="0" cy="128016"/>
          </a:xfrm>
          <a:prstGeom prst="line">
            <a:avLst/>
          </a:prstGeom>
          <a:noFill/>
          <a:ln w="9525">
            <a:solidFill>
              <a:srgbClr val="4A3AB5"/>
            </a:solidFill>
            <a:prstDash val="solid"/>
          </a:ln>
        </p:spPr>
        <p:txBody>
          <a:bodyPr/>
          <a:lstStyle/>
          <a:p>
            <a:endParaRPr lang="en-US"/>
          </a:p>
        </p:txBody>
      </p:sp>
      <p:sp>
        <p:nvSpPr>
          <p:cNvPr id="36" name="Shape 33"/>
          <p:cNvSpPr/>
          <p:nvPr/>
        </p:nvSpPr>
        <p:spPr>
          <a:xfrm>
            <a:off x="6420214" y="2889504"/>
            <a:ext cx="0" cy="128016"/>
          </a:xfrm>
          <a:prstGeom prst="line">
            <a:avLst/>
          </a:prstGeom>
          <a:noFill/>
          <a:ln w="9525">
            <a:solidFill>
              <a:srgbClr val="4A3AB5"/>
            </a:solidFill>
            <a:prstDash val="solid"/>
          </a:ln>
        </p:spPr>
        <p:txBody>
          <a:bodyPr/>
          <a:lstStyle/>
          <a:p>
            <a:endParaRPr lang="en-US"/>
          </a:p>
        </p:txBody>
      </p:sp>
      <p:sp>
        <p:nvSpPr>
          <p:cNvPr id="37" name="Shape 34"/>
          <p:cNvSpPr/>
          <p:nvPr/>
        </p:nvSpPr>
        <p:spPr>
          <a:xfrm>
            <a:off x="6532087" y="2889504"/>
            <a:ext cx="0" cy="128016"/>
          </a:xfrm>
          <a:prstGeom prst="line">
            <a:avLst/>
          </a:prstGeom>
          <a:noFill/>
          <a:ln w="9525">
            <a:solidFill>
              <a:srgbClr val="4A3AB5"/>
            </a:solidFill>
            <a:prstDash val="solid"/>
          </a:ln>
        </p:spPr>
        <p:txBody>
          <a:bodyPr/>
          <a:lstStyle/>
          <a:p>
            <a:endParaRPr lang="en-US"/>
          </a:p>
        </p:txBody>
      </p:sp>
      <p:sp>
        <p:nvSpPr>
          <p:cNvPr id="38" name="Shape 35"/>
          <p:cNvSpPr/>
          <p:nvPr/>
        </p:nvSpPr>
        <p:spPr>
          <a:xfrm>
            <a:off x="6643960" y="2889504"/>
            <a:ext cx="0" cy="128016"/>
          </a:xfrm>
          <a:prstGeom prst="line">
            <a:avLst/>
          </a:prstGeom>
          <a:noFill/>
          <a:ln w="9525">
            <a:solidFill>
              <a:srgbClr val="4A3AB5"/>
            </a:solidFill>
            <a:prstDash val="solid"/>
          </a:ln>
        </p:spPr>
        <p:txBody>
          <a:bodyPr/>
          <a:lstStyle/>
          <a:p>
            <a:endParaRPr lang="en-US"/>
          </a:p>
        </p:txBody>
      </p:sp>
      <p:sp>
        <p:nvSpPr>
          <p:cNvPr id="39" name="Shape 36"/>
          <p:cNvSpPr/>
          <p:nvPr/>
        </p:nvSpPr>
        <p:spPr>
          <a:xfrm>
            <a:off x="6755834" y="2889504"/>
            <a:ext cx="0" cy="128016"/>
          </a:xfrm>
          <a:prstGeom prst="line">
            <a:avLst/>
          </a:prstGeom>
          <a:noFill/>
          <a:ln w="9525">
            <a:solidFill>
              <a:srgbClr val="4A3AB5"/>
            </a:solidFill>
            <a:prstDash val="solid"/>
          </a:ln>
        </p:spPr>
        <p:txBody>
          <a:bodyPr/>
          <a:lstStyle/>
          <a:p>
            <a:endParaRPr lang="en-US"/>
          </a:p>
        </p:txBody>
      </p:sp>
      <p:sp>
        <p:nvSpPr>
          <p:cNvPr id="40" name="Shape 37"/>
          <p:cNvSpPr/>
          <p:nvPr/>
        </p:nvSpPr>
        <p:spPr>
          <a:xfrm>
            <a:off x="6867707" y="2889504"/>
            <a:ext cx="0" cy="128016"/>
          </a:xfrm>
          <a:prstGeom prst="line">
            <a:avLst/>
          </a:prstGeom>
          <a:noFill/>
          <a:ln w="9525">
            <a:solidFill>
              <a:srgbClr val="4A3AB5"/>
            </a:solidFill>
            <a:prstDash val="solid"/>
          </a:ln>
        </p:spPr>
        <p:txBody>
          <a:bodyPr/>
          <a:lstStyle/>
          <a:p>
            <a:endParaRPr lang="en-US"/>
          </a:p>
        </p:txBody>
      </p:sp>
      <p:sp>
        <p:nvSpPr>
          <p:cNvPr id="41" name="Shape 38"/>
          <p:cNvSpPr/>
          <p:nvPr/>
        </p:nvSpPr>
        <p:spPr>
          <a:xfrm>
            <a:off x="6979580" y="2889504"/>
            <a:ext cx="0" cy="128016"/>
          </a:xfrm>
          <a:prstGeom prst="line">
            <a:avLst/>
          </a:prstGeom>
          <a:noFill/>
          <a:ln w="9525">
            <a:solidFill>
              <a:srgbClr val="4A3AB5"/>
            </a:solidFill>
            <a:prstDash val="solid"/>
          </a:ln>
        </p:spPr>
        <p:txBody>
          <a:bodyPr/>
          <a:lstStyle/>
          <a:p>
            <a:endParaRPr lang="en-US"/>
          </a:p>
        </p:txBody>
      </p:sp>
      <p:sp>
        <p:nvSpPr>
          <p:cNvPr id="42" name="Shape 39"/>
          <p:cNvSpPr/>
          <p:nvPr/>
        </p:nvSpPr>
        <p:spPr>
          <a:xfrm>
            <a:off x="7214616" y="2852928"/>
            <a:ext cx="201168" cy="201168"/>
          </a:xfrm>
          <a:prstGeom prst="ellipse">
            <a:avLst/>
          </a:prstGeom>
          <a:solidFill>
            <a:srgbClr val="4A3AB5"/>
          </a:solidFill>
          <a:ln/>
        </p:spPr>
        <p:txBody>
          <a:bodyPr/>
          <a:lstStyle/>
          <a:p>
            <a:endParaRPr lang="en-US"/>
          </a:p>
        </p:txBody>
      </p:sp>
      <p:sp>
        <p:nvSpPr>
          <p:cNvPr id="43" name="Text 40"/>
          <p:cNvSpPr txBox="1"/>
          <p:nvPr/>
        </p:nvSpPr>
        <p:spPr>
          <a:xfrm>
            <a:off x="3511509" y="3108960"/>
            <a:ext cx="548640" cy="219456"/>
          </a:xfrm>
          <a:prstGeom prst="rect">
            <a:avLst/>
          </a:prstGeom>
          <a:noFill/>
          <a:ln/>
        </p:spPr>
        <p:txBody>
          <a:bodyPr wrap="square" lIns="0" tIns="0" rIns="0" bIns="0" rtlCol="0" anchor="t"/>
          <a:lstStyle/>
          <a:p>
            <a:pPr marL="0" indent="0">
              <a:buNone/>
            </a:pPr>
            <a:r>
              <a:rPr lang="en-US" sz="1100">
                <a:solidFill>
                  <a:srgbClr val="6B7280"/>
                </a:solidFill>
              </a:rPr>
              <a:t>10:00</a:t>
            </a:r>
            <a:endParaRPr lang="en-US" sz="1100" dirty="0"/>
          </a:p>
        </p:txBody>
      </p:sp>
      <p:sp>
        <p:nvSpPr>
          <p:cNvPr id="44" name="Text 41"/>
          <p:cNvSpPr txBox="1"/>
          <p:nvPr/>
        </p:nvSpPr>
        <p:spPr>
          <a:xfrm>
            <a:off x="6430940" y="3108960"/>
            <a:ext cx="548640" cy="219456"/>
          </a:xfrm>
          <a:prstGeom prst="rect">
            <a:avLst/>
          </a:prstGeom>
          <a:noFill/>
          <a:ln/>
        </p:spPr>
        <p:txBody>
          <a:bodyPr wrap="square" lIns="0" tIns="0" rIns="0" bIns="0" rtlCol="0" anchor="t"/>
          <a:lstStyle/>
          <a:p>
            <a:pPr marL="0" indent="0" algn="r">
              <a:buNone/>
            </a:pPr>
            <a:r>
              <a:rPr lang="en-US" sz="1100">
                <a:solidFill>
                  <a:srgbClr val="6B7280"/>
                </a:solidFill>
              </a:rPr>
              <a:t>17:45</a:t>
            </a:r>
            <a:endParaRPr lang="en-US" sz="1100" dirty="0"/>
          </a:p>
        </p:txBody>
      </p:sp>
      <p:sp>
        <p:nvSpPr>
          <p:cNvPr id="45" name="Text 42"/>
          <p:cNvSpPr txBox="1"/>
          <p:nvPr/>
        </p:nvSpPr>
        <p:spPr>
          <a:xfrm>
            <a:off x="7040880" y="2578608"/>
            <a:ext cx="548640" cy="219456"/>
          </a:xfrm>
          <a:prstGeom prst="rect">
            <a:avLst/>
          </a:prstGeom>
          <a:noFill/>
          <a:ln/>
        </p:spPr>
        <p:txBody>
          <a:bodyPr wrap="square" lIns="0" tIns="0" rIns="0" bIns="0" rtlCol="0" anchor="t"/>
          <a:lstStyle/>
          <a:p>
            <a:pPr marL="0" indent="0" algn="ctr">
              <a:buNone/>
            </a:pPr>
            <a:r>
              <a:rPr lang="en-US" sz="1100">
                <a:solidFill>
                  <a:srgbClr val="6B7280"/>
                </a:solidFill>
              </a:rPr>
              <a:t>18:30</a:t>
            </a:r>
            <a:endParaRPr lang="en-US" sz="1100" dirty="0"/>
          </a:p>
        </p:txBody>
      </p:sp>
      <p:sp>
        <p:nvSpPr>
          <p:cNvPr id="46" name="Text 43"/>
          <p:cNvSpPr txBox="1"/>
          <p:nvPr/>
        </p:nvSpPr>
        <p:spPr>
          <a:xfrm>
            <a:off x="3465789" y="3383280"/>
            <a:ext cx="4078011" cy="502920"/>
          </a:xfrm>
          <a:prstGeom prst="rect">
            <a:avLst/>
          </a:prstGeom>
          <a:noFill/>
          <a:ln/>
        </p:spPr>
        <p:txBody>
          <a:bodyPr wrap="square" lIns="0" tIns="0" rIns="0" bIns="0" rtlCol="0" anchor="t"/>
          <a:lstStyle/>
          <a:p>
            <a:pPr marL="0" indent="0">
              <a:buNone/>
            </a:pPr>
            <a:r>
              <a:rPr lang="en-US" sz="1400" dirty="0">
                <a:solidFill>
                  <a:srgbClr val="4A5563"/>
                </a:solidFill>
              </a:rPr>
              <a:t>Every 15 minutes during the session (about 15 minutes delayed), then one end‑of‑</a:t>
            </a:r>
            <a:r>
              <a:rPr lang="en-US" sz="1400">
                <a:solidFill>
                  <a:srgbClr val="4A5563"/>
                </a:solidFill>
              </a:rPr>
              <a:t>day refresh at 18:30.</a:t>
            </a:r>
            <a:endParaRPr lang="en-US" sz="1400" dirty="0"/>
          </a:p>
        </p:txBody>
      </p:sp>
      <p:sp>
        <p:nvSpPr>
          <p:cNvPr id="47" name="Text 44"/>
          <p:cNvSpPr txBox="1"/>
          <p:nvPr/>
        </p:nvSpPr>
        <p:spPr>
          <a:xfrm>
            <a:off x="3465789" y="4096512"/>
            <a:ext cx="4078011" cy="274320"/>
          </a:xfrm>
          <a:prstGeom prst="rect">
            <a:avLst/>
          </a:prstGeom>
          <a:noFill/>
          <a:ln/>
        </p:spPr>
        <p:txBody>
          <a:bodyPr wrap="square" lIns="0" tIns="0" rIns="0" bIns="0" rtlCol="0" anchor="t"/>
          <a:lstStyle/>
          <a:p>
            <a:pPr marL="0" indent="0">
              <a:buNone/>
            </a:pPr>
            <a:r>
              <a:rPr lang="en-US" sz="1500" b="1" dirty="0">
                <a:solidFill>
                  <a:srgbClr val="16202C"/>
                </a:solidFill>
              </a:rPr>
              <a:t>Unusual volume</a:t>
            </a:r>
            <a:endParaRPr lang="en-US" sz="1500" dirty="0"/>
          </a:p>
        </p:txBody>
      </p:sp>
      <p:sp>
        <p:nvSpPr>
          <p:cNvPr id="48" name="Text 45"/>
          <p:cNvSpPr txBox="1"/>
          <p:nvPr/>
        </p:nvSpPr>
        <p:spPr>
          <a:xfrm>
            <a:off x="3465789" y="4425696"/>
            <a:ext cx="1325880" cy="640080"/>
          </a:xfrm>
          <a:prstGeom prst="rect">
            <a:avLst/>
          </a:prstGeom>
          <a:noFill/>
          <a:ln/>
        </p:spPr>
        <p:txBody>
          <a:bodyPr wrap="square" lIns="0" tIns="0" rIns="0" bIns="0" rtlCol="0" anchor="ctr"/>
          <a:lstStyle/>
          <a:p>
            <a:pPr marL="0" indent="0">
              <a:buNone/>
            </a:pPr>
            <a:r>
              <a:rPr lang="en-US" sz="4000" b="1" dirty="0">
                <a:solidFill>
                  <a:srgbClr val="4A3AB5"/>
                </a:solidFill>
                <a:latin typeface="Cambria" pitchFamily="34" charset="0"/>
                <a:ea typeface="Cambria" pitchFamily="34" charset="-122"/>
                <a:cs typeface="Cambria" pitchFamily="34" charset="-120"/>
              </a:rPr>
              <a:t>2.5×</a:t>
            </a:r>
            <a:endParaRPr lang="en-US" sz="4000" dirty="0"/>
          </a:p>
        </p:txBody>
      </p:sp>
      <p:sp>
        <p:nvSpPr>
          <p:cNvPr id="49" name="Text 46"/>
          <p:cNvSpPr txBox="1"/>
          <p:nvPr/>
        </p:nvSpPr>
        <p:spPr>
          <a:xfrm>
            <a:off x="4837389" y="4425696"/>
            <a:ext cx="2706411" cy="640080"/>
          </a:xfrm>
          <a:prstGeom prst="rect">
            <a:avLst/>
          </a:prstGeom>
          <a:noFill/>
          <a:ln/>
        </p:spPr>
        <p:txBody>
          <a:bodyPr wrap="square" lIns="0" tIns="0" rIns="0" bIns="0" rtlCol="0" anchor="ctr"/>
          <a:lstStyle/>
          <a:p>
            <a:pPr marL="0" indent="0">
              <a:buNone/>
            </a:pPr>
            <a:r>
              <a:rPr lang="en-US" sz="1400" dirty="0">
                <a:solidFill>
                  <a:srgbClr val="4A5563"/>
                </a:solidFill>
              </a:rPr>
              <a:t>the 20‑day average volume, or more, triggers:</a:t>
            </a:r>
            <a:endParaRPr lang="en-US" sz="1400" dirty="0"/>
          </a:p>
        </p:txBody>
      </p:sp>
      <p:pic>
        <p:nvPicPr>
          <p:cNvPr id="50" name="Image 1" descr="preencoded.png"/>
          <p:cNvPicPr>
            <a:picLocks noChangeAspect="1"/>
          </p:cNvPicPr>
          <p:nvPr/>
        </p:nvPicPr>
        <p:blipFill>
          <a:blip r:embed="rId4"/>
          <a:stretch>
            <a:fillRect/>
          </a:stretch>
        </p:blipFill>
        <p:spPr>
          <a:xfrm>
            <a:off x="3465789" y="5148072"/>
            <a:ext cx="237744" cy="237744"/>
          </a:xfrm>
          <a:prstGeom prst="rect">
            <a:avLst/>
          </a:prstGeom>
        </p:spPr>
      </p:pic>
      <p:sp>
        <p:nvSpPr>
          <p:cNvPr id="51" name="Text 47"/>
          <p:cNvSpPr txBox="1"/>
          <p:nvPr/>
        </p:nvSpPr>
        <p:spPr>
          <a:xfrm>
            <a:off x="3813261" y="5120640"/>
            <a:ext cx="3712251" cy="292608"/>
          </a:xfrm>
          <a:prstGeom prst="rect">
            <a:avLst/>
          </a:prstGeom>
          <a:noFill/>
          <a:ln/>
        </p:spPr>
        <p:txBody>
          <a:bodyPr wrap="square" lIns="0" tIns="0" rIns="0" bIns="0" rtlCol="0" anchor="ctr"/>
          <a:lstStyle/>
          <a:p>
            <a:pPr marL="0" indent="0">
              <a:buNone/>
            </a:pPr>
            <a:r>
              <a:rPr lang="en-US" sz="1400" dirty="0">
                <a:solidFill>
                  <a:srgbClr val="16202C"/>
                </a:solidFill>
              </a:rPr>
              <a:t>a bold bar on the chart</a:t>
            </a:r>
            <a:endParaRPr lang="en-US" sz="1400" dirty="0"/>
          </a:p>
        </p:txBody>
      </p:sp>
      <p:pic>
        <p:nvPicPr>
          <p:cNvPr id="52" name="Image 2" descr="preencoded.png"/>
          <p:cNvPicPr>
            <a:picLocks noChangeAspect="1"/>
          </p:cNvPicPr>
          <p:nvPr/>
        </p:nvPicPr>
        <p:blipFill>
          <a:blip r:embed="rId5"/>
          <a:stretch>
            <a:fillRect/>
          </a:stretch>
        </p:blipFill>
        <p:spPr>
          <a:xfrm>
            <a:off x="3465789" y="5513832"/>
            <a:ext cx="237744" cy="237744"/>
          </a:xfrm>
          <a:prstGeom prst="rect">
            <a:avLst/>
          </a:prstGeom>
        </p:spPr>
      </p:pic>
      <p:sp>
        <p:nvSpPr>
          <p:cNvPr id="53" name="Text 48"/>
          <p:cNvSpPr txBox="1"/>
          <p:nvPr/>
        </p:nvSpPr>
        <p:spPr>
          <a:xfrm>
            <a:off x="3813261" y="5486400"/>
            <a:ext cx="3712251" cy="292608"/>
          </a:xfrm>
          <a:prstGeom prst="rect">
            <a:avLst/>
          </a:prstGeom>
          <a:noFill/>
          <a:ln/>
        </p:spPr>
        <p:txBody>
          <a:bodyPr wrap="square" lIns="0" tIns="0" rIns="0" bIns="0" rtlCol="0" anchor="ctr"/>
          <a:lstStyle/>
          <a:p>
            <a:pPr marL="0" indent="0">
              <a:buNone/>
            </a:pPr>
            <a:r>
              <a:rPr lang="en-US" sz="1400" dirty="0">
                <a:solidFill>
                  <a:srgbClr val="16202C"/>
                </a:solidFill>
              </a:rPr>
              <a:t>a line in the Unusual volume list</a:t>
            </a:r>
            <a:endParaRPr lang="en-US" sz="1400" dirty="0"/>
          </a:p>
        </p:txBody>
      </p:sp>
      <p:pic>
        <p:nvPicPr>
          <p:cNvPr id="54" name="Image 3" descr="preencoded.png"/>
          <p:cNvPicPr>
            <a:picLocks noChangeAspect="1"/>
          </p:cNvPicPr>
          <p:nvPr/>
        </p:nvPicPr>
        <p:blipFill>
          <a:blip r:embed="rId6"/>
          <a:stretch>
            <a:fillRect/>
          </a:stretch>
        </p:blipFill>
        <p:spPr>
          <a:xfrm>
            <a:off x="3465789" y="5879592"/>
            <a:ext cx="237744" cy="237744"/>
          </a:xfrm>
          <a:prstGeom prst="rect">
            <a:avLst/>
          </a:prstGeom>
        </p:spPr>
      </p:pic>
      <p:sp>
        <p:nvSpPr>
          <p:cNvPr id="55" name="Text 49"/>
          <p:cNvSpPr txBox="1"/>
          <p:nvPr/>
        </p:nvSpPr>
        <p:spPr>
          <a:xfrm>
            <a:off x="3813261" y="5852160"/>
            <a:ext cx="3712251" cy="292608"/>
          </a:xfrm>
          <a:prstGeom prst="rect">
            <a:avLst/>
          </a:prstGeom>
          <a:noFill/>
          <a:ln/>
        </p:spPr>
        <p:txBody>
          <a:bodyPr wrap="square" lIns="0" tIns="0" rIns="0" bIns="0" rtlCol="0" anchor="ctr"/>
          <a:lstStyle/>
          <a:p>
            <a:pPr marL="0" indent="0">
              <a:buNone/>
            </a:pPr>
            <a:r>
              <a:rPr lang="en-US" sz="1400" dirty="0">
                <a:solidFill>
                  <a:srgbClr val="16202C"/>
                </a:solidFill>
              </a:rPr>
              <a:t>one Telegram alert that day</a:t>
            </a:r>
            <a:endParaRPr lang="en-US" sz="1400" dirty="0"/>
          </a:p>
        </p:txBody>
      </p:sp>
      <p:sp>
        <p:nvSpPr>
          <p:cNvPr id="56"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57" name="Image 4" descr="preencoded.png"/>
          <p:cNvPicPr>
            <a:picLocks noChangeAspect="1"/>
          </p:cNvPicPr>
          <p:nvPr/>
        </p:nvPicPr>
        <p:blipFill>
          <a:blip r:embed="rId7"/>
          <a:stretch>
            <a:fillRect/>
          </a:stretch>
        </p:blipFill>
        <p:spPr>
          <a:xfrm>
            <a:off x="8074152" y="2322576"/>
            <a:ext cx="219456" cy="219456"/>
          </a:xfrm>
          <a:prstGeom prst="rect">
            <a:avLst/>
          </a:prstGeom>
        </p:spPr>
      </p:pic>
      <p:sp>
        <p:nvSpPr>
          <p:cNvPr id="58" name="Text 51"/>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59" name="Text 52"/>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Source</a:t>
            </a:r>
            <a:r>
              <a:rPr lang="en-US" sz="1400" dirty="0">
                <a:solidFill>
                  <a:srgbClr val="4A5563"/>
                </a:solidFill>
              </a:rPr>
              <a:t>: Yahoo Finance through yahoo‑finance2: free but unofficial.</a:t>
            </a:r>
            <a:endParaRPr lang="en-US" sz="1400" dirty="0"/>
          </a:p>
          <a:p>
            <a:pPr marL="0" indent="0">
              <a:spcAft>
                <a:spcPts val="800"/>
              </a:spcAft>
              <a:buNone/>
            </a:pPr>
            <a:r>
              <a:rPr lang="en-US" sz="1400" b="1" dirty="0">
                <a:solidFill>
                  <a:srgbClr val="16202C"/>
                </a:solidFill>
              </a:rPr>
              <a:t>Stored</a:t>
            </a:r>
            <a:r>
              <a:rPr lang="en-US" sz="1400" dirty="0">
                <a:solidFill>
                  <a:srgbClr val="4A5563"/>
                </a:solidFill>
              </a:rPr>
              <a:t>: one DynamoDB record per trading day, plus 15‑minute bars kept for 10 days.</a:t>
            </a:r>
            <a:endParaRPr lang="en-US" sz="1400" dirty="0"/>
          </a:p>
          <a:p>
            <a:pPr marL="0" indent="0">
              <a:spcAft>
                <a:spcPts val="800"/>
              </a:spcAft>
              <a:buNone/>
            </a:pPr>
            <a:r>
              <a:rPr lang="en-US" sz="1400" b="1" dirty="0">
                <a:solidFill>
                  <a:srgbClr val="16202C"/>
                </a:solidFill>
              </a:rPr>
              <a:t>Safety net</a:t>
            </a:r>
            <a:r>
              <a:rPr lang="en-US" sz="1400" dirty="0">
                <a:solidFill>
                  <a:srgbClr val="4A5563"/>
                </a:solidFill>
              </a:rPr>
              <a:t>: after 3 failed refreshes, a “Not updating” badge and a Telegram alert.</a:t>
            </a:r>
            <a:endParaRPr lang="en-US" sz="1400" dirty="0"/>
          </a:p>
          <a:p>
            <a:pPr marL="0" indent="0">
              <a:spcAft>
                <a:spcPts val="800"/>
              </a:spcAft>
              <a:buNone/>
            </a:pPr>
            <a:r>
              <a:rPr lang="en-US" sz="1400" b="1" dirty="0">
                <a:solidFill>
                  <a:srgbClr val="16202C"/>
                </a:solidFill>
              </a:rPr>
              <a:t>Upgrade</a:t>
            </a:r>
            <a:r>
              <a:rPr lang="en-US" sz="1400" dirty="0">
                <a:solidFill>
                  <a:srgbClr val="4A5563"/>
                </a:solidFill>
              </a:rPr>
              <a:t>: one setting switches to EODHD, a paid feed ($19.99/month).</a:t>
            </a:r>
            <a:endParaRPr lang="en-US" sz="1400" dirty="0"/>
          </a:p>
        </p:txBody>
      </p:sp>
      <p:sp>
        <p:nvSpPr>
          <p:cNvPr id="60"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p:cNvSpPr/>
          <p:nvPr/>
        </p:nvSpPr>
        <p:spPr>
          <a:xfrm>
            <a:off x="548640" y="329184"/>
            <a:ext cx="972922" cy="274320"/>
          </a:xfrm>
          <a:prstGeom prst="roundRect">
            <a:avLst>
              <a:gd name="adj" fmla="val 50000"/>
            </a:avLst>
          </a:prstGeom>
          <a:solidFill>
            <a:srgbClr val="E7E4FA"/>
          </a:solidFill>
          <a:ln/>
        </p:spPr>
        <p:txBody>
          <a:bodyPr wrap="square" lIns="0" tIns="0" rIns="0" bIns="0" rtlCol="0" anchor="ctr"/>
          <a:lstStyle/>
          <a:p>
            <a:pPr marL="0" indent="0" algn="ctr">
              <a:buNone/>
            </a:pPr>
            <a:r>
              <a:rPr lang="en-US" sz="1050" b="1" kern="0" spc="150" dirty="0">
                <a:solidFill>
                  <a:srgbClr val="4A3AB5"/>
                </a:solidFill>
              </a:rPr>
              <a:t>BACKEND</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Choosing AI models</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Not locked to one AI company: each task can use a different model, chosen in Settings.</a:t>
            </a:r>
            <a:endParaRPr lang="en-US" sz="1800" dirty="0"/>
          </a:p>
        </p:txBody>
      </p:sp>
      <p:sp>
        <p:nvSpPr>
          <p:cNvPr id="5" name="Shape 3"/>
          <p:cNvSpPr/>
          <p:nvPr/>
        </p:nvSpPr>
        <p:spPr>
          <a:xfrm>
            <a:off x="530352" y="2084832"/>
            <a:ext cx="5934456" cy="3936787"/>
          </a:xfrm>
          <a:prstGeom prst="rect">
            <a:avLst/>
          </a:prstGeom>
          <a:solidFill>
            <a:srgbClr val="FFFFFF"/>
          </a:solidFill>
          <a:ln w="12700">
            <a:solidFill>
              <a:srgbClr val="D1D5DB"/>
            </a:solidFill>
            <a:prstDash val="solid"/>
          </a:ln>
        </p:spPr>
        <p:txBody>
          <a:bodyPr/>
          <a:lstStyle/>
          <a:p>
            <a:endParaRPr lang="en-US"/>
          </a:p>
        </p:txBody>
      </p:sp>
      <p:pic>
        <p:nvPicPr>
          <p:cNvPr id="6" name="Settings screenshot" descr="C:\Users\juanf\AppData\Local\Temp\claude\D--projects-local-code-bio-majesty\af963771-534c-477c-a7ea-371a585f8f2d\scratchpad\deck\assets\crop-settings.jpg"/>
          <p:cNvPicPr>
            <a:picLocks noChangeAspect="1"/>
          </p:cNvPicPr>
          <p:nvPr/>
        </p:nvPicPr>
        <p:blipFill>
          <a:blip r:embed="rId3"/>
          <a:stretch>
            <a:fillRect/>
          </a:stretch>
        </p:blipFill>
        <p:spPr>
          <a:xfrm>
            <a:off x="548640" y="2103120"/>
            <a:ext cx="5897880" cy="3900211"/>
          </a:xfrm>
          <a:prstGeom prst="rect">
            <a:avLst/>
          </a:prstGeom>
        </p:spPr>
      </p:pic>
      <p:sp>
        <p:nvSpPr>
          <p:cNvPr id="7" name="Text 4"/>
          <p:cNvSpPr txBox="1"/>
          <p:nvPr/>
        </p:nvSpPr>
        <p:spPr>
          <a:xfrm>
            <a:off x="548640" y="6076483"/>
            <a:ext cx="5897880" cy="228600"/>
          </a:xfrm>
          <a:prstGeom prst="rect">
            <a:avLst/>
          </a:prstGeom>
          <a:noFill/>
          <a:ln/>
        </p:spPr>
        <p:txBody>
          <a:bodyPr wrap="square" lIns="0" tIns="0" rIns="0" bIns="0" rtlCol="0" anchor="t"/>
          <a:lstStyle/>
          <a:p>
            <a:pPr marL="0" indent="0">
              <a:buNone/>
            </a:pPr>
            <a:r>
              <a:rPr lang="en-US" sz="1100" dirty="0">
                <a:solidFill>
                  <a:srgbClr val="6B7280"/>
                </a:solidFill>
              </a:rPr>
              <a:t>Settings → AI models (demo). A green tick means that provider’s key is set.</a:t>
            </a:r>
            <a:endParaRPr lang="en-US" sz="1100" dirty="0"/>
          </a:p>
        </p:txBody>
      </p:sp>
      <p:sp>
        <p:nvSpPr>
          <p:cNvPr id="8" name="Under the hood"/>
          <p:cNvSpPr/>
          <p:nvPr/>
        </p:nvSpPr>
        <p:spPr>
          <a:xfrm>
            <a:off x="6766560" y="2103120"/>
            <a:ext cx="4876495" cy="4160520"/>
          </a:xfrm>
          <a:prstGeom prst="roundRect">
            <a:avLst>
              <a:gd name="adj" fmla="val 2198"/>
            </a:avLst>
          </a:prstGeom>
          <a:solidFill>
            <a:srgbClr val="F3F4F6"/>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7022592" y="2322576"/>
            <a:ext cx="219456" cy="219456"/>
          </a:xfrm>
          <a:prstGeom prst="rect">
            <a:avLst/>
          </a:prstGeom>
        </p:spPr>
      </p:pic>
      <p:sp>
        <p:nvSpPr>
          <p:cNvPr id="10" name="Text 6"/>
          <p:cNvSpPr txBox="1"/>
          <p:nvPr/>
        </p:nvSpPr>
        <p:spPr>
          <a:xfrm>
            <a:off x="733348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11" name="Text 7"/>
          <p:cNvSpPr txBox="1"/>
          <p:nvPr/>
        </p:nvSpPr>
        <p:spPr>
          <a:xfrm>
            <a:off x="7022592" y="2724912"/>
            <a:ext cx="436443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Vercel AI SDK</a:t>
            </a:r>
            <a:r>
              <a:rPr lang="en-US" sz="1400" dirty="0">
                <a:solidFill>
                  <a:srgbClr val="4A5563"/>
                </a:solidFill>
              </a:rPr>
              <a:t>: one programming interface for Anthropic, OpenAI, Google and OpenRouter (hundreds of models with one key).</a:t>
            </a:r>
            <a:endParaRPr lang="en-US" sz="1400" dirty="0"/>
          </a:p>
          <a:p>
            <a:pPr marL="0" indent="0">
              <a:spcAft>
                <a:spcPts val="800"/>
              </a:spcAft>
              <a:buNone/>
            </a:pPr>
            <a:r>
              <a:rPr lang="en-US" sz="1400" b="1" dirty="0">
                <a:solidFill>
                  <a:srgbClr val="16202C"/>
                </a:solidFill>
              </a:rPr>
              <a:t>Per task</a:t>
            </a:r>
            <a:r>
              <a:rPr lang="en-US" sz="1400" dirty="0">
                <a:solidFill>
                  <a:srgbClr val="4A5563"/>
                </a:solidFill>
              </a:rPr>
              <a:t>: a main model, a backup model, and how hard it should think (“effort”).</a:t>
            </a:r>
            <a:endParaRPr lang="en-US" sz="1400" dirty="0"/>
          </a:p>
          <a:p>
            <a:pPr marL="0" indent="0">
              <a:spcAft>
                <a:spcPts val="800"/>
              </a:spcAft>
              <a:buNone/>
            </a:pPr>
            <a:r>
              <a:rPr lang="en-US" sz="1400" b="1" dirty="0">
                <a:solidFill>
                  <a:srgbClr val="16202C"/>
                </a:solidFill>
              </a:rPr>
              <a:t>Before switching</a:t>
            </a:r>
            <a:r>
              <a:rPr lang="en-US" sz="1400" dirty="0">
                <a:solidFill>
                  <a:srgbClr val="4A5563"/>
                </a:solidFill>
              </a:rPr>
              <a:t>: the Test button checks a choice; eval:tagging scores a model against your past decisions.</a:t>
            </a:r>
            <a:endParaRPr lang="en-US" sz="1400" dirty="0"/>
          </a:p>
          <a:p>
            <a:pPr marL="0" indent="0">
              <a:spcAft>
                <a:spcPts val="800"/>
              </a:spcAft>
              <a:buNone/>
            </a:pPr>
            <a:r>
              <a:rPr lang="en-US" sz="1400" b="1" dirty="0">
                <a:solidFill>
                  <a:srgbClr val="16202C"/>
                </a:solidFill>
              </a:rPr>
              <a:t>Cost lever</a:t>
            </a:r>
            <a:r>
              <a:rPr lang="en-US" sz="1400" dirty="0">
                <a:solidFill>
                  <a:srgbClr val="4A5563"/>
                </a:solidFill>
              </a:rPr>
              <a:t>: tagging costs about $30–45 a month with Claude Opus, and about $1–3 with Claude Haiku.</a:t>
            </a:r>
            <a:endParaRPr lang="en-US" sz="1400" dirty="0"/>
          </a:p>
          <a:p>
            <a:pPr marL="0" indent="0">
              <a:spcAft>
                <a:spcPts val="800"/>
              </a:spcAft>
              <a:buNone/>
            </a:pPr>
            <a:r>
              <a:rPr lang="en-US" sz="1400" b="1" dirty="0">
                <a:solidFill>
                  <a:srgbClr val="16202C"/>
                </a:solidFill>
              </a:rPr>
              <a:t>Custom model id</a:t>
            </a:r>
            <a:r>
              <a:rPr lang="en-US" sz="1400" dirty="0">
                <a:solidFill>
                  <a:srgbClr val="4A5563"/>
                </a:solidFill>
              </a:rPr>
              <a:t>: any model a configured provider offers can be typed in, such as a brand‑new release.</a:t>
            </a:r>
            <a:endParaRPr lang="en-US" sz="1400" dirty="0"/>
          </a:p>
        </p:txBody>
      </p:sp>
      <p:sp>
        <p:nvSpPr>
          <p:cNvPr id="25"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E2E8F0"/>
          </a:solidFill>
          <a:ln/>
        </p:spPr>
        <p:txBody>
          <a:bodyPr wrap="square" lIns="0" tIns="0" rIns="0" bIns="0" rtlCol="0" anchor="ctr"/>
          <a:lstStyle/>
          <a:p>
            <a:pPr marL="0" indent="0" algn="ctr">
              <a:buNone/>
            </a:pPr>
            <a:r>
              <a:rPr lang="en-US" sz="1050" b="1" kern="0" spc="150" dirty="0">
                <a:solidFill>
                  <a:srgbClr val="334155"/>
                </a:solidFill>
              </a:rPr>
              <a:t>OVERVIEW</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Security and privacy</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Only invited people get in, every request is checked, and the AI can read your data but never change it.</a:t>
            </a:r>
            <a:endParaRPr lang="en-US" sz="1800" dirty="0"/>
          </a:p>
        </p:txBody>
      </p:sp>
      <p:sp>
        <p:nvSpPr>
          <p:cNvPr id="5" name="Shape 3"/>
          <p:cNvSpPr/>
          <p:nvPr/>
        </p:nvSpPr>
        <p:spPr>
          <a:xfrm>
            <a:off x="548640" y="2176272"/>
            <a:ext cx="512064" cy="512064"/>
          </a:xfrm>
          <a:prstGeom prst="ellipse">
            <a:avLst/>
          </a:prstGeom>
          <a:solidFill>
            <a:srgbClr val="E2E8F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6415" y="2294047"/>
            <a:ext cx="276515" cy="276515"/>
          </a:xfrm>
          <a:prstGeom prst="rect">
            <a:avLst/>
          </a:prstGeom>
        </p:spPr>
      </p:pic>
      <p:sp>
        <p:nvSpPr>
          <p:cNvPr id="7" name="Text 4"/>
          <p:cNvSpPr txBox="1"/>
          <p:nvPr/>
        </p:nvSpPr>
        <p:spPr>
          <a:xfrm>
            <a:off x="1225296" y="2157984"/>
            <a:ext cx="2674620" cy="310896"/>
          </a:xfrm>
          <a:prstGeom prst="rect">
            <a:avLst/>
          </a:prstGeom>
          <a:noFill/>
          <a:ln/>
        </p:spPr>
        <p:txBody>
          <a:bodyPr wrap="square" lIns="0" tIns="0" rIns="0" bIns="0" rtlCol="0" anchor="ctr"/>
          <a:lstStyle/>
          <a:p>
            <a:pPr marL="0" indent="0">
              <a:buNone/>
            </a:pPr>
            <a:r>
              <a:rPr lang="en-US" sz="1600" b="1" dirty="0">
                <a:solidFill>
                  <a:srgbClr val="16202C"/>
                </a:solidFill>
              </a:rPr>
              <a:t>Invite‑only</a:t>
            </a:r>
            <a:endParaRPr lang="en-US" sz="1600" dirty="0"/>
          </a:p>
        </p:txBody>
      </p:sp>
      <p:sp>
        <p:nvSpPr>
          <p:cNvPr id="8" name="Text 5"/>
          <p:cNvSpPr txBox="1"/>
          <p:nvPr/>
        </p:nvSpPr>
        <p:spPr>
          <a:xfrm>
            <a:off x="1225296" y="2505456"/>
            <a:ext cx="2674620" cy="685800"/>
          </a:xfrm>
          <a:prstGeom prst="rect">
            <a:avLst/>
          </a:prstGeom>
          <a:noFill/>
          <a:ln/>
        </p:spPr>
        <p:txBody>
          <a:bodyPr wrap="square" lIns="0" tIns="0" rIns="0" bIns="0" rtlCol="0" anchor="t"/>
          <a:lstStyle/>
          <a:p>
            <a:pPr marL="0" indent="0">
              <a:buNone/>
            </a:pPr>
            <a:r>
              <a:rPr lang="en-US" sz="1400" dirty="0">
                <a:solidFill>
                  <a:srgbClr val="4A5563"/>
                </a:solidFill>
              </a:rPr>
              <a:t>No public sign‑up; optional authenticator‑app code.</a:t>
            </a:r>
            <a:endParaRPr lang="en-US" sz="1400" dirty="0"/>
          </a:p>
        </p:txBody>
      </p:sp>
      <p:sp>
        <p:nvSpPr>
          <p:cNvPr id="9" name="Shape 6"/>
          <p:cNvSpPr/>
          <p:nvPr/>
        </p:nvSpPr>
        <p:spPr>
          <a:xfrm>
            <a:off x="4046220" y="2176272"/>
            <a:ext cx="512064" cy="512064"/>
          </a:xfrm>
          <a:prstGeom prst="ellipse">
            <a:avLst/>
          </a:prstGeom>
          <a:solidFill>
            <a:srgbClr val="E2E8F0"/>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163995" y="2294047"/>
            <a:ext cx="276515" cy="276515"/>
          </a:xfrm>
          <a:prstGeom prst="rect">
            <a:avLst/>
          </a:prstGeom>
        </p:spPr>
      </p:pic>
      <p:sp>
        <p:nvSpPr>
          <p:cNvPr id="11" name="Text 7"/>
          <p:cNvSpPr txBox="1"/>
          <p:nvPr/>
        </p:nvSpPr>
        <p:spPr>
          <a:xfrm>
            <a:off x="4722876" y="2157984"/>
            <a:ext cx="2674620" cy="310896"/>
          </a:xfrm>
          <a:prstGeom prst="rect">
            <a:avLst/>
          </a:prstGeom>
          <a:noFill/>
          <a:ln/>
        </p:spPr>
        <p:txBody>
          <a:bodyPr wrap="square" lIns="0" tIns="0" rIns="0" bIns="0" rtlCol="0" anchor="ctr"/>
          <a:lstStyle/>
          <a:p>
            <a:pPr marL="0" indent="0">
              <a:buNone/>
            </a:pPr>
            <a:r>
              <a:rPr lang="en-US" sz="1600" b="1" dirty="0">
                <a:solidFill>
                  <a:srgbClr val="16202C"/>
                </a:solidFill>
              </a:rPr>
              <a:t>Every request checked</a:t>
            </a:r>
            <a:endParaRPr lang="en-US" sz="1600" dirty="0"/>
          </a:p>
        </p:txBody>
      </p:sp>
      <p:sp>
        <p:nvSpPr>
          <p:cNvPr id="12" name="Text 8"/>
          <p:cNvSpPr txBox="1"/>
          <p:nvPr/>
        </p:nvSpPr>
        <p:spPr>
          <a:xfrm>
            <a:off x="4722876" y="2505456"/>
            <a:ext cx="2674620" cy="685800"/>
          </a:xfrm>
          <a:prstGeom prst="rect">
            <a:avLst/>
          </a:prstGeom>
          <a:noFill/>
          <a:ln/>
        </p:spPr>
        <p:txBody>
          <a:bodyPr wrap="square" lIns="0" tIns="0" rIns="0" bIns="0" rtlCol="0" anchor="t"/>
          <a:lstStyle/>
          <a:p>
            <a:pPr marL="0" indent="0">
              <a:buNone/>
            </a:pPr>
            <a:r>
              <a:rPr lang="en-US" sz="1400" dirty="0">
                <a:solidFill>
                  <a:srgbClr val="4A5563"/>
                </a:solidFill>
              </a:rPr>
              <a:t>Your login pass is verified on every API call.</a:t>
            </a:r>
            <a:endParaRPr lang="en-US" sz="1400" dirty="0"/>
          </a:p>
        </p:txBody>
      </p:sp>
      <p:sp>
        <p:nvSpPr>
          <p:cNvPr id="13" name="Shape 9"/>
          <p:cNvSpPr/>
          <p:nvPr/>
        </p:nvSpPr>
        <p:spPr>
          <a:xfrm>
            <a:off x="548640" y="3529584"/>
            <a:ext cx="512064" cy="512064"/>
          </a:xfrm>
          <a:prstGeom prst="ellipse">
            <a:avLst/>
          </a:prstGeom>
          <a:solidFill>
            <a:srgbClr val="E2E8F0"/>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6415" y="3647359"/>
            <a:ext cx="276515" cy="276515"/>
          </a:xfrm>
          <a:prstGeom prst="rect">
            <a:avLst/>
          </a:prstGeom>
        </p:spPr>
      </p:pic>
      <p:sp>
        <p:nvSpPr>
          <p:cNvPr id="15" name="Text 10"/>
          <p:cNvSpPr txBox="1"/>
          <p:nvPr/>
        </p:nvSpPr>
        <p:spPr>
          <a:xfrm>
            <a:off x="1225296" y="3511296"/>
            <a:ext cx="2674620" cy="310896"/>
          </a:xfrm>
          <a:prstGeom prst="rect">
            <a:avLst/>
          </a:prstGeom>
          <a:noFill/>
          <a:ln/>
        </p:spPr>
        <p:txBody>
          <a:bodyPr wrap="square" lIns="0" tIns="0" rIns="0" bIns="0" rtlCol="0" anchor="ctr"/>
          <a:lstStyle/>
          <a:p>
            <a:pPr marL="0" indent="0">
              <a:buNone/>
            </a:pPr>
            <a:r>
              <a:rPr lang="en-US" sz="1600" b="1" dirty="0">
                <a:solidFill>
                  <a:srgbClr val="16202C"/>
                </a:solidFill>
              </a:rPr>
              <a:t>Private and encrypted</a:t>
            </a:r>
            <a:endParaRPr lang="en-US" sz="1600" dirty="0"/>
          </a:p>
        </p:txBody>
      </p:sp>
      <p:sp>
        <p:nvSpPr>
          <p:cNvPr id="16" name="Text 11"/>
          <p:cNvSpPr txBox="1"/>
          <p:nvPr/>
        </p:nvSpPr>
        <p:spPr>
          <a:xfrm>
            <a:off x="1225296" y="3858768"/>
            <a:ext cx="2674620" cy="685800"/>
          </a:xfrm>
          <a:prstGeom prst="rect">
            <a:avLst/>
          </a:prstGeom>
          <a:noFill/>
          <a:ln/>
        </p:spPr>
        <p:txBody>
          <a:bodyPr wrap="square" lIns="0" tIns="0" rIns="0" bIns="0" rtlCol="0" anchor="t"/>
          <a:lstStyle/>
          <a:p>
            <a:pPr marL="0" indent="0">
              <a:buNone/>
            </a:pPr>
            <a:r>
              <a:rPr lang="en-US" sz="1400" dirty="0">
                <a:solidFill>
                  <a:srgbClr val="4A5563"/>
                </a:solidFill>
              </a:rPr>
              <a:t>Storage is private; data is encrypted in transit and at rest.</a:t>
            </a:r>
            <a:endParaRPr lang="en-US" sz="1400" dirty="0"/>
          </a:p>
        </p:txBody>
      </p:sp>
      <p:sp>
        <p:nvSpPr>
          <p:cNvPr id="17" name="Shape 12"/>
          <p:cNvSpPr/>
          <p:nvPr/>
        </p:nvSpPr>
        <p:spPr>
          <a:xfrm>
            <a:off x="4046220" y="3529584"/>
            <a:ext cx="512064" cy="512064"/>
          </a:xfrm>
          <a:prstGeom prst="ellipse">
            <a:avLst/>
          </a:prstGeom>
          <a:solidFill>
            <a:srgbClr val="E2E8F0"/>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4163995" y="3647359"/>
            <a:ext cx="276515" cy="276515"/>
          </a:xfrm>
          <a:prstGeom prst="rect">
            <a:avLst/>
          </a:prstGeom>
        </p:spPr>
      </p:pic>
      <p:sp>
        <p:nvSpPr>
          <p:cNvPr id="19" name="Text 13"/>
          <p:cNvSpPr txBox="1"/>
          <p:nvPr/>
        </p:nvSpPr>
        <p:spPr>
          <a:xfrm>
            <a:off x="4722876" y="3511296"/>
            <a:ext cx="2674620" cy="310896"/>
          </a:xfrm>
          <a:prstGeom prst="rect">
            <a:avLst/>
          </a:prstGeom>
          <a:noFill/>
          <a:ln/>
        </p:spPr>
        <p:txBody>
          <a:bodyPr wrap="square" lIns="0" tIns="0" rIns="0" bIns="0" rtlCol="0" anchor="ctr"/>
          <a:lstStyle/>
          <a:p>
            <a:pPr marL="0" indent="0">
              <a:buNone/>
            </a:pPr>
            <a:r>
              <a:rPr lang="en-US" sz="1600" b="1" dirty="0">
                <a:solidFill>
                  <a:srgbClr val="16202C"/>
                </a:solidFill>
              </a:rPr>
              <a:t>Keys in a vault</a:t>
            </a:r>
            <a:endParaRPr lang="en-US" sz="1600" dirty="0"/>
          </a:p>
        </p:txBody>
      </p:sp>
      <p:sp>
        <p:nvSpPr>
          <p:cNvPr id="20" name="Text 14"/>
          <p:cNvSpPr txBox="1"/>
          <p:nvPr/>
        </p:nvSpPr>
        <p:spPr>
          <a:xfrm>
            <a:off x="4722876" y="3858768"/>
            <a:ext cx="2674620" cy="685800"/>
          </a:xfrm>
          <a:prstGeom prst="rect">
            <a:avLst/>
          </a:prstGeom>
          <a:noFill/>
          <a:ln/>
        </p:spPr>
        <p:txBody>
          <a:bodyPr wrap="square" lIns="0" tIns="0" rIns="0" bIns="0" rtlCol="0" anchor="t"/>
          <a:lstStyle/>
          <a:p>
            <a:pPr marL="0" indent="0">
              <a:buNone/>
            </a:pPr>
            <a:r>
              <a:rPr lang="en-US" sz="1400" dirty="0">
                <a:solidFill>
                  <a:srgbClr val="4A5563"/>
                </a:solidFill>
              </a:rPr>
              <a:t>AI and Telegram keys live in Secrets Manager, not in code.</a:t>
            </a:r>
            <a:endParaRPr lang="en-US" sz="1400" dirty="0"/>
          </a:p>
        </p:txBody>
      </p:sp>
      <p:sp>
        <p:nvSpPr>
          <p:cNvPr id="21" name="Shape 15"/>
          <p:cNvSpPr/>
          <p:nvPr/>
        </p:nvSpPr>
        <p:spPr>
          <a:xfrm>
            <a:off x="548640" y="4882896"/>
            <a:ext cx="512064" cy="512064"/>
          </a:xfrm>
          <a:prstGeom prst="ellipse">
            <a:avLst/>
          </a:prstGeom>
          <a:solidFill>
            <a:srgbClr val="E2E8F0"/>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666415" y="5000671"/>
            <a:ext cx="276515" cy="276515"/>
          </a:xfrm>
          <a:prstGeom prst="rect">
            <a:avLst/>
          </a:prstGeom>
        </p:spPr>
      </p:pic>
      <p:sp>
        <p:nvSpPr>
          <p:cNvPr id="23" name="Text 16"/>
          <p:cNvSpPr txBox="1"/>
          <p:nvPr/>
        </p:nvSpPr>
        <p:spPr>
          <a:xfrm>
            <a:off x="1225296" y="4864608"/>
            <a:ext cx="2674620" cy="310896"/>
          </a:xfrm>
          <a:prstGeom prst="rect">
            <a:avLst/>
          </a:prstGeom>
          <a:noFill/>
          <a:ln/>
        </p:spPr>
        <p:txBody>
          <a:bodyPr wrap="square" lIns="0" tIns="0" rIns="0" bIns="0" rtlCol="0" anchor="ctr"/>
          <a:lstStyle/>
          <a:p>
            <a:pPr marL="0" indent="0">
              <a:buNone/>
            </a:pPr>
            <a:r>
              <a:rPr lang="en-US" sz="1600" b="1" dirty="0">
                <a:solidFill>
                  <a:srgbClr val="16202C"/>
                </a:solidFill>
              </a:rPr>
              <a:t>The AI only reads</a:t>
            </a:r>
            <a:endParaRPr lang="en-US" sz="1600" dirty="0"/>
          </a:p>
        </p:txBody>
      </p:sp>
      <p:sp>
        <p:nvSpPr>
          <p:cNvPr id="24" name="Text 17"/>
          <p:cNvSpPr txBox="1"/>
          <p:nvPr/>
        </p:nvSpPr>
        <p:spPr>
          <a:xfrm>
            <a:off x="1225296" y="5212080"/>
            <a:ext cx="2674620" cy="685800"/>
          </a:xfrm>
          <a:prstGeom prst="rect">
            <a:avLst/>
          </a:prstGeom>
          <a:noFill/>
          <a:ln/>
        </p:spPr>
        <p:txBody>
          <a:bodyPr wrap="square" lIns="0" tIns="0" rIns="0" bIns="0" rtlCol="0" anchor="t"/>
          <a:lstStyle/>
          <a:p>
            <a:pPr marL="0" indent="0">
              <a:buNone/>
            </a:pPr>
            <a:r>
              <a:rPr lang="en-US" sz="1400" dirty="0">
                <a:solidFill>
                  <a:srgbClr val="4A5563"/>
                </a:solidFill>
              </a:rPr>
              <a:t>Chat tools are read‑only; article text is treated as untrusted.</a:t>
            </a:r>
            <a:endParaRPr lang="en-US" sz="1400" dirty="0"/>
          </a:p>
        </p:txBody>
      </p:sp>
      <p:sp>
        <p:nvSpPr>
          <p:cNvPr id="25" name="Shape 18"/>
          <p:cNvSpPr/>
          <p:nvPr/>
        </p:nvSpPr>
        <p:spPr>
          <a:xfrm>
            <a:off x="4046220" y="4882896"/>
            <a:ext cx="512064" cy="512064"/>
          </a:xfrm>
          <a:prstGeom prst="ellipse">
            <a:avLst/>
          </a:prstGeom>
          <a:solidFill>
            <a:srgbClr val="E2E8F0"/>
          </a:solidFill>
          <a:ln/>
        </p:spPr>
        <p:txBody>
          <a:bodyPr/>
          <a:lstStyle/>
          <a:p>
            <a:endParaRPr lang="en-US"/>
          </a:p>
        </p:txBody>
      </p:sp>
      <p:pic>
        <p:nvPicPr>
          <p:cNvPr id="26" name="Image 5" descr="preencoded.png"/>
          <p:cNvPicPr>
            <a:picLocks noChangeAspect="1"/>
          </p:cNvPicPr>
          <p:nvPr/>
        </p:nvPicPr>
        <p:blipFill>
          <a:blip r:embed="rId8"/>
          <a:stretch>
            <a:fillRect/>
          </a:stretch>
        </p:blipFill>
        <p:spPr>
          <a:xfrm>
            <a:off x="4163995" y="5000671"/>
            <a:ext cx="276515" cy="276515"/>
          </a:xfrm>
          <a:prstGeom prst="rect">
            <a:avLst/>
          </a:prstGeom>
        </p:spPr>
      </p:pic>
      <p:sp>
        <p:nvSpPr>
          <p:cNvPr id="27" name="Text 19"/>
          <p:cNvSpPr txBox="1"/>
          <p:nvPr/>
        </p:nvSpPr>
        <p:spPr>
          <a:xfrm>
            <a:off x="4722876" y="4864608"/>
            <a:ext cx="2674620" cy="310896"/>
          </a:xfrm>
          <a:prstGeom prst="rect">
            <a:avLst/>
          </a:prstGeom>
          <a:noFill/>
          <a:ln/>
        </p:spPr>
        <p:txBody>
          <a:bodyPr wrap="square" lIns="0" tIns="0" rIns="0" bIns="0" rtlCol="0" anchor="ctr"/>
          <a:lstStyle/>
          <a:p>
            <a:pPr marL="0" indent="0">
              <a:buNone/>
            </a:pPr>
            <a:r>
              <a:rPr lang="en-US" sz="1600" b="1" dirty="0">
                <a:solidFill>
                  <a:srgbClr val="16202C"/>
                </a:solidFill>
              </a:rPr>
              <a:t>Safe web fetching</a:t>
            </a:r>
            <a:endParaRPr lang="en-US" sz="1600" dirty="0"/>
          </a:p>
        </p:txBody>
      </p:sp>
      <p:sp>
        <p:nvSpPr>
          <p:cNvPr id="28" name="Text 20"/>
          <p:cNvSpPr txBox="1"/>
          <p:nvPr/>
        </p:nvSpPr>
        <p:spPr>
          <a:xfrm>
            <a:off x="4722876" y="5212080"/>
            <a:ext cx="2674620" cy="685800"/>
          </a:xfrm>
          <a:prstGeom prst="rect">
            <a:avLst/>
          </a:prstGeom>
          <a:noFill/>
          <a:ln/>
        </p:spPr>
        <p:txBody>
          <a:bodyPr wrap="square" lIns="0" tIns="0" rIns="0" bIns="0" rtlCol="0" anchor="t"/>
          <a:lstStyle/>
          <a:p>
            <a:pPr marL="0" indent="0">
              <a:buNone/>
            </a:pPr>
            <a:r>
              <a:rPr lang="en-US" sz="1400" dirty="0">
                <a:solidFill>
                  <a:srgbClr val="4A5563"/>
                </a:solidFill>
              </a:rPr>
              <a:t>The article reader refuses internal network addresses.</a:t>
            </a:r>
            <a:endParaRPr lang="en-US" sz="1400" dirty="0"/>
          </a:p>
        </p:txBody>
      </p:sp>
      <p:sp>
        <p:nvSpPr>
          <p:cNvPr id="29"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30" name="Image 6" descr="preencoded.png"/>
          <p:cNvPicPr>
            <a:picLocks noChangeAspect="1"/>
          </p:cNvPicPr>
          <p:nvPr/>
        </p:nvPicPr>
        <p:blipFill>
          <a:blip r:embed="rId9"/>
          <a:stretch>
            <a:fillRect/>
          </a:stretch>
        </p:blipFill>
        <p:spPr>
          <a:xfrm>
            <a:off x="8074152" y="2322576"/>
            <a:ext cx="219456" cy="219456"/>
          </a:xfrm>
          <a:prstGeom prst="rect">
            <a:avLst/>
          </a:prstGeom>
        </p:spPr>
      </p:pic>
      <p:sp>
        <p:nvSpPr>
          <p:cNvPr id="31" name="Text 22"/>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32" name="Text 23"/>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Cognito authorizer</a:t>
            </a:r>
            <a:r>
              <a:rPr lang="en-US" sz="1400" dirty="0">
                <a:solidFill>
                  <a:srgbClr val="4A5563"/>
                </a:solidFill>
              </a:rPr>
              <a:t>: on every API route, verified by an automated test.</a:t>
            </a:r>
            <a:endParaRPr lang="en-US" sz="1400" dirty="0"/>
          </a:p>
          <a:p>
            <a:pPr marL="0" indent="0">
              <a:spcAft>
                <a:spcPts val="800"/>
              </a:spcAft>
              <a:buNone/>
            </a:pPr>
            <a:r>
              <a:rPr lang="en-US" sz="1400" b="1" dirty="0">
                <a:solidFill>
                  <a:srgbClr val="16202C"/>
                </a:solidFill>
              </a:rPr>
              <a:t>Least privilege</a:t>
            </a:r>
            <a:r>
              <a:rPr lang="en-US" sz="1400" dirty="0">
                <a:solidFill>
                  <a:srgbClr val="4A5563"/>
                </a:solidFill>
              </a:rPr>
              <a:t>: each function can reach only the data it needs.</a:t>
            </a:r>
            <a:endParaRPr lang="en-US" sz="1400" dirty="0"/>
          </a:p>
          <a:p>
            <a:pPr marL="0" indent="0">
              <a:spcAft>
                <a:spcPts val="800"/>
              </a:spcAft>
              <a:buNone/>
            </a:pPr>
            <a:r>
              <a:rPr lang="en-US" sz="1400" b="1" dirty="0">
                <a:solidFill>
                  <a:srgbClr val="16202C"/>
                </a:solidFill>
              </a:rPr>
              <a:t>cdk‑nag</a:t>
            </a:r>
            <a:r>
              <a:rPr lang="en-US" sz="1400" dirty="0">
                <a:solidFill>
                  <a:srgbClr val="4A5563"/>
                </a:solidFill>
              </a:rPr>
              <a:t>: AWS security rules checked on every build.</a:t>
            </a:r>
            <a:endParaRPr lang="en-US" sz="1400" dirty="0"/>
          </a:p>
          <a:p>
            <a:pPr marL="0" indent="0">
              <a:spcAft>
                <a:spcPts val="800"/>
              </a:spcAft>
              <a:buNone/>
            </a:pPr>
            <a:r>
              <a:rPr lang="en-US" sz="1400" b="1" dirty="0">
                <a:solidFill>
                  <a:srgbClr val="16202C"/>
                </a:solidFill>
              </a:rPr>
              <a:t>Origin Access Control</a:t>
            </a:r>
            <a:r>
              <a:rPr lang="en-US" sz="1400" dirty="0">
                <a:solidFill>
                  <a:srgbClr val="4A5563"/>
                </a:solidFill>
              </a:rPr>
              <a:t>: the website files can only be fetched through CloudFront.</a:t>
            </a:r>
            <a:endParaRPr lang="en-US" sz="1400" dirty="0"/>
          </a:p>
        </p:txBody>
      </p:sp>
      <p:sp>
        <p:nvSpPr>
          <p:cNvPr id="33"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E2E8F0"/>
          </a:solidFill>
          <a:ln/>
        </p:spPr>
        <p:txBody>
          <a:bodyPr wrap="square" lIns="0" tIns="0" rIns="0" bIns="0" rtlCol="0" anchor="ctr"/>
          <a:lstStyle/>
          <a:p>
            <a:pPr marL="0" indent="0" algn="ctr">
              <a:buNone/>
            </a:pPr>
            <a:r>
              <a:rPr lang="en-US" sz="1050" b="1" kern="0" spc="150" dirty="0">
                <a:solidFill>
                  <a:srgbClr val="334155"/>
                </a:solidFill>
              </a:rPr>
              <a:t>OVERVIEW</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What it costs and what could break</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Running costs are small; the main risk is that the free data sources are unofficial, and each one has a paid fallback.</a:t>
            </a:r>
            <a:endParaRPr lang="en-US" sz="1800" dirty="0"/>
          </a:p>
        </p:txBody>
      </p:sp>
      <p:sp>
        <p:nvSpPr>
          <p:cNvPr id="5" name="Text 3"/>
          <p:cNvSpPr txBox="1"/>
          <p:nvPr/>
        </p:nvSpPr>
        <p:spPr>
          <a:xfrm>
            <a:off x="548640" y="2103120"/>
            <a:ext cx="4206240" cy="292608"/>
          </a:xfrm>
          <a:prstGeom prst="rect">
            <a:avLst/>
          </a:prstGeom>
          <a:noFill/>
          <a:ln/>
        </p:spPr>
        <p:txBody>
          <a:bodyPr wrap="square" lIns="0" tIns="0" rIns="0" bIns="0" rtlCol="0" anchor="t"/>
          <a:lstStyle/>
          <a:p>
            <a:pPr marL="0" indent="0">
              <a:buNone/>
            </a:pPr>
            <a:r>
              <a:rPr lang="en-US" sz="1600" b="1" dirty="0">
                <a:solidFill>
                  <a:srgbClr val="16202C"/>
                </a:solidFill>
              </a:rPr>
              <a:t>Monthly running cost</a:t>
            </a:r>
            <a:endParaRPr lang="en-US" sz="1600" dirty="0"/>
          </a:p>
        </p:txBody>
      </p:sp>
      <p:sp>
        <p:nvSpPr>
          <p:cNvPr id="6" name="Text 4"/>
          <p:cNvSpPr txBox="1"/>
          <p:nvPr/>
        </p:nvSpPr>
        <p:spPr>
          <a:xfrm>
            <a:off x="548640" y="2560320"/>
            <a:ext cx="1691640" cy="640080"/>
          </a:xfrm>
          <a:prstGeom prst="rect">
            <a:avLst/>
          </a:prstGeom>
          <a:noFill/>
          <a:ln/>
        </p:spPr>
        <p:txBody>
          <a:bodyPr wrap="square" lIns="0" tIns="0" rIns="0" bIns="0" rtlCol="0" anchor="ctr"/>
          <a:lstStyle/>
          <a:p>
            <a:pPr marL="0" indent="0">
              <a:buNone/>
            </a:pPr>
            <a:r>
              <a:rPr lang="en-US" sz="3000" b="1" dirty="0">
                <a:solidFill>
                  <a:srgbClr val="16202C"/>
                </a:solidFill>
                <a:latin typeface="Cambria" pitchFamily="34" charset="0"/>
                <a:ea typeface="Cambria" pitchFamily="34" charset="-122"/>
                <a:cs typeface="Cambria" pitchFamily="34" charset="-120"/>
              </a:rPr>
              <a:t>&lt; $10</a:t>
            </a:r>
            <a:endParaRPr lang="en-US" sz="3000" dirty="0"/>
          </a:p>
        </p:txBody>
      </p:sp>
      <p:sp>
        <p:nvSpPr>
          <p:cNvPr id="7" name="Text 5"/>
          <p:cNvSpPr txBox="1"/>
          <p:nvPr/>
        </p:nvSpPr>
        <p:spPr>
          <a:xfrm>
            <a:off x="2331720" y="2560320"/>
            <a:ext cx="2423160" cy="640080"/>
          </a:xfrm>
          <a:prstGeom prst="rect">
            <a:avLst/>
          </a:prstGeom>
          <a:noFill/>
          <a:ln/>
        </p:spPr>
        <p:txBody>
          <a:bodyPr wrap="square" lIns="0" tIns="0" rIns="0" bIns="0" rtlCol="0" anchor="ctr"/>
          <a:lstStyle/>
          <a:p>
            <a:pPr marL="0" indent="0">
              <a:buNone/>
            </a:pPr>
            <a:r>
              <a:rPr lang="en-US" sz="1400" dirty="0">
                <a:solidFill>
                  <a:srgbClr val="4A5563"/>
                </a:solidFill>
              </a:rPr>
              <a:t>AWS: hosting, database and workflows</a:t>
            </a:r>
            <a:endParaRPr lang="en-US" sz="1400" dirty="0"/>
          </a:p>
        </p:txBody>
      </p:sp>
      <p:sp>
        <p:nvSpPr>
          <p:cNvPr id="8" name="Text 6"/>
          <p:cNvSpPr txBox="1"/>
          <p:nvPr/>
        </p:nvSpPr>
        <p:spPr>
          <a:xfrm>
            <a:off x="548640" y="3429000"/>
            <a:ext cx="1691640" cy="640080"/>
          </a:xfrm>
          <a:prstGeom prst="rect">
            <a:avLst/>
          </a:prstGeom>
          <a:noFill/>
          <a:ln/>
        </p:spPr>
        <p:txBody>
          <a:bodyPr wrap="square" lIns="0" tIns="0" rIns="0" bIns="0" rtlCol="0" anchor="ctr"/>
          <a:lstStyle/>
          <a:p>
            <a:pPr marL="0" indent="0">
              <a:buNone/>
            </a:pPr>
            <a:r>
              <a:rPr lang="en-US" sz="3000" b="1" dirty="0">
                <a:solidFill>
                  <a:srgbClr val="16202C"/>
                </a:solidFill>
                <a:latin typeface="Cambria" pitchFamily="34" charset="0"/>
                <a:ea typeface="Cambria" pitchFamily="34" charset="-122"/>
                <a:cs typeface="Cambria" pitchFamily="34" charset="-120"/>
              </a:rPr>
              <a:t>$0</a:t>
            </a:r>
            <a:endParaRPr lang="en-US" sz="3000" dirty="0"/>
          </a:p>
        </p:txBody>
      </p:sp>
      <p:sp>
        <p:nvSpPr>
          <p:cNvPr id="9" name="Text 7"/>
          <p:cNvSpPr txBox="1"/>
          <p:nvPr/>
        </p:nvSpPr>
        <p:spPr>
          <a:xfrm>
            <a:off x="2331720" y="3429000"/>
            <a:ext cx="2423160" cy="640080"/>
          </a:xfrm>
          <a:prstGeom prst="rect">
            <a:avLst/>
          </a:prstGeom>
          <a:noFill/>
          <a:ln/>
        </p:spPr>
        <p:txBody>
          <a:bodyPr wrap="square" lIns="0" tIns="0" rIns="0" bIns="0" rtlCol="0" anchor="ctr"/>
          <a:lstStyle/>
          <a:p>
            <a:pPr marL="0" indent="0">
              <a:buNone/>
            </a:pPr>
            <a:r>
              <a:rPr lang="en-US" sz="1400" dirty="0">
                <a:solidFill>
                  <a:srgbClr val="4A5563"/>
                </a:solidFill>
              </a:rPr>
              <a:t>News and price data, and Telegram</a:t>
            </a:r>
            <a:endParaRPr lang="en-US" sz="1400" dirty="0"/>
          </a:p>
        </p:txBody>
      </p:sp>
      <p:sp>
        <p:nvSpPr>
          <p:cNvPr id="10" name="Text 8"/>
          <p:cNvSpPr txBox="1"/>
          <p:nvPr/>
        </p:nvSpPr>
        <p:spPr>
          <a:xfrm>
            <a:off x="548640" y="4297680"/>
            <a:ext cx="1691640" cy="640080"/>
          </a:xfrm>
          <a:prstGeom prst="rect">
            <a:avLst/>
          </a:prstGeom>
          <a:noFill/>
          <a:ln/>
        </p:spPr>
        <p:txBody>
          <a:bodyPr wrap="square" lIns="0" tIns="0" rIns="0" bIns="0" rtlCol="0" anchor="ctr"/>
          <a:lstStyle/>
          <a:p>
            <a:pPr marL="0" indent="0">
              <a:buNone/>
            </a:pPr>
            <a:r>
              <a:rPr lang="en-US" sz="3000" b="1" dirty="0">
                <a:solidFill>
                  <a:srgbClr val="16202C"/>
                </a:solidFill>
                <a:latin typeface="Cambria" pitchFamily="34" charset="0"/>
                <a:ea typeface="Cambria" pitchFamily="34" charset="-122"/>
                <a:cs typeface="Cambria" pitchFamily="34" charset="-120"/>
              </a:rPr>
              <a:t>$30–45</a:t>
            </a:r>
            <a:endParaRPr lang="en-US" sz="3000" dirty="0"/>
          </a:p>
        </p:txBody>
      </p:sp>
      <p:sp>
        <p:nvSpPr>
          <p:cNvPr id="11" name="Text 9"/>
          <p:cNvSpPr txBox="1"/>
          <p:nvPr/>
        </p:nvSpPr>
        <p:spPr>
          <a:xfrm>
            <a:off x="2331720" y="4297680"/>
            <a:ext cx="2423160" cy="640080"/>
          </a:xfrm>
          <a:prstGeom prst="rect">
            <a:avLst/>
          </a:prstGeom>
          <a:noFill/>
          <a:ln/>
        </p:spPr>
        <p:txBody>
          <a:bodyPr wrap="square" lIns="0" tIns="0" rIns="0" bIns="0" rtlCol="0" anchor="ctr"/>
          <a:lstStyle/>
          <a:p>
            <a:pPr marL="0" indent="0">
              <a:buNone/>
            </a:pPr>
            <a:r>
              <a:rPr lang="en-US" sz="1400" dirty="0">
                <a:solidFill>
                  <a:srgbClr val="4A5563"/>
                </a:solidFill>
              </a:rPr>
              <a:t>AI tagging with Claude Opus (Haiku: $1–3)</a:t>
            </a:r>
            <a:endParaRPr lang="en-US" sz="1400" dirty="0"/>
          </a:p>
        </p:txBody>
      </p:sp>
      <p:sp>
        <p:nvSpPr>
          <p:cNvPr id="12" name="Text 10"/>
          <p:cNvSpPr txBox="1"/>
          <p:nvPr/>
        </p:nvSpPr>
        <p:spPr>
          <a:xfrm>
            <a:off x="548640" y="5166360"/>
            <a:ext cx="1691640" cy="640080"/>
          </a:xfrm>
          <a:prstGeom prst="rect">
            <a:avLst/>
          </a:prstGeom>
          <a:noFill/>
          <a:ln/>
        </p:spPr>
        <p:txBody>
          <a:bodyPr wrap="square" lIns="0" tIns="0" rIns="0" bIns="0" rtlCol="0" anchor="ctr"/>
          <a:lstStyle/>
          <a:p>
            <a:pPr marL="0" indent="0">
              <a:buNone/>
            </a:pPr>
            <a:r>
              <a:rPr lang="en-US" sz="3000" b="1" dirty="0">
                <a:solidFill>
                  <a:srgbClr val="16202C"/>
                </a:solidFill>
                <a:latin typeface="Cambria" pitchFamily="34" charset="0"/>
                <a:ea typeface="Cambria" pitchFamily="34" charset="-122"/>
                <a:cs typeface="Cambria" pitchFamily="34" charset="-120"/>
              </a:rPr>
              <a:t>$0.10</a:t>
            </a:r>
            <a:endParaRPr lang="en-US" sz="3000" dirty="0"/>
          </a:p>
        </p:txBody>
      </p:sp>
      <p:sp>
        <p:nvSpPr>
          <p:cNvPr id="13" name="Text 11"/>
          <p:cNvSpPr txBox="1"/>
          <p:nvPr/>
        </p:nvSpPr>
        <p:spPr>
          <a:xfrm>
            <a:off x="2331720" y="5166360"/>
            <a:ext cx="2423160" cy="640080"/>
          </a:xfrm>
          <a:prstGeom prst="rect">
            <a:avLst/>
          </a:prstGeom>
          <a:noFill/>
          <a:ln/>
        </p:spPr>
        <p:txBody>
          <a:bodyPr wrap="square" lIns="0" tIns="0" rIns="0" bIns="0" rtlCol="0" anchor="ctr"/>
          <a:lstStyle/>
          <a:p>
            <a:pPr marL="0" indent="0">
              <a:buNone/>
            </a:pPr>
            <a:r>
              <a:rPr lang="en-US" sz="1400" dirty="0">
                <a:solidFill>
                  <a:srgbClr val="4A5563"/>
                </a:solidFill>
              </a:rPr>
              <a:t>Roughly, per chat question</a:t>
            </a:r>
            <a:endParaRPr lang="en-US" sz="1400" dirty="0"/>
          </a:p>
        </p:txBody>
      </p:sp>
      <p:sp>
        <p:nvSpPr>
          <p:cNvPr id="14" name="Text 12"/>
          <p:cNvSpPr txBox="1"/>
          <p:nvPr/>
        </p:nvSpPr>
        <p:spPr>
          <a:xfrm>
            <a:off x="5120640" y="2103120"/>
            <a:ext cx="6522415" cy="292608"/>
          </a:xfrm>
          <a:prstGeom prst="rect">
            <a:avLst/>
          </a:prstGeom>
          <a:noFill/>
          <a:ln/>
        </p:spPr>
        <p:txBody>
          <a:bodyPr wrap="square" lIns="0" tIns="0" rIns="0" bIns="0" rtlCol="0" anchor="t"/>
          <a:lstStyle/>
          <a:p>
            <a:pPr marL="0" indent="0">
              <a:buNone/>
            </a:pPr>
            <a:r>
              <a:rPr lang="en-US" sz="1600" b="1" dirty="0">
                <a:solidFill>
                  <a:srgbClr val="16202C"/>
                </a:solidFill>
              </a:rPr>
              <a:t>What could break, and the fallback</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120640" y="2560320"/>
          <a:ext cx="6522415" cy="1932432"/>
        </p:xfrm>
        <a:graphic>
          <a:graphicData uri="http://schemas.openxmlformats.org/drawingml/2006/table">
            <a:tbl>
              <a:tblPr/>
              <a:tblGrid>
                <a:gridCol w="23317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950415">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4A5563"/>
                          </a:solidFill>
                        </a:rPr>
                        <a:t>Risk</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400" b="1" dirty="0">
                          <a:solidFill>
                            <a:srgbClr val="4A5563"/>
                          </a:solidFill>
                        </a:rPr>
                        <a:t>What happens then</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400" b="1" dirty="0">
                          <a:solidFill>
                            <a:srgbClr val="4A5563"/>
                          </a:solidFill>
                        </a:rPr>
                        <a:t>Paid fallback</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6202C"/>
                          </a:solidFill>
                        </a:rPr>
                        <a:t>Google News links are unofficial and can break</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400" dirty="0">
                          <a:solidFill>
                            <a:srgbClr val="16202C"/>
                          </a:solidFill>
                        </a:rPr>
                        <a:t>We keep the Google link; GDELT gives direct links</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400" dirty="0">
                          <a:solidFill>
                            <a:srgbClr val="16202C"/>
                          </a:solidFill>
                        </a:rPr>
                        <a:t>Serper: $50 per 50,000 searches</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400" dirty="0">
                          <a:solidFill>
                            <a:srgbClr val="16202C"/>
                          </a:solidFill>
                        </a:rPr>
                        <a:t>Yahoo Finance may block cloud servers</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400" dirty="0">
                          <a:solidFill>
                            <a:srgbClr val="16202C"/>
                          </a:solidFill>
                        </a:rPr>
                        <a:t>“Not updating” badge and a Telegram alert</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400" dirty="0">
                          <a:solidFill>
                            <a:srgbClr val="16202C"/>
                          </a:solidFill>
                        </a:rPr>
                        <a:t>EODHD: $19.99/month</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400" dirty="0">
                          <a:solidFill>
                            <a:srgbClr val="16202C"/>
                          </a:solidFill>
                        </a:rPr>
                        <a:t>GDELT only covers about 3 months</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400" dirty="0">
                          <a:solidFill>
                            <a:srgbClr val="16202C"/>
                          </a:solidFill>
                        </a:rPr>
                        <a:t>Older backfills rely on Google News</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400" dirty="0">
                          <a:solidFill>
                            <a:srgbClr val="16202C"/>
                          </a:solidFill>
                        </a:rPr>
                        <a:t>NewsData.io archive: from $199.99/month</a:t>
                      </a:r>
                      <a:endParaRPr lang="en-US" sz="1400" dirty="0"/>
                    </a:p>
                  </a:txBody>
                  <a:tcPr marT="54864" marB="54864">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Shape 13"/>
          <p:cNvSpPr/>
          <p:nvPr/>
        </p:nvSpPr>
        <p:spPr>
          <a:xfrm>
            <a:off x="5120640" y="5596128"/>
            <a:ext cx="6522415" cy="667512"/>
          </a:xfrm>
          <a:prstGeom prst="roundRect">
            <a:avLst>
              <a:gd name="adj" fmla="val 13699"/>
            </a:avLst>
          </a:prstGeom>
          <a:solidFill>
            <a:srgbClr val="F3F4F6"/>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5349240" y="5797296"/>
            <a:ext cx="219456" cy="219456"/>
          </a:xfrm>
          <a:prstGeom prst="rect">
            <a:avLst/>
          </a:prstGeom>
        </p:spPr>
      </p:pic>
      <p:sp>
        <p:nvSpPr>
          <p:cNvPr id="15" name="Text 14"/>
          <p:cNvSpPr txBox="1"/>
          <p:nvPr/>
        </p:nvSpPr>
        <p:spPr>
          <a:xfrm>
            <a:off x="5687568" y="5669280"/>
            <a:ext cx="5790895" cy="521208"/>
          </a:xfrm>
          <a:prstGeom prst="rect">
            <a:avLst/>
          </a:prstGeom>
          <a:noFill/>
          <a:ln/>
        </p:spPr>
        <p:txBody>
          <a:bodyPr wrap="square" lIns="0" tIns="0" rIns="0" bIns="0" rtlCol="0" anchor="ctr"/>
          <a:lstStyle/>
          <a:p>
            <a:pPr marL="0" indent="0">
              <a:buNone/>
            </a:pPr>
            <a:r>
              <a:rPr lang="en-US" sz="1400" b="1" dirty="0">
                <a:solidFill>
                  <a:srgbClr val="16202C"/>
                </a:solidFill>
              </a:rPr>
              <a:t>Under the hood: </a:t>
            </a:r>
            <a:r>
              <a:rPr lang="en-US" sz="1400" dirty="0">
                <a:solidFill>
                  <a:srgbClr val="4A5563"/>
                </a:solidFill>
              </a:rPr>
              <a:t>token usage is recorded per run (Settings → Daily run). Prices as researched in October 2026.</a:t>
            </a:r>
            <a:endParaRPr lang="en-US" sz="1400" dirty="0"/>
          </a:p>
        </p:txBody>
      </p:sp>
      <p:sp>
        <p:nvSpPr>
          <p:cNvPr id="25"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ag"/>
          <p:cNvSpPr/>
          <p:nvPr/>
        </p:nvSpPr>
        <p:spPr>
          <a:xfrm>
            <a:off x="548640" y="329184"/>
            <a:ext cx="1057046" cy="274320"/>
          </a:xfrm>
          <a:prstGeom prst="roundRect">
            <a:avLst>
              <a:gd name="adj" fmla="val 50000"/>
            </a:avLst>
          </a:prstGeom>
          <a:solidFill>
            <a:srgbClr val="E2E8F0"/>
          </a:solidFill>
          <a:ln/>
        </p:spPr>
        <p:txBody>
          <a:bodyPr wrap="square" lIns="0" tIns="0" rIns="0" bIns="0" rtlCol="0" anchor="ctr"/>
          <a:lstStyle/>
          <a:p>
            <a:pPr marL="0" indent="0" algn="ctr">
              <a:buNone/>
            </a:pPr>
            <a:r>
              <a:rPr lang="en-US" sz="1050" b="1" kern="0" spc="150" dirty="0">
                <a:solidFill>
                  <a:srgbClr val="334155"/>
                </a:solidFill>
              </a:rPr>
              <a:t>OVERVIEW</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Where we are and what’s next</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Built and tested, with a live demo on fictional data; going live on AWS is the next step.</a:t>
            </a:r>
            <a:endParaRPr lang="en-US" sz="1800" dirty="0"/>
          </a:p>
        </p:txBody>
      </p:sp>
      <p:sp>
        <p:nvSpPr>
          <p:cNvPr id="5" name="Shape 3"/>
          <p:cNvSpPr/>
          <p:nvPr/>
        </p:nvSpPr>
        <p:spPr>
          <a:xfrm>
            <a:off x="548640" y="2103120"/>
            <a:ext cx="3515258" cy="3310128"/>
          </a:xfrm>
          <a:prstGeom prst="roundRect">
            <a:avLst>
              <a:gd name="adj" fmla="val 2762"/>
            </a:avLst>
          </a:prstGeom>
          <a:solidFill>
            <a:srgbClr val="FFFFFF"/>
          </a:solidFill>
          <a:ln w="12700">
            <a:solidFill>
              <a:srgbClr val="E5E7EB"/>
            </a:solidFill>
            <a:prstDash val="solid"/>
          </a:ln>
        </p:spPr>
        <p:txBody>
          <a:bodyPr/>
          <a:lstStyle/>
          <a:p>
            <a:endParaRPr lang="en-US"/>
          </a:p>
        </p:txBody>
      </p:sp>
      <p:sp>
        <p:nvSpPr>
          <p:cNvPr id="6" name="Shape 4"/>
          <p:cNvSpPr/>
          <p:nvPr/>
        </p:nvSpPr>
        <p:spPr>
          <a:xfrm>
            <a:off x="777240" y="2331720"/>
            <a:ext cx="512064" cy="512064"/>
          </a:xfrm>
          <a:prstGeom prst="ellipse">
            <a:avLst/>
          </a:prstGeom>
          <a:solidFill>
            <a:srgbClr val="E2E8F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95015" y="2449495"/>
            <a:ext cx="276515" cy="276515"/>
          </a:xfrm>
          <a:prstGeom prst="rect">
            <a:avLst/>
          </a:prstGeom>
        </p:spPr>
      </p:pic>
      <p:sp>
        <p:nvSpPr>
          <p:cNvPr id="8" name="Text 5"/>
          <p:cNvSpPr txBox="1"/>
          <p:nvPr/>
        </p:nvSpPr>
        <p:spPr>
          <a:xfrm>
            <a:off x="1417320" y="2359152"/>
            <a:ext cx="2509418" cy="457200"/>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Done</a:t>
            </a:r>
            <a:endParaRPr lang="en-US" sz="2000" dirty="0"/>
          </a:p>
        </p:txBody>
      </p:sp>
      <p:sp>
        <p:nvSpPr>
          <p:cNvPr id="9" name="Text 6"/>
          <p:cNvSpPr txBox="1"/>
          <p:nvPr/>
        </p:nvSpPr>
        <p:spPr>
          <a:xfrm>
            <a:off x="777240" y="3035808"/>
            <a:ext cx="3103778" cy="226771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4A5563"/>
                </a:solidFill>
              </a:rPr>
              <a:t>Dashboard, news pipeline, chat and stock panel are built</a:t>
            </a:r>
            <a:endParaRPr lang="en-US" sz="1600" dirty="0"/>
          </a:p>
          <a:p>
            <a:pPr marL="228600" indent="-228600">
              <a:spcAft>
                <a:spcPts val="800"/>
              </a:spcAft>
              <a:buSzPct val="100000"/>
              <a:buChar char="•"/>
            </a:pPr>
            <a:r>
              <a:rPr lang="en-US" sz="1600">
                <a:solidFill>
                  <a:srgbClr val="4A5563"/>
                </a:solidFill>
              </a:rPr>
              <a:t>96 automated tests </a:t>
            </a:r>
            <a:r>
              <a:rPr lang="en-US" sz="1600" dirty="0">
                <a:solidFill>
                  <a:srgbClr val="4A5563"/>
                </a:solidFill>
              </a:rPr>
              <a:t>and the AWS security checks pass</a:t>
            </a:r>
            <a:endParaRPr lang="en-US" sz="1600" dirty="0"/>
          </a:p>
          <a:p>
            <a:pPr marL="228600" indent="-228600">
              <a:spcAft>
                <a:spcPts val="800"/>
              </a:spcAft>
              <a:buSzPct val="100000"/>
              <a:buChar char="•"/>
            </a:pPr>
            <a:r>
              <a:rPr lang="en-US" sz="1600" dirty="0">
                <a:solidFill>
                  <a:srgbClr val="4A5563"/>
                </a:solidFill>
              </a:rPr>
              <a:t>Live demo with fictional data:</a:t>
            </a:r>
            <a:br/>
            <a:r>
              <a:rPr lang="en-US" sz="1600" u="sng" dirty="0">
                <a:solidFill>
                  <a:srgbClr val="1F5FAF"/>
                </a:solidFill>
                <a:hlinkClick r:id="rId4">
                  <a:extLst>
                    <a:ext uri="{A12FA001-AC4F-418D-AE19-62706E023703}">
                      <ahyp:hlinkClr xmlns:ahyp="http://schemas.microsoft.com/office/drawing/2018/hyperlinkcolor" val="tx"/>
                    </a:ext>
                  </a:extLst>
                </a:hlinkClick>
              </a:rPr>
              <a:t>news-desk-demo.vercel.app</a:t>
            </a:r>
            <a:endParaRPr lang="en-US" sz="1600" dirty="0"/>
          </a:p>
        </p:txBody>
      </p:sp>
      <p:sp>
        <p:nvSpPr>
          <p:cNvPr id="10" name="Shape 7"/>
          <p:cNvSpPr/>
          <p:nvPr/>
        </p:nvSpPr>
        <p:spPr>
          <a:xfrm>
            <a:off x="4338218" y="2103120"/>
            <a:ext cx="3515258" cy="3310128"/>
          </a:xfrm>
          <a:prstGeom prst="roundRect">
            <a:avLst>
              <a:gd name="adj" fmla="val 2762"/>
            </a:avLst>
          </a:prstGeom>
          <a:solidFill>
            <a:srgbClr val="F8FAFC"/>
          </a:solidFill>
          <a:ln w="12700">
            <a:solidFill>
              <a:srgbClr val="E5E7EB"/>
            </a:solidFill>
            <a:prstDash val="solid"/>
          </a:ln>
        </p:spPr>
        <p:txBody>
          <a:bodyPr/>
          <a:lstStyle/>
          <a:p>
            <a:endParaRPr lang="en-US"/>
          </a:p>
        </p:txBody>
      </p:sp>
      <p:sp>
        <p:nvSpPr>
          <p:cNvPr id="11" name="Shape 8"/>
          <p:cNvSpPr/>
          <p:nvPr/>
        </p:nvSpPr>
        <p:spPr>
          <a:xfrm>
            <a:off x="4566818" y="2331720"/>
            <a:ext cx="512064" cy="512064"/>
          </a:xfrm>
          <a:prstGeom prst="ellipse">
            <a:avLst/>
          </a:prstGeom>
          <a:solidFill>
            <a:srgbClr val="E2E8F0"/>
          </a:solidFill>
          <a:ln/>
        </p:spPr>
        <p:txBody>
          <a:bodyPr/>
          <a:lstStyle/>
          <a:p>
            <a:endParaRPr lang="en-US"/>
          </a:p>
        </p:txBody>
      </p:sp>
      <p:pic>
        <p:nvPicPr>
          <p:cNvPr id="12" name="Image 1" descr="preencoded.png"/>
          <p:cNvPicPr>
            <a:picLocks noChangeAspect="1"/>
          </p:cNvPicPr>
          <p:nvPr/>
        </p:nvPicPr>
        <p:blipFill>
          <a:blip r:embed="rId5"/>
          <a:stretch>
            <a:fillRect/>
          </a:stretch>
        </p:blipFill>
        <p:spPr>
          <a:xfrm>
            <a:off x="4684593" y="2449495"/>
            <a:ext cx="276515" cy="276515"/>
          </a:xfrm>
          <a:prstGeom prst="rect">
            <a:avLst/>
          </a:prstGeom>
        </p:spPr>
      </p:pic>
      <p:sp>
        <p:nvSpPr>
          <p:cNvPr id="13" name="Text 9"/>
          <p:cNvSpPr txBox="1"/>
          <p:nvPr/>
        </p:nvSpPr>
        <p:spPr>
          <a:xfrm>
            <a:off x="5206898" y="2359152"/>
            <a:ext cx="2509418" cy="457200"/>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Next</a:t>
            </a:r>
            <a:endParaRPr lang="en-US" sz="2000" dirty="0"/>
          </a:p>
        </p:txBody>
      </p:sp>
      <p:sp>
        <p:nvSpPr>
          <p:cNvPr id="14" name="Text 10"/>
          <p:cNvSpPr txBox="1"/>
          <p:nvPr/>
        </p:nvSpPr>
        <p:spPr>
          <a:xfrm>
            <a:off x="4566818" y="3035808"/>
            <a:ext cx="3103778" cy="2267712"/>
          </a:xfrm>
          <a:prstGeom prst="rect">
            <a:avLst/>
          </a:prstGeom>
          <a:noFill/>
          <a:ln/>
        </p:spPr>
        <p:txBody>
          <a:bodyPr wrap="square" lIns="0" tIns="0" rIns="0" bIns="0" rtlCol="0" anchor="t"/>
          <a:lstStyle/>
          <a:p>
            <a:pPr marL="254000" indent="-254000">
              <a:spcAft>
                <a:spcPts val="800"/>
              </a:spcAft>
              <a:buSzPct val="100000"/>
              <a:buFont typeface="+mj-lt"/>
              <a:buAutoNum type="arabicPeriod"/>
            </a:pPr>
            <a:r>
              <a:rPr lang="en-US" sz="1600">
                <a:solidFill>
                  <a:srgbClr val="4A5563"/>
                </a:solidFill>
              </a:rPr>
              <a:t>Deploy to AWS Singapore</a:t>
            </a:r>
            <a:endParaRPr lang="en-US" sz="1600" dirty="0"/>
          </a:p>
          <a:p>
            <a:pPr marL="254000" indent="-254000">
              <a:spcAft>
                <a:spcPts val="800"/>
              </a:spcAft>
              <a:buSzPct val="100000"/>
              <a:buFont typeface="+mj-lt"/>
              <a:buAutoNum type="arabicPeriod"/>
            </a:pPr>
            <a:r>
              <a:rPr lang="en-US" sz="1600" dirty="0">
                <a:solidFill>
                  <a:srgbClr val="4A5563"/>
                </a:solidFill>
              </a:rPr>
              <a:t>Add the AI and Telegram keys</a:t>
            </a:r>
            <a:endParaRPr lang="en-US" sz="1600" dirty="0"/>
          </a:p>
          <a:p>
            <a:pPr marL="254000" indent="-254000">
              <a:spcAft>
                <a:spcPts val="800"/>
              </a:spcAft>
              <a:buSzPct val="100000"/>
              <a:buFont typeface="+mj-lt"/>
              <a:buAutoNum type="arabicPeriod"/>
            </a:pPr>
            <a:r>
              <a:rPr lang="en-US" sz="1600" dirty="0">
                <a:solidFill>
                  <a:srgbClr val="4A5563"/>
                </a:solidFill>
              </a:rPr>
              <a:t>Invite you as a user</a:t>
            </a:r>
            <a:endParaRPr lang="en-US" sz="1600" dirty="0"/>
          </a:p>
          <a:p>
            <a:pPr marL="254000" indent="-254000">
              <a:spcAft>
                <a:spcPts val="800"/>
              </a:spcAft>
              <a:buSzPct val="100000"/>
              <a:buFont typeface="+mj-lt"/>
              <a:buAutoNum type="arabicPeriod"/>
            </a:pPr>
            <a:r>
              <a:rPr lang="en-US" sz="1600" dirty="0">
                <a:solidFill>
                  <a:srgbClr val="4A5563"/>
                </a:solidFill>
              </a:rPr>
              <a:t>Connect Telegram</a:t>
            </a:r>
            <a:endParaRPr lang="en-US" sz="1600" dirty="0"/>
          </a:p>
          <a:p>
            <a:pPr marL="254000" indent="-254000">
              <a:spcAft>
                <a:spcPts val="800"/>
              </a:spcAft>
              <a:buSzPct val="100000"/>
              <a:buFont typeface="+mj-lt"/>
              <a:buAutoNum type="arabicPeriod"/>
            </a:pPr>
            <a:r>
              <a:rPr lang="en-US" sz="1600" dirty="0">
                <a:solidFill>
                  <a:srgbClr val="4A5563"/>
                </a:solidFill>
              </a:rPr>
              <a:t>Add the topics to follow</a:t>
            </a:r>
            <a:endParaRPr lang="en-US" sz="1600" dirty="0"/>
          </a:p>
        </p:txBody>
      </p:sp>
      <p:sp>
        <p:nvSpPr>
          <p:cNvPr id="15" name="Shape 11"/>
          <p:cNvSpPr/>
          <p:nvPr/>
        </p:nvSpPr>
        <p:spPr>
          <a:xfrm>
            <a:off x="8127797" y="2103120"/>
            <a:ext cx="3515258" cy="3310128"/>
          </a:xfrm>
          <a:prstGeom prst="roundRect">
            <a:avLst>
              <a:gd name="adj" fmla="val 2762"/>
            </a:avLst>
          </a:prstGeom>
          <a:solidFill>
            <a:srgbClr val="FFFFFF"/>
          </a:solidFill>
          <a:ln w="12700">
            <a:solidFill>
              <a:srgbClr val="E5E7EB"/>
            </a:solidFill>
            <a:prstDash val="solid"/>
          </a:ln>
        </p:spPr>
        <p:txBody>
          <a:bodyPr/>
          <a:lstStyle/>
          <a:p>
            <a:endParaRPr lang="en-US"/>
          </a:p>
        </p:txBody>
      </p:sp>
      <p:sp>
        <p:nvSpPr>
          <p:cNvPr id="16" name="Shape 12"/>
          <p:cNvSpPr/>
          <p:nvPr/>
        </p:nvSpPr>
        <p:spPr>
          <a:xfrm>
            <a:off x="8356397" y="2331720"/>
            <a:ext cx="512064" cy="512064"/>
          </a:xfrm>
          <a:prstGeom prst="ellipse">
            <a:avLst/>
          </a:prstGeom>
          <a:solidFill>
            <a:srgbClr val="E2E8F0"/>
          </a:solidFill>
          <a:ln/>
        </p:spPr>
        <p:txBody>
          <a:bodyPr/>
          <a:lstStyle/>
          <a:p>
            <a:endParaRPr lang="en-US"/>
          </a:p>
        </p:txBody>
      </p:sp>
      <p:pic>
        <p:nvPicPr>
          <p:cNvPr id="17" name="Image 2" descr="preencoded.png"/>
          <p:cNvPicPr>
            <a:picLocks noChangeAspect="1"/>
          </p:cNvPicPr>
          <p:nvPr/>
        </p:nvPicPr>
        <p:blipFill>
          <a:blip r:embed="rId6"/>
          <a:stretch>
            <a:fillRect/>
          </a:stretch>
        </p:blipFill>
        <p:spPr>
          <a:xfrm>
            <a:off x="8474172" y="2449495"/>
            <a:ext cx="276515" cy="276515"/>
          </a:xfrm>
          <a:prstGeom prst="rect">
            <a:avLst/>
          </a:prstGeom>
        </p:spPr>
      </p:pic>
      <p:sp>
        <p:nvSpPr>
          <p:cNvPr id="18" name="Text 13"/>
          <p:cNvSpPr txBox="1"/>
          <p:nvPr/>
        </p:nvSpPr>
        <p:spPr>
          <a:xfrm>
            <a:off x="8996477" y="2359152"/>
            <a:ext cx="2509418" cy="457200"/>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Later ideas</a:t>
            </a:r>
            <a:endParaRPr lang="en-US" sz="2000" dirty="0"/>
          </a:p>
        </p:txBody>
      </p:sp>
      <p:sp>
        <p:nvSpPr>
          <p:cNvPr id="19" name="Text 14"/>
          <p:cNvSpPr txBox="1"/>
          <p:nvPr/>
        </p:nvSpPr>
        <p:spPr>
          <a:xfrm>
            <a:off x="8356397" y="3035808"/>
            <a:ext cx="3103778" cy="226771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4A5563"/>
                </a:solidFill>
              </a:rPr>
              <a:t>Let other AI tools query the archive (MCP)</a:t>
            </a:r>
            <a:endParaRPr lang="en-US" sz="1600" dirty="0"/>
          </a:p>
          <a:p>
            <a:pPr marL="228600" indent="-228600">
              <a:spcAft>
                <a:spcPts val="800"/>
              </a:spcAft>
              <a:buSzPct val="100000"/>
              <a:buChar char="•"/>
            </a:pPr>
            <a:r>
              <a:rPr lang="en-US" sz="1600" dirty="0">
                <a:solidFill>
                  <a:srgbClr val="4A5563"/>
                </a:solidFill>
              </a:rPr>
              <a:t>Save or skip straight from Telegram</a:t>
            </a:r>
            <a:endParaRPr lang="en-US" sz="1600" dirty="0"/>
          </a:p>
          <a:p>
            <a:pPr marL="228600" indent="-228600">
              <a:spcAft>
                <a:spcPts val="800"/>
              </a:spcAft>
              <a:buSzPct val="100000"/>
              <a:buChar char="•"/>
            </a:pPr>
            <a:r>
              <a:rPr lang="en-US" sz="1600" dirty="0">
                <a:solidFill>
                  <a:srgbClr val="4A5563"/>
                </a:solidFill>
              </a:rPr>
              <a:t>Group near‑duplicate stories</a:t>
            </a:r>
            <a:endParaRPr lang="en-US" sz="1600" dirty="0"/>
          </a:p>
          <a:p>
            <a:pPr marL="228600" indent="-228600">
              <a:spcAft>
                <a:spcPts val="800"/>
              </a:spcAft>
              <a:buSzPct val="100000"/>
              <a:buChar char="•"/>
            </a:pPr>
            <a:r>
              <a:rPr lang="en-US" sz="1600" dirty="0">
                <a:solidFill>
                  <a:srgbClr val="4A5563"/>
                </a:solidFill>
              </a:rPr>
              <a:t>Watch IDX company disclosures</a:t>
            </a:r>
            <a:endParaRPr lang="en-US" sz="1600" dirty="0"/>
          </a:p>
        </p:txBody>
      </p:sp>
      <p:pic>
        <p:nvPicPr>
          <p:cNvPr id="20" name="Image 3" descr="preencoded.png"/>
          <p:cNvPicPr>
            <a:picLocks noChangeAspect="1"/>
          </p:cNvPicPr>
          <p:nvPr/>
        </p:nvPicPr>
        <p:blipFill>
          <a:blip r:embed="rId7"/>
          <a:stretch>
            <a:fillRect/>
          </a:stretch>
        </p:blipFill>
        <p:spPr>
          <a:xfrm>
            <a:off x="548640" y="5733288"/>
            <a:ext cx="256032" cy="256032"/>
          </a:xfrm>
          <a:prstGeom prst="rect">
            <a:avLst/>
          </a:prstGeom>
        </p:spPr>
      </p:pic>
      <p:sp>
        <p:nvSpPr>
          <p:cNvPr id="21" name="Text 15"/>
          <p:cNvSpPr txBox="1"/>
          <p:nvPr/>
        </p:nvSpPr>
        <p:spPr>
          <a:xfrm>
            <a:off x="932688" y="5678424"/>
            <a:ext cx="10710367" cy="365760"/>
          </a:xfrm>
          <a:prstGeom prst="rect">
            <a:avLst/>
          </a:prstGeom>
          <a:noFill/>
          <a:ln/>
        </p:spPr>
        <p:txBody>
          <a:bodyPr wrap="square" lIns="0" tIns="0" rIns="0" bIns="0" rtlCol="0" anchor="ctr"/>
          <a:lstStyle/>
          <a:p>
            <a:pPr marL="0" indent="0">
              <a:buNone/>
            </a:pPr>
            <a:r>
              <a:rPr lang="en-US" sz="1600" dirty="0">
                <a:solidFill>
                  <a:srgbClr val="4A5563"/>
                </a:solidFill>
              </a:rPr>
              <a:t>Going live is one command (npm run deploy) once the review is done.</a:t>
            </a:r>
            <a:endParaRPr lang="en-US" sz="1600" dirty="0"/>
          </a:p>
        </p:txBody>
      </p:sp>
      <p:sp>
        <p:nvSpPr>
          <p:cNvPr id="25"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ag"/>
          <p:cNvSpPr/>
          <p:nvPr/>
        </p:nvSpPr>
        <p:spPr>
          <a:xfrm>
            <a:off x="548640" y="329184"/>
            <a:ext cx="1561795" cy="274320"/>
          </a:xfrm>
          <a:prstGeom prst="roundRect">
            <a:avLst>
              <a:gd name="adj" fmla="val 50000"/>
            </a:avLst>
          </a:prstGeom>
          <a:solidFill>
            <a:srgbClr val="FCE4D8"/>
          </a:solidFill>
          <a:ln/>
        </p:spPr>
        <p:txBody>
          <a:bodyPr wrap="square" lIns="0" tIns="0" rIns="0" bIns="0" rtlCol="0" anchor="ctr"/>
          <a:lstStyle/>
          <a:p>
            <a:pPr marL="0" indent="0" algn="ctr">
              <a:buNone/>
            </a:pPr>
            <a:r>
              <a:rPr lang="en-US" sz="1050" b="1" kern="0" spc="150" dirty="0">
                <a:solidFill>
                  <a:srgbClr val="A2421A"/>
                </a:solidFill>
              </a:rPr>
              <a:t>YOUR QUESTIONS</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How the chart turns numbers into a picture</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A CSV is just text. Excel shows it as a grid; our chart library draws it as candles.</a:t>
            </a:r>
            <a:endParaRPr lang="en-US" sz="1800" dirty="0"/>
          </a:p>
        </p:txBody>
      </p:sp>
      <p:sp>
        <p:nvSpPr>
          <p:cNvPr id="5" name="Shape 3"/>
          <p:cNvSpPr/>
          <p:nvPr/>
        </p:nvSpPr>
        <p:spPr>
          <a:xfrm>
            <a:off x="548640" y="1965960"/>
            <a:ext cx="3520440" cy="3154680"/>
          </a:xfrm>
          <a:prstGeom prst="roundRect">
            <a:avLst>
              <a:gd name="adj" fmla="val 2899"/>
            </a:avLst>
          </a:prstGeom>
          <a:solidFill>
            <a:srgbClr val="FFFFFF"/>
          </a:solidFill>
          <a:ln w="12700">
            <a:solidFill>
              <a:srgbClr val="E5E7EB"/>
            </a:solidFill>
            <a:prstDash val="solid"/>
          </a:ln>
        </p:spPr>
        <p:txBody>
          <a:bodyPr/>
          <a:lstStyle/>
          <a:p>
            <a:endParaRPr lang="en-US"/>
          </a:p>
        </p:txBody>
      </p:sp>
      <p:sp>
        <p:nvSpPr>
          <p:cNvPr id="6" name="Text 4"/>
          <p:cNvSpPr/>
          <p:nvPr/>
        </p:nvSpPr>
        <p:spPr>
          <a:xfrm>
            <a:off x="694944" y="2103120"/>
            <a:ext cx="274320" cy="274320"/>
          </a:xfrm>
          <a:prstGeom prst="ellipse">
            <a:avLst/>
          </a:prstGeom>
          <a:solidFill>
            <a:srgbClr val="A2421A"/>
          </a:solid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txBox="1"/>
          <p:nvPr/>
        </p:nvSpPr>
        <p:spPr>
          <a:xfrm>
            <a:off x="1060704" y="2075688"/>
            <a:ext cx="2880360" cy="329184"/>
          </a:xfrm>
          <a:prstGeom prst="rect">
            <a:avLst/>
          </a:prstGeom>
          <a:noFill/>
          <a:ln/>
        </p:spPr>
        <p:txBody>
          <a:bodyPr wrap="square" lIns="0" tIns="0" rIns="0" bIns="0" rtlCol="0" anchor="ctr"/>
          <a:lstStyle/>
          <a:p>
            <a:pPr marL="0" indent="0">
              <a:buNone/>
            </a:pPr>
            <a:r>
              <a:rPr lang="en-US" sz="1400" b="1" dirty="0">
                <a:solidFill>
                  <a:srgbClr val="16202C"/>
                </a:solidFill>
              </a:rPr>
              <a:t>As text: the CSV file</a:t>
            </a:r>
            <a:endParaRPr lang="en-US" sz="1400" dirty="0"/>
          </a:p>
        </p:txBody>
      </p:sp>
      <p:sp>
        <p:nvSpPr>
          <p:cNvPr id="8" name="Shape 6"/>
          <p:cNvSpPr/>
          <p:nvPr/>
        </p:nvSpPr>
        <p:spPr>
          <a:xfrm>
            <a:off x="694944" y="2514600"/>
            <a:ext cx="3227832" cy="1463040"/>
          </a:xfrm>
          <a:prstGeom prst="roundRect">
            <a:avLst>
              <a:gd name="adj" fmla="val 5000"/>
            </a:avLst>
          </a:prstGeom>
          <a:solidFill>
            <a:srgbClr val="1E293B"/>
          </a:solidFill>
          <a:ln/>
        </p:spPr>
        <p:txBody>
          <a:bodyPr/>
          <a:lstStyle/>
          <a:p>
            <a:endParaRPr lang="en-US"/>
          </a:p>
        </p:txBody>
      </p:sp>
      <p:sp>
        <p:nvSpPr>
          <p:cNvPr id="9" name="Text 7"/>
          <p:cNvSpPr txBox="1"/>
          <p:nvPr/>
        </p:nvSpPr>
        <p:spPr>
          <a:xfrm>
            <a:off x="786384" y="2624328"/>
            <a:ext cx="3099816" cy="1316736"/>
          </a:xfrm>
          <a:prstGeom prst="rect">
            <a:avLst/>
          </a:prstGeom>
          <a:noFill/>
          <a:ln/>
        </p:spPr>
        <p:txBody>
          <a:bodyPr wrap="square" lIns="0" tIns="0" rIns="0" bIns="0" rtlCol="0" anchor="t"/>
          <a:lstStyle/>
          <a:p>
            <a:pPr marL="0" indent="0">
              <a:spcAft>
                <a:spcPts val="300"/>
              </a:spcAft>
              <a:buNone/>
            </a:pPr>
            <a:r>
              <a:rPr lang="en-US" sz="1050" dirty="0">
                <a:solidFill>
                  <a:srgbClr val="E2E8F0"/>
                </a:solidFill>
                <a:latin typeface="Consolas" pitchFamily="34" charset="0"/>
                <a:ea typeface="Consolas" pitchFamily="34" charset="-122"/>
                <a:cs typeface="Consolas" pitchFamily="34" charset="-120"/>
              </a:rPr>
              <a:t>date,open,high,low,close,volume</a:t>
            </a:r>
            <a:endParaRPr lang="en-US" sz="1050" dirty="0"/>
          </a:p>
          <a:p>
            <a:pPr marL="0" indent="0">
              <a:spcAft>
                <a:spcPts val="300"/>
              </a:spcAft>
              <a:buNone/>
            </a:pPr>
            <a:r>
              <a:rPr lang="en-US" sz="1050" dirty="0">
                <a:solidFill>
                  <a:srgbClr val="E2E8F0"/>
                </a:solidFill>
                <a:latin typeface="Consolas" pitchFamily="34" charset="0"/>
                <a:ea typeface="Consolas" pitchFamily="34" charset="-122"/>
                <a:cs typeface="Consolas" pitchFamily="34" charset="-120"/>
              </a:rPr>
              <a:t>2026-10-09,3552,3591,3483,3520,1400000</a:t>
            </a:r>
            <a:endParaRPr lang="en-US" sz="1050" dirty="0"/>
          </a:p>
          <a:p>
            <a:pPr marL="0" indent="0">
              <a:spcAft>
                <a:spcPts val="300"/>
              </a:spcAft>
              <a:buNone/>
            </a:pPr>
            <a:r>
              <a:rPr lang="en-US" sz="1050" dirty="0">
                <a:solidFill>
                  <a:srgbClr val="E2E8F0"/>
                </a:solidFill>
                <a:latin typeface="Consolas" pitchFamily="34" charset="0"/>
                <a:ea typeface="Consolas" pitchFamily="34" charset="-122"/>
                <a:cs typeface="Consolas" pitchFamily="34" charset="-120"/>
              </a:rPr>
              <a:t>2026-10-12,3520,3554,3499,3517,537500</a:t>
            </a:r>
            <a:endParaRPr lang="en-US" sz="1050" dirty="0"/>
          </a:p>
          <a:p>
            <a:pPr marL="0" indent="0">
              <a:spcAft>
                <a:spcPts val="300"/>
              </a:spcAft>
              <a:buNone/>
            </a:pPr>
            <a:r>
              <a:rPr lang="en-US" sz="1050" dirty="0">
                <a:solidFill>
                  <a:srgbClr val="E2E8F0"/>
                </a:solidFill>
                <a:latin typeface="Consolas" pitchFamily="34" charset="0"/>
                <a:ea typeface="Consolas" pitchFamily="34" charset="-122"/>
                <a:cs typeface="Consolas" pitchFamily="34" charset="-120"/>
              </a:rPr>
              <a:t>2026-10-13,3517,3605,3494,3567,1200000</a:t>
            </a:r>
            <a:endParaRPr lang="en-US" sz="1050" dirty="0"/>
          </a:p>
          <a:p>
            <a:pPr marL="0" indent="0">
              <a:spcAft>
                <a:spcPts val="300"/>
              </a:spcAft>
              <a:buNone/>
            </a:pPr>
            <a:r>
              <a:rPr lang="en-US" sz="1050" dirty="0">
                <a:solidFill>
                  <a:srgbClr val="E2E8F0"/>
                </a:solidFill>
                <a:latin typeface="Consolas" pitchFamily="34" charset="0"/>
                <a:ea typeface="Consolas" pitchFamily="34" charset="-122"/>
                <a:cs typeface="Consolas" pitchFamily="34" charset="-120"/>
              </a:rPr>
              <a:t>2026-10-14,3567,3598,3541,3586,2200000</a:t>
            </a:r>
            <a:endParaRPr lang="en-US" sz="1050" dirty="0"/>
          </a:p>
        </p:txBody>
      </p:sp>
      <p:sp>
        <p:nvSpPr>
          <p:cNvPr id="10" name="Text 8"/>
          <p:cNvSpPr txBox="1"/>
          <p:nvPr/>
        </p:nvSpPr>
        <p:spPr>
          <a:xfrm>
            <a:off x="694944" y="4123944"/>
            <a:ext cx="3227832" cy="868680"/>
          </a:xfrm>
          <a:prstGeom prst="rect">
            <a:avLst/>
          </a:prstGeom>
          <a:noFill/>
          <a:ln/>
        </p:spPr>
        <p:txBody>
          <a:bodyPr wrap="square" lIns="0" tIns="0" rIns="0" bIns="0" rtlCol="0" anchor="t"/>
          <a:lstStyle/>
          <a:p>
            <a:pPr marL="0" indent="0">
              <a:buNone/>
            </a:pPr>
            <a:r>
              <a:rPr lang="en-US" sz="1300" dirty="0">
                <a:solidFill>
                  <a:srgbClr val="4A5563"/>
                </a:solidFill>
              </a:rPr>
              <a:t>What the file really contains: plain text. No columns, colors or chart; each program decides how to show it.</a:t>
            </a:r>
            <a:endParaRPr lang="en-US" sz="1300" dirty="0"/>
          </a:p>
        </p:txBody>
      </p:sp>
      <p:sp>
        <p:nvSpPr>
          <p:cNvPr id="11" name="Shape 9"/>
          <p:cNvSpPr/>
          <p:nvPr/>
        </p:nvSpPr>
        <p:spPr>
          <a:xfrm>
            <a:off x="4343400" y="1965960"/>
            <a:ext cx="3200400" cy="3154680"/>
          </a:xfrm>
          <a:prstGeom prst="roundRect">
            <a:avLst>
              <a:gd name="adj" fmla="val 2899"/>
            </a:avLst>
          </a:prstGeom>
          <a:solidFill>
            <a:srgbClr val="FFFFFF"/>
          </a:solidFill>
          <a:ln w="12700">
            <a:solidFill>
              <a:srgbClr val="E5E7EB"/>
            </a:solidFill>
            <a:prstDash val="solid"/>
          </a:ln>
        </p:spPr>
        <p:txBody>
          <a:bodyPr/>
          <a:lstStyle/>
          <a:p>
            <a:endParaRPr lang="en-US"/>
          </a:p>
        </p:txBody>
      </p:sp>
      <p:sp>
        <p:nvSpPr>
          <p:cNvPr id="12" name="Text 10"/>
          <p:cNvSpPr/>
          <p:nvPr/>
        </p:nvSpPr>
        <p:spPr>
          <a:xfrm>
            <a:off x="4489704" y="2103120"/>
            <a:ext cx="274320" cy="274320"/>
          </a:xfrm>
          <a:prstGeom prst="ellipse">
            <a:avLst/>
          </a:prstGeom>
          <a:solidFill>
            <a:srgbClr val="A2421A"/>
          </a:solid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1"/>
          <p:cNvSpPr txBox="1"/>
          <p:nvPr/>
        </p:nvSpPr>
        <p:spPr>
          <a:xfrm>
            <a:off x="4855464" y="2075688"/>
            <a:ext cx="2560320" cy="329184"/>
          </a:xfrm>
          <a:prstGeom prst="rect">
            <a:avLst/>
          </a:prstGeom>
          <a:noFill/>
          <a:ln/>
        </p:spPr>
        <p:txBody>
          <a:bodyPr wrap="square" lIns="0" tIns="0" rIns="0" bIns="0" rtlCol="0" anchor="ctr"/>
          <a:lstStyle/>
          <a:p>
            <a:pPr marL="0" indent="0">
              <a:buNone/>
            </a:pPr>
            <a:r>
              <a:rPr lang="en-US" sz="1400" b="1" dirty="0">
                <a:solidFill>
                  <a:srgbClr val="16202C"/>
                </a:solidFill>
              </a:rPr>
              <a:t>As a grid: what Excel shows</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489704" y="2551176"/>
          <a:ext cx="2907792" cy="1371600"/>
        </p:xfrm>
        <a:graphic>
          <a:graphicData uri="http://schemas.openxmlformats.org/drawingml/2006/table">
            <a:tbl>
              <a:tblPr/>
              <a:tblGrid>
                <a:gridCol w="566928">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75488">
                  <a:extLst>
                    <a:ext uri="{9D8B030D-6E8A-4147-A177-3AD203B41FA5}">
                      <a16:colId xmlns:a16="http://schemas.microsoft.com/office/drawing/2014/main" val="20004"/>
                    </a:ext>
                  </a:extLst>
                </a:gridCol>
                <a:gridCol w="493776">
                  <a:extLst>
                    <a:ext uri="{9D8B030D-6E8A-4147-A177-3AD203B41FA5}">
                      <a16:colId xmlns:a16="http://schemas.microsoft.com/office/drawing/2014/main" val="20005"/>
                    </a:ext>
                  </a:extLst>
                </a:gridCol>
              </a:tblGrid>
              <a:tr h="274320">
                <a:tc>
                  <a:txBody>
                    <a:bodyPr/>
                    <a:lstStyle/>
                    <a:p>
                      <a:pPr marL="0" indent="0">
                        <a:buNone/>
                      </a:pPr>
                      <a:r>
                        <a:rPr lang="en-US" sz="1200" b="1" dirty="0">
                          <a:solidFill>
                            <a:srgbClr val="4A5563"/>
                          </a:solidFill>
                        </a:rPr>
                        <a:t>Date</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Open</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High</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Low</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Close</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00" b="1" dirty="0">
                          <a:solidFill>
                            <a:srgbClr val="4A5563"/>
                          </a:solidFill>
                        </a:rPr>
                        <a:t>Vol.</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extLst>
                  <a:ext uri="{0D108BD9-81ED-4DB2-BD59-A6C34878D82A}">
                    <a16:rowId xmlns:a16="http://schemas.microsoft.com/office/drawing/2014/main" val="10000"/>
                  </a:ext>
                </a:extLst>
              </a:tr>
              <a:tr h="274320">
                <a:tc>
                  <a:txBody>
                    <a:bodyPr/>
                    <a:lstStyle/>
                    <a:p>
                      <a:pPr marL="0" indent="0" algn="l">
                        <a:buNone/>
                      </a:pPr>
                      <a:r>
                        <a:rPr lang="en-US" sz="1200" dirty="0">
                          <a:solidFill>
                            <a:srgbClr val="16202C"/>
                          </a:solidFill>
                        </a:rPr>
                        <a:t>9 Oct</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3,552</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3,591</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3,483</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D03B3B"/>
                          </a:solidFill>
                        </a:rPr>
                        <a:t>3,520</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1.4M</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l">
                        <a:buNone/>
                      </a:pPr>
                      <a:r>
                        <a:rPr lang="en-US" sz="1200" dirty="0">
                          <a:solidFill>
                            <a:srgbClr val="16202C"/>
                          </a:solidFill>
                        </a:rPr>
                        <a:t>12 Oct</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3,520</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3,554</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3,499</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D03B3B"/>
                          </a:solidFill>
                        </a:rPr>
                        <a:t>3,517</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538K</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1200" dirty="0">
                          <a:solidFill>
                            <a:srgbClr val="16202C"/>
                          </a:solidFill>
                        </a:rPr>
                        <a:t>13 Oct</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3,517</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3,605</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3,494</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006300"/>
                          </a:solidFill>
                        </a:rPr>
                        <a:t>3,567</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1.2M</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1200" dirty="0">
                          <a:solidFill>
                            <a:srgbClr val="16202C"/>
                          </a:solidFill>
                        </a:rPr>
                        <a:t>14 Oct</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3,567</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3,598</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3,541</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006300"/>
                          </a:solidFill>
                        </a:rPr>
                        <a:t>3,586</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r">
                        <a:buNone/>
                      </a:pPr>
                      <a:r>
                        <a:rPr lang="en-US" sz="1200" dirty="0">
                          <a:solidFill>
                            <a:srgbClr val="16202C"/>
                          </a:solidFill>
                        </a:rPr>
                        <a:t>2.2M</a:t>
                      </a:r>
                      <a:endParaRPr lang="en-US" sz="1200" dirty="0"/>
                    </a:p>
                  </a:txBody>
                  <a:tcPr marL="45720" marR="45720" marT="9144" marB="914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Text 12"/>
          <p:cNvSpPr txBox="1"/>
          <p:nvPr/>
        </p:nvSpPr>
        <p:spPr>
          <a:xfrm>
            <a:off x="4489704" y="4123944"/>
            <a:ext cx="2907792" cy="868680"/>
          </a:xfrm>
          <a:prstGeom prst="rect">
            <a:avLst/>
          </a:prstGeom>
          <a:noFill/>
          <a:ln/>
        </p:spPr>
        <p:txBody>
          <a:bodyPr wrap="square" lIns="0" tIns="0" rIns="0" bIns="0" rtlCol="0" anchor="t"/>
          <a:lstStyle/>
          <a:p>
            <a:pPr marL="0" indent="0">
              <a:buNone/>
            </a:pPr>
            <a:r>
              <a:rPr lang="en-US" sz="1300" dirty="0">
                <a:solidFill>
                  <a:srgbClr val="4A5563"/>
                </a:solidFill>
              </a:rPr>
              <a:t>The same text shown as rows and columns. In the app, the stock panel’s table button shows exactly this view.</a:t>
            </a:r>
            <a:endParaRPr lang="en-US" sz="1300" dirty="0"/>
          </a:p>
        </p:txBody>
      </p:sp>
      <p:sp>
        <p:nvSpPr>
          <p:cNvPr id="16" name="Shape 13"/>
          <p:cNvSpPr/>
          <p:nvPr/>
        </p:nvSpPr>
        <p:spPr>
          <a:xfrm>
            <a:off x="7818120" y="1965960"/>
            <a:ext cx="3824935" cy="3154680"/>
          </a:xfrm>
          <a:prstGeom prst="roundRect">
            <a:avLst>
              <a:gd name="adj" fmla="val 2899"/>
            </a:avLst>
          </a:prstGeom>
          <a:solidFill>
            <a:srgbClr val="FFFFFF"/>
          </a:solidFill>
          <a:ln w="12700">
            <a:solidFill>
              <a:srgbClr val="E5E7EB"/>
            </a:solidFill>
            <a:prstDash val="solid"/>
          </a:ln>
        </p:spPr>
        <p:txBody>
          <a:bodyPr/>
          <a:lstStyle/>
          <a:p>
            <a:endParaRPr lang="en-US"/>
          </a:p>
        </p:txBody>
      </p:sp>
      <p:sp>
        <p:nvSpPr>
          <p:cNvPr id="17" name="Text 14"/>
          <p:cNvSpPr/>
          <p:nvPr/>
        </p:nvSpPr>
        <p:spPr>
          <a:xfrm>
            <a:off x="7964424" y="2103120"/>
            <a:ext cx="274320" cy="274320"/>
          </a:xfrm>
          <a:prstGeom prst="ellipse">
            <a:avLst/>
          </a:prstGeom>
          <a:solidFill>
            <a:srgbClr val="A2421A"/>
          </a:solid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5"/>
          <p:cNvSpPr txBox="1"/>
          <p:nvPr/>
        </p:nvSpPr>
        <p:spPr>
          <a:xfrm>
            <a:off x="8330184" y="2075688"/>
            <a:ext cx="3184855" cy="329184"/>
          </a:xfrm>
          <a:prstGeom prst="rect">
            <a:avLst/>
          </a:prstGeom>
          <a:noFill/>
          <a:ln/>
        </p:spPr>
        <p:txBody>
          <a:bodyPr wrap="square" lIns="0" tIns="0" rIns="0" bIns="0" rtlCol="0" anchor="ctr"/>
          <a:lstStyle/>
          <a:p>
            <a:pPr marL="0" indent="0">
              <a:buNone/>
            </a:pPr>
            <a:r>
              <a:rPr lang="en-US" sz="1400" b="1" dirty="0">
                <a:solidFill>
                  <a:srgbClr val="16202C"/>
                </a:solidFill>
              </a:rPr>
              <a:t>As a drawing: our chart</a:t>
            </a:r>
            <a:endParaRPr lang="en-US" sz="1400" dirty="0"/>
          </a:p>
        </p:txBody>
      </p:sp>
      <p:sp>
        <p:nvSpPr>
          <p:cNvPr id="19" name="Shape 16"/>
          <p:cNvSpPr/>
          <p:nvPr/>
        </p:nvSpPr>
        <p:spPr>
          <a:xfrm>
            <a:off x="8183880" y="2821251"/>
            <a:ext cx="2148840" cy="0"/>
          </a:xfrm>
          <a:prstGeom prst="line">
            <a:avLst/>
          </a:prstGeom>
          <a:noFill/>
          <a:ln w="9525">
            <a:solidFill>
              <a:srgbClr val="EEF0F2"/>
            </a:solidFill>
            <a:prstDash val="solid"/>
          </a:ln>
        </p:spPr>
        <p:txBody>
          <a:bodyPr/>
          <a:lstStyle/>
          <a:p>
            <a:endParaRPr lang="en-US"/>
          </a:p>
        </p:txBody>
      </p:sp>
      <p:sp>
        <p:nvSpPr>
          <p:cNvPr id="14" name="Shape 17"/>
          <p:cNvSpPr/>
          <p:nvPr/>
        </p:nvSpPr>
        <p:spPr>
          <a:xfrm>
            <a:off x="8183880" y="3294779"/>
            <a:ext cx="2148840" cy="0"/>
          </a:xfrm>
          <a:prstGeom prst="line">
            <a:avLst/>
          </a:prstGeom>
          <a:noFill/>
          <a:ln w="9525">
            <a:solidFill>
              <a:srgbClr val="EEF0F2"/>
            </a:solidFill>
            <a:prstDash val="solid"/>
          </a:ln>
        </p:spPr>
        <p:txBody>
          <a:bodyPr/>
          <a:lstStyle/>
          <a:p>
            <a:endParaRPr lang="en-US"/>
          </a:p>
        </p:txBody>
      </p:sp>
      <p:sp>
        <p:nvSpPr>
          <p:cNvPr id="21" name="Shape 18"/>
          <p:cNvSpPr/>
          <p:nvPr/>
        </p:nvSpPr>
        <p:spPr>
          <a:xfrm>
            <a:off x="8183880" y="3768308"/>
            <a:ext cx="2148840" cy="0"/>
          </a:xfrm>
          <a:prstGeom prst="line">
            <a:avLst/>
          </a:prstGeom>
          <a:noFill/>
          <a:ln w="9525">
            <a:solidFill>
              <a:srgbClr val="EEF0F2"/>
            </a:solidFill>
            <a:prstDash val="solid"/>
          </a:ln>
        </p:spPr>
        <p:txBody>
          <a:bodyPr/>
          <a:lstStyle/>
          <a:p>
            <a:endParaRPr lang="en-US"/>
          </a:p>
        </p:txBody>
      </p:sp>
      <p:sp>
        <p:nvSpPr>
          <p:cNvPr id="22" name="Text 19"/>
          <p:cNvSpPr txBox="1"/>
          <p:nvPr/>
        </p:nvSpPr>
        <p:spPr>
          <a:xfrm>
            <a:off x="7927848" y="2478024"/>
            <a:ext cx="640080" cy="182880"/>
          </a:xfrm>
          <a:prstGeom prst="rect">
            <a:avLst/>
          </a:prstGeom>
          <a:noFill/>
          <a:ln/>
        </p:spPr>
        <p:txBody>
          <a:bodyPr wrap="square" lIns="0" tIns="0" rIns="0" bIns="0" rtlCol="0" anchor="t"/>
          <a:lstStyle/>
          <a:p>
            <a:pPr marL="0" indent="0">
              <a:buNone/>
            </a:pPr>
            <a:r>
              <a:rPr lang="en-US" sz="1000" dirty="0">
                <a:solidFill>
                  <a:srgbClr val="6B7280"/>
                </a:solidFill>
              </a:rPr>
              <a:t>↑ price</a:t>
            </a:r>
            <a:endParaRPr lang="en-US" sz="1000" dirty="0"/>
          </a:p>
        </p:txBody>
      </p:sp>
      <p:sp>
        <p:nvSpPr>
          <p:cNvPr id="23" name="Shape 20"/>
          <p:cNvSpPr/>
          <p:nvPr/>
        </p:nvSpPr>
        <p:spPr>
          <a:xfrm>
            <a:off x="8526780" y="2906486"/>
            <a:ext cx="0" cy="1022822"/>
          </a:xfrm>
          <a:prstGeom prst="line">
            <a:avLst/>
          </a:prstGeom>
          <a:noFill/>
          <a:ln w="22225">
            <a:solidFill>
              <a:srgbClr val="D03B3B"/>
            </a:solidFill>
            <a:prstDash val="solid"/>
          </a:ln>
        </p:spPr>
        <p:txBody>
          <a:bodyPr/>
          <a:lstStyle/>
          <a:p>
            <a:endParaRPr lang="en-US"/>
          </a:p>
        </p:txBody>
      </p:sp>
      <p:sp>
        <p:nvSpPr>
          <p:cNvPr id="24" name="Shape 21"/>
          <p:cNvSpPr/>
          <p:nvPr/>
        </p:nvSpPr>
        <p:spPr>
          <a:xfrm>
            <a:off x="8398764" y="3275838"/>
            <a:ext cx="256032" cy="303058"/>
          </a:xfrm>
          <a:prstGeom prst="rect">
            <a:avLst/>
          </a:prstGeom>
          <a:solidFill>
            <a:srgbClr val="D03B3B"/>
          </a:solidFill>
          <a:ln/>
        </p:spPr>
        <p:txBody>
          <a:bodyPr/>
          <a:lstStyle/>
          <a:p>
            <a:endParaRPr lang="en-US"/>
          </a:p>
        </p:txBody>
      </p:sp>
      <p:sp>
        <p:nvSpPr>
          <p:cNvPr id="25" name="Shape 22"/>
          <p:cNvSpPr/>
          <p:nvPr/>
        </p:nvSpPr>
        <p:spPr>
          <a:xfrm>
            <a:off x="8398764" y="4241153"/>
            <a:ext cx="256032" cy="221119"/>
          </a:xfrm>
          <a:prstGeom prst="rect">
            <a:avLst/>
          </a:prstGeom>
          <a:solidFill>
            <a:srgbClr val="EFBBBB"/>
          </a:solidFill>
          <a:ln/>
        </p:spPr>
        <p:txBody>
          <a:bodyPr/>
          <a:lstStyle/>
          <a:p>
            <a:endParaRPr lang="en-US"/>
          </a:p>
        </p:txBody>
      </p:sp>
      <p:sp>
        <p:nvSpPr>
          <p:cNvPr id="26" name="Text 23"/>
          <p:cNvSpPr txBox="1"/>
          <p:nvPr/>
        </p:nvSpPr>
        <p:spPr>
          <a:xfrm>
            <a:off x="8252460" y="4489704"/>
            <a:ext cx="548640" cy="182880"/>
          </a:xfrm>
          <a:prstGeom prst="rect">
            <a:avLst/>
          </a:prstGeom>
          <a:noFill/>
          <a:ln/>
        </p:spPr>
        <p:txBody>
          <a:bodyPr wrap="square" lIns="0" tIns="0" rIns="0" bIns="0" rtlCol="0" anchor="t"/>
          <a:lstStyle/>
          <a:p>
            <a:pPr marL="0" indent="0" algn="ctr">
              <a:buNone/>
            </a:pPr>
            <a:r>
              <a:rPr lang="en-US" sz="1000" dirty="0">
                <a:solidFill>
                  <a:srgbClr val="6B7280"/>
                </a:solidFill>
              </a:rPr>
              <a:t>9 Oct</a:t>
            </a:r>
            <a:endParaRPr lang="en-US" sz="1000" dirty="0"/>
          </a:p>
        </p:txBody>
      </p:sp>
      <p:sp>
        <p:nvSpPr>
          <p:cNvPr id="27" name="Shape 24"/>
          <p:cNvSpPr/>
          <p:nvPr/>
        </p:nvSpPr>
        <p:spPr>
          <a:xfrm>
            <a:off x="9029700" y="3256897"/>
            <a:ext cx="0" cy="520881"/>
          </a:xfrm>
          <a:prstGeom prst="line">
            <a:avLst/>
          </a:prstGeom>
          <a:noFill/>
          <a:ln w="22225">
            <a:solidFill>
              <a:srgbClr val="D03B3B"/>
            </a:solidFill>
            <a:prstDash val="solid"/>
          </a:ln>
        </p:spPr>
        <p:txBody>
          <a:bodyPr/>
          <a:lstStyle/>
          <a:p>
            <a:endParaRPr lang="en-US"/>
          </a:p>
        </p:txBody>
      </p:sp>
      <p:sp>
        <p:nvSpPr>
          <p:cNvPr id="28" name="Shape 25"/>
          <p:cNvSpPr/>
          <p:nvPr/>
        </p:nvSpPr>
        <p:spPr>
          <a:xfrm>
            <a:off x="8901684" y="3578896"/>
            <a:ext cx="256032" cy="32004"/>
          </a:xfrm>
          <a:prstGeom prst="rect">
            <a:avLst/>
          </a:prstGeom>
          <a:solidFill>
            <a:srgbClr val="D03B3B"/>
          </a:solidFill>
          <a:ln/>
        </p:spPr>
        <p:txBody>
          <a:bodyPr/>
          <a:lstStyle/>
          <a:p>
            <a:endParaRPr lang="en-US"/>
          </a:p>
        </p:txBody>
      </p:sp>
      <p:sp>
        <p:nvSpPr>
          <p:cNvPr id="29" name="Shape 26"/>
          <p:cNvSpPr/>
          <p:nvPr/>
        </p:nvSpPr>
        <p:spPr>
          <a:xfrm>
            <a:off x="8901684" y="4377378"/>
            <a:ext cx="256032" cy="84894"/>
          </a:xfrm>
          <a:prstGeom prst="rect">
            <a:avLst/>
          </a:prstGeom>
          <a:solidFill>
            <a:srgbClr val="EFBBBB"/>
          </a:solidFill>
          <a:ln/>
        </p:spPr>
        <p:txBody>
          <a:bodyPr/>
          <a:lstStyle/>
          <a:p>
            <a:endParaRPr lang="en-US"/>
          </a:p>
        </p:txBody>
      </p:sp>
      <p:sp>
        <p:nvSpPr>
          <p:cNvPr id="30" name="Text 27"/>
          <p:cNvSpPr txBox="1"/>
          <p:nvPr/>
        </p:nvSpPr>
        <p:spPr>
          <a:xfrm>
            <a:off x="8755380" y="4489704"/>
            <a:ext cx="548640" cy="182880"/>
          </a:xfrm>
          <a:prstGeom prst="rect">
            <a:avLst/>
          </a:prstGeom>
          <a:noFill/>
          <a:ln/>
        </p:spPr>
        <p:txBody>
          <a:bodyPr wrap="square" lIns="0" tIns="0" rIns="0" bIns="0" rtlCol="0" anchor="t"/>
          <a:lstStyle/>
          <a:p>
            <a:pPr marL="0" indent="0" algn="ctr">
              <a:buNone/>
            </a:pPr>
            <a:r>
              <a:rPr lang="en-US" sz="1000" dirty="0">
                <a:solidFill>
                  <a:srgbClr val="6B7280"/>
                </a:solidFill>
              </a:rPr>
              <a:t>12 Oct</a:t>
            </a:r>
            <a:endParaRPr lang="en-US" sz="1000" dirty="0"/>
          </a:p>
        </p:txBody>
      </p:sp>
      <p:sp>
        <p:nvSpPr>
          <p:cNvPr id="31" name="Shape 28"/>
          <p:cNvSpPr/>
          <p:nvPr/>
        </p:nvSpPr>
        <p:spPr>
          <a:xfrm>
            <a:off x="9532620" y="2773898"/>
            <a:ext cx="0" cy="1051233"/>
          </a:xfrm>
          <a:prstGeom prst="line">
            <a:avLst/>
          </a:prstGeom>
          <a:noFill/>
          <a:ln w="22225">
            <a:solidFill>
              <a:srgbClr val="0CA30C"/>
            </a:solidFill>
            <a:prstDash val="solid"/>
          </a:ln>
        </p:spPr>
        <p:txBody>
          <a:bodyPr/>
          <a:lstStyle/>
          <a:p>
            <a:endParaRPr lang="en-US"/>
          </a:p>
        </p:txBody>
      </p:sp>
      <p:sp>
        <p:nvSpPr>
          <p:cNvPr id="32" name="Shape 29"/>
          <p:cNvSpPr/>
          <p:nvPr/>
        </p:nvSpPr>
        <p:spPr>
          <a:xfrm>
            <a:off x="9404604" y="3133779"/>
            <a:ext cx="256032" cy="473529"/>
          </a:xfrm>
          <a:prstGeom prst="rect">
            <a:avLst/>
          </a:prstGeom>
          <a:solidFill>
            <a:srgbClr val="0CA30C"/>
          </a:solidFill>
          <a:ln/>
        </p:spPr>
        <p:txBody>
          <a:bodyPr/>
          <a:lstStyle/>
          <a:p>
            <a:endParaRPr lang="en-US"/>
          </a:p>
        </p:txBody>
      </p:sp>
      <p:sp>
        <p:nvSpPr>
          <p:cNvPr id="33" name="Shape 30"/>
          <p:cNvSpPr/>
          <p:nvPr/>
        </p:nvSpPr>
        <p:spPr>
          <a:xfrm>
            <a:off x="9404604" y="4272742"/>
            <a:ext cx="256032" cy="189530"/>
          </a:xfrm>
          <a:prstGeom prst="rect">
            <a:avLst/>
          </a:prstGeom>
          <a:solidFill>
            <a:srgbClr val="ACDCAC"/>
          </a:solidFill>
          <a:ln/>
        </p:spPr>
        <p:txBody>
          <a:bodyPr/>
          <a:lstStyle/>
          <a:p>
            <a:endParaRPr lang="en-US"/>
          </a:p>
        </p:txBody>
      </p:sp>
      <p:sp>
        <p:nvSpPr>
          <p:cNvPr id="34" name="Text 31"/>
          <p:cNvSpPr txBox="1"/>
          <p:nvPr/>
        </p:nvSpPr>
        <p:spPr>
          <a:xfrm>
            <a:off x="9258300" y="4489704"/>
            <a:ext cx="548640" cy="182880"/>
          </a:xfrm>
          <a:prstGeom prst="rect">
            <a:avLst/>
          </a:prstGeom>
          <a:noFill/>
          <a:ln/>
        </p:spPr>
        <p:txBody>
          <a:bodyPr wrap="square" lIns="0" tIns="0" rIns="0" bIns="0" rtlCol="0" anchor="t"/>
          <a:lstStyle/>
          <a:p>
            <a:pPr marL="0" indent="0" algn="ctr">
              <a:buNone/>
            </a:pPr>
            <a:r>
              <a:rPr lang="en-US" sz="1000" dirty="0">
                <a:solidFill>
                  <a:srgbClr val="6B7280"/>
                </a:solidFill>
              </a:rPr>
              <a:t>13 Oct</a:t>
            </a:r>
            <a:endParaRPr lang="en-US" sz="1000" dirty="0"/>
          </a:p>
        </p:txBody>
      </p:sp>
      <p:sp>
        <p:nvSpPr>
          <p:cNvPr id="35" name="Shape 32"/>
          <p:cNvSpPr/>
          <p:nvPr/>
        </p:nvSpPr>
        <p:spPr>
          <a:xfrm>
            <a:off x="10035540" y="2840192"/>
            <a:ext cx="0" cy="539823"/>
          </a:xfrm>
          <a:prstGeom prst="line">
            <a:avLst/>
          </a:prstGeom>
          <a:noFill/>
          <a:ln w="22225">
            <a:solidFill>
              <a:srgbClr val="0CA30C"/>
            </a:solidFill>
            <a:prstDash val="solid"/>
          </a:ln>
        </p:spPr>
        <p:txBody>
          <a:bodyPr/>
          <a:lstStyle/>
          <a:p>
            <a:endParaRPr lang="en-US"/>
          </a:p>
        </p:txBody>
      </p:sp>
      <p:sp>
        <p:nvSpPr>
          <p:cNvPr id="36" name="Shape 33"/>
          <p:cNvSpPr/>
          <p:nvPr/>
        </p:nvSpPr>
        <p:spPr>
          <a:xfrm>
            <a:off x="9907524" y="2953839"/>
            <a:ext cx="256032" cy="179941"/>
          </a:xfrm>
          <a:prstGeom prst="rect">
            <a:avLst/>
          </a:prstGeom>
          <a:solidFill>
            <a:srgbClr val="0CA30C"/>
          </a:solidFill>
          <a:ln/>
        </p:spPr>
        <p:txBody>
          <a:bodyPr/>
          <a:lstStyle/>
          <a:p>
            <a:endParaRPr lang="en-US"/>
          </a:p>
        </p:txBody>
      </p:sp>
      <p:sp>
        <p:nvSpPr>
          <p:cNvPr id="37" name="Shape 34"/>
          <p:cNvSpPr/>
          <p:nvPr/>
        </p:nvSpPr>
        <p:spPr>
          <a:xfrm>
            <a:off x="9907524" y="4114800"/>
            <a:ext cx="256032" cy="347472"/>
          </a:xfrm>
          <a:prstGeom prst="rect">
            <a:avLst/>
          </a:prstGeom>
          <a:solidFill>
            <a:srgbClr val="ACDCAC"/>
          </a:solidFill>
          <a:ln/>
        </p:spPr>
        <p:txBody>
          <a:bodyPr/>
          <a:lstStyle/>
          <a:p>
            <a:endParaRPr lang="en-US"/>
          </a:p>
        </p:txBody>
      </p:sp>
      <p:sp>
        <p:nvSpPr>
          <p:cNvPr id="38" name="Text 35"/>
          <p:cNvSpPr txBox="1"/>
          <p:nvPr/>
        </p:nvSpPr>
        <p:spPr>
          <a:xfrm>
            <a:off x="9761220" y="4489704"/>
            <a:ext cx="548640" cy="182880"/>
          </a:xfrm>
          <a:prstGeom prst="rect">
            <a:avLst/>
          </a:prstGeom>
          <a:noFill/>
          <a:ln/>
        </p:spPr>
        <p:txBody>
          <a:bodyPr wrap="square" lIns="0" tIns="0" rIns="0" bIns="0" rtlCol="0" anchor="t"/>
          <a:lstStyle/>
          <a:p>
            <a:pPr marL="0" indent="0" algn="ctr">
              <a:buNone/>
            </a:pPr>
            <a:r>
              <a:rPr lang="en-US" sz="1000" dirty="0">
                <a:solidFill>
                  <a:srgbClr val="6B7280"/>
                </a:solidFill>
              </a:rPr>
              <a:t>14 Oct</a:t>
            </a:r>
            <a:endParaRPr lang="en-US" sz="1000" dirty="0"/>
          </a:p>
        </p:txBody>
      </p:sp>
      <p:sp>
        <p:nvSpPr>
          <p:cNvPr id="39" name="Shape 36"/>
          <p:cNvSpPr/>
          <p:nvPr/>
        </p:nvSpPr>
        <p:spPr>
          <a:xfrm>
            <a:off x="8183880" y="4462272"/>
            <a:ext cx="2148840" cy="0"/>
          </a:xfrm>
          <a:prstGeom prst="line">
            <a:avLst/>
          </a:prstGeom>
          <a:noFill/>
          <a:ln w="9525">
            <a:solidFill>
              <a:srgbClr val="CBD5E1"/>
            </a:solidFill>
            <a:prstDash val="solid"/>
          </a:ln>
        </p:spPr>
        <p:txBody>
          <a:bodyPr/>
          <a:lstStyle/>
          <a:p>
            <a:endParaRPr lang="en-US"/>
          </a:p>
        </p:txBody>
      </p:sp>
      <p:sp>
        <p:nvSpPr>
          <p:cNvPr id="40" name="Text 37"/>
          <p:cNvSpPr txBox="1"/>
          <p:nvPr/>
        </p:nvSpPr>
        <p:spPr>
          <a:xfrm>
            <a:off x="7927848" y="4059936"/>
            <a:ext cx="548640" cy="182880"/>
          </a:xfrm>
          <a:prstGeom prst="rect">
            <a:avLst/>
          </a:prstGeom>
          <a:noFill/>
          <a:ln/>
        </p:spPr>
        <p:txBody>
          <a:bodyPr wrap="square" lIns="0" tIns="0" rIns="0" bIns="0" rtlCol="0" anchor="t"/>
          <a:lstStyle/>
          <a:p>
            <a:pPr marL="0" indent="0">
              <a:buNone/>
            </a:pPr>
            <a:r>
              <a:rPr lang="en-US" sz="1000" dirty="0">
                <a:solidFill>
                  <a:srgbClr val="6B7280"/>
                </a:solidFill>
              </a:rPr>
              <a:t>volume</a:t>
            </a:r>
            <a:endParaRPr lang="en-US" sz="1000" dirty="0"/>
          </a:p>
        </p:txBody>
      </p:sp>
      <p:sp>
        <p:nvSpPr>
          <p:cNvPr id="41" name="Text 38"/>
          <p:cNvSpPr txBox="1"/>
          <p:nvPr/>
        </p:nvSpPr>
        <p:spPr>
          <a:xfrm>
            <a:off x="10396728" y="4489704"/>
            <a:ext cx="731520" cy="182880"/>
          </a:xfrm>
          <a:prstGeom prst="rect">
            <a:avLst/>
          </a:prstGeom>
          <a:noFill/>
          <a:ln/>
        </p:spPr>
        <p:txBody>
          <a:bodyPr wrap="square" lIns="0" tIns="0" rIns="0" bIns="0" rtlCol="0" anchor="t"/>
          <a:lstStyle/>
          <a:p>
            <a:pPr marL="0" indent="0">
              <a:buNone/>
            </a:pPr>
            <a:r>
              <a:rPr lang="en-US" sz="1000" dirty="0">
                <a:solidFill>
                  <a:srgbClr val="6B7280"/>
                </a:solidFill>
              </a:rPr>
              <a:t>time →</a:t>
            </a:r>
            <a:endParaRPr lang="en-US" sz="1000" dirty="0"/>
          </a:p>
        </p:txBody>
      </p:sp>
      <p:sp>
        <p:nvSpPr>
          <p:cNvPr id="42" name="Shape 39"/>
          <p:cNvSpPr/>
          <p:nvPr/>
        </p:nvSpPr>
        <p:spPr>
          <a:xfrm flipV="1">
            <a:off x="10053828" y="2730464"/>
            <a:ext cx="397764" cy="109728"/>
          </a:xfrm>
          <a:prstGeom prst="line">
            <a:avLst/>
          </a:prstGeom>
          <a:noFill/>
          <a:ln w="9525">
            <a:solidFill>
              <a:srgbClr val="94A3B8"/>
            </a:solidFill>
            <a:prstDash val="solid"/>
          </a:ln>
        </p:spPr>
        <p:txBody>
          <a:bodyPr/>
          <a:lstStyle/>
          <a:p>
            <a:endParaRPr lang="en-US"/>
          </a:p>
        </p:txBody>
      </p:sp>
      <p:sp>
        <p:nvSpPr>
          <p:cNvPr id="43" name="Text 40"/>
          <p:cNvSpPr txBox="1"/>
          <p:nvPr/>
        </p:nvSpPr>
        <p:spPr>
          <a:xfrm>
            <a:off x="10488168" y="2629880"/>
            <a:ext cx="1081735" cy="201168"/>
          </a:xfrm>
          <a:prstGeom prst="rect">
            <a:avLst/>
          </a:prstGeom>
          <a:noFill/>
          <a:ln/>
        </p:spPr>
        <p:txBody>
          <a:bodyPr wrap="square" lIns="0" tIns="0" rIns="0" bIns="0" rtlCol="0" anchor="ctr"/>
          <a:lstStyle/>
          <a:p>
            <a:pPr marL="0" indent="0">
              <a:buNone/>
            </a:pPr>
            <a:r>
              <a:rPr lang="en-US" sz="1100" dirty="0">
                <a:solidFill>
                  <a:srgbClr val="16202C"/>
                </a:solidFill>
              </a:rPr>
              <a:t>High 3,598</a:t>
            </a:r>
            <a:endParaRPr lang="en-US" sz="1100" dirty="0"/>
          </a:p>
        </p:txBody>
      </p:sp>
      <p:sp>
        <p:nvSpPr>
          <p:cNvPr id="44" name="Shape 41"/>
          <p:cNvSpPr/>
          <p:nvPr/>
        </p:nvSpPr>
        <p:spPr>
          <a:xfrm>
            <a:off x="10172700" y="2953839"/>
            <a:ext cx="278892" cy="36576"/>
          </a:xfrm>
          <a:prstGeom prst="line">
            <a:avLst/>
          </a:prstGeom>
          <a:noFill/>
          <a:ln w="9525">
            <a:solidFill>
              <a:srgbClr val="94A3B8"/>
            </a:solidFill>
            <a:prstDash val="solid"/>
          </a:ln>
        </p:spPr>
        <p:txBody>
          <a:bodyPr/>
          <a:lstStyle/>
          <a:p>
            <a:endParaRPr lang="en-US"/>
          </a:p>
        </p:txBody>
      </p:sp>
      <p:sp>
        <p:nvSpPr>
          <p:cNvPr id="45" name="Text 42"/>
          <p:cNvSpPr txBox="1"/>
          <p:nvPr/>
        </p:nvSpPr>
        <p:spPr>
          <a:xfrm>
            <a:off x="10488168" y="2889831"/>
            <a:ext cx="1081735" cy="201168"/>
          </a:xfrm>
          <a:prstGeom prst="rect">
            <a:avLst/>
          </a:prstGeom>
          <a:noFill/>
          <a:ln/>
        </p:spPr>
        <p:txBody>
          <a:bodyPr wrap="square" lIns="0" tIns="0" rIns="0" bIns="0" rtlCol="0" anchor="ctr"/>
          <a:lstStyle/>
          <a:p>
            <a:pPr marL="0" indent="0">
              <a:buNone/>
            </a:pPr>
            <a:r>
              <a:rPr lang="en-US" sz="1100" dirty="0">
                <a:solidFill>
                  <a:srgbClr val="16202C"/>
                </a:solidFill>
              </a:rPr>
              <a:t>Close 3,586</a:t>
            </a:r>
            <a:endParaRPr lang="en-US" sz="1100" dirty="0"/>
          </a:p>
        </p:txBody>
      </p:sp>
      <p:sp>
        <p:nvSpPr>
          <p:cNvPr id="46" name="Shape 43"/>
          <p:cNvSpPr/>
          <p:nvPr/>
        </p:nvSpPr>
        <p:spPr>
          <a:xfrm>
            <a:off x="10172700" y="3133779"/>
            <a:ext cx="278892" cy="91440"/>
          </a:xfrm>
          <a:prstGeom prst="line">
            <a:avLst/>
          </a:prstGeom>
          <a:noFill/>
          <a:ln w="9525">
            <a:solidFill>
              <a:srgbClr val="94A3B8"/>
            </a:solidFill>
            <a:prstDash val="solid"/>
          </a:ln>
        </p:spPr>
        <p:txBody>
          <a:bodyPr/>
          <a:lstStyle/>
          <a:p>
            <a:endParaRPr lang="en-US"/>
          </a:p>
        </p:txBody>
      </p:sp>
      <p:sp>
        <p:nvSpPr>
          <p:cNvPr id="47" name="Text 44"/>
          <p:cNvSpPr txBox="1"/>
          <p:nvPr/>
        </p:nvSpPr>
        <p:spPr>
          <a:xfrm>
            <a:off x="10488168" y="3124635"/>
            <a:ext cx="1081735" cy="201168"/>
          </a:xfrm>
          <a:prstGeom prst="rect">
            <a:avLst/>
          </a:prstGeom>
          <a:noFill/>
          <a:ln/>
        </p:spPr>
        <p:txBody>
          <a:bodyPr wrap="square" lIns="0" tIns="0" rIns="0" bIns="0" rtlCol="0" anchor="ctr"/>
          <a:lstStyle/>
          <a:p>
            <a:pPr marL="0" indent="0">
              <a:buNone/>
            </a:pPr>
            <a:r>
              <a:rPr lang="en-US" sz="1100" dirty="0">
                <a:solidFill>
                  <a:srgbClr val="16202C"/>
                </a:solidFill>
              </a:rPr>
              <a:t>Open 3,567</a:t>
            </a:r>
            <a:endParaRPr lang="en-US" sz="1100" dirty="0"/>
          </a:p>
        </p:txBody>
      </p:sp>
      <p:sp>
        <p:nvSpPr>
          <p:cNvPr id="48" name="Shape 45"/>
          <p:cNvSpPr/>
          <p:nvPr/>
        </p:nvSpPr>
        <p:spPr>
          <a:xfrm>
            <a:off x="10053828" y="3380014"/>
            <a:ext cx="397764" cy="91440"/>
          </a:xfrm>
          <a:prstGeom prst="line">
            <a:avLst/>
          </a:prstGeom>
          <a:noFill/>
          <a:ln w="9525">
            <a:solidFill>
              <a:srgbClr val="94A3B8"/>
            </a:solidFill>
            <a:prstDash val="solid"/>
          </a:ln>
        </p:spPr>
        <p:txBody>
          <a:bodyPr/>
          <a:lstStyle/>
          <a:p>
            <a:endParaRPr lang="en-US"/>
          </a:p>
        </p:txBody>
      </p:sp>
      <p:sp>
        <p:nvSpPr>
          <p:cNvPr id="49" name="Text 46"/>
          <p:cNvSpPr txBox="1"/>
          <p:nvPr/>
        </p:nvSpPr>
        <p:spPr>
          <a:xfrm>
            <a:off x="10488168" y="3370870"/>
            <a:ext cx="1081735" cy="201168"/>
          </a:xfrm>
          <a:prstGeom prst="rect">
            <a:avLst/>
          </a:prstGeom>
          <a:noFill/>
          <a:ln/>
        </p:spPr>
        <p:txBody>
          <a:bodyPr wrap="square" lIns="0" tIns="0" rIns="0" bIns="0" rtlCol="0" anchor="ctr"/>
          <a:lstStyle/>
          <a:p>
            <a:pPr marL="0" indent="0">
              <a:buNone/>
            </a:pPr>
            <a:r>
              <a:rPr lang="en-US" sz="1100" dirty="0">
                <a:solidFill>
                  <a:srgbClr val="16202C"/>
                </a:solidFill>
              </a:rPr>
              <a:t>Low 3,541</a:t>
            </a:r>
            <a:endParaRPr lang="en-US" sz="1100" dirty="0"/>
          </a:p>
        </p:txBody>
      </p:sp>
      <p:sp>
        <p:nvSpPr>
          <p:cNvPr id="50" name="Text 47"/>
          <p:cNvSpPr txBox="1"/>
          <p:nvPr/>
        </p:nvSpPr>
        <p:spPr>
          <a:xfrm>
            <a:off x="7964424" y="4736592"/>
            <a:ext cx="3532327" cy="384048"/>
          </a:xfrm>
          <a:prstGeom prst="rect">
            <a:avLst/>
          </a:prstGeom>
          <a:noFill/>
          <a:ln/>
        </p:spPr>
        <p:txBody>
          <a:bodyPr wrap="square" lIns="0" tIns="0" rIns="0" bIns="0" rtlCol="0" anchor="t"/>
          <a:lstStyle/>
          <a:p>
            <a:pPr marL="0" indent="0">
              <a:buNone/>
            </a:pPr>
            <a:r>
              <a:rPr lang="en-US" sz="1100" dirty="0">
                <a:solidFill>
                  <a:srgbClr val="4A5563"/>
                </a:solidFill>
              </a:rPr>
              <a:t>Body = open to close; wick = high to low. Green: it closed higher than it opened. Red: lower.</a:t>
            </a:r>
            <a:endParaRPr lang="en-US" sz="1100" dirty="0"/>
          </a:p>
        </p:txBody>
      </p:sp>
      <p:sp>
        <p:nvSpPr>
          <p:cNvPr id="51" name="Shape 48"/>
          <p:cNvSpPr/>
          <p:nvPr/>
        </p:nvSpPr>
        <p:spPr>
          <a:xfrm>
            <a:off x="4114800" y="3378708"/>
            <a:ext cx="182880" cy="329184"/>
          </a:xfrm>
          <a:prstGeom prst="chevron">
            <a:avLst/>
          </a:prstGeom>
          <a:solidFill>
            <a:srgbClr val="CBD5E1"/>
          </a:solidFill>
          <a:ln/>
        </p:spPr>
        <p:txBody>
          <a:bodyPr/>
          <a:lstStyle/>
          <a:p>
            <a:endParaRPr lang="en-US"/>
          </a:p>
        </p:txBody>
      </p:sp>
      <p:sp>
        <p:nvSpPr>
          <p:cNvPr id="52" name="Shape 49"/>
          <p:cNvSpPr/>
          <p:nvPr/>
        </p:nvSpPr>
        <p:spPr>
          <a:xfrm>
            <a:off x="7589520" y="3378708"/>
            <a:ext cx="182880" cy="329184"/>
          </a:xfrm>
          <a:prstGeom prst="chevron">
            <a:avLst/>
          </a:prstGeom>
          <a:solidFill>
            <a:srgbClr val="CBD5E1"/>
          </a:solidFill>
          <a:ln/>
        </p:spPr>
        <p:txBody>
          <a:bodyPr/>
          <a:lstStyle/>
          <a:p>
            <a:endParaRPr lang="en-US"/>
          </a:p>
        </p:txBody>
      </p:sp>
      <p:sp>
        <p:nvSpPr>
          <p:cNvPr id="53" name="Under the hood"/>
          <p:cNvSpPr/>
          <p:nvPr/>
        </p:nvSpPr>
        <p:spPr>
          <a:xfrm>
            <a:off x="548640" y="5248656"/>
            <a:ext cx="11094415" cy="1014984"/>
          </a:xfrm>
          <a:prstGeom prst="roundRect">
            <a:avLst>
              <a:gd name="adj" fmla="val 9009"/>
            </a:avLst>
          </a:prstGeom>
          <a:solidFill>
            <a:srgbClr val="F3F4F6"/>
          </a:solidFill>
          <a:ln/>
        </p:spPr>
        <p:txBody>
          <a:bodyPr/>
          <a:lstStyle/>
          <a:p>
            <a:endParaRPr lang="en-US"/>
          </a:p>
        </p:txBody>
      </p:sp>
      <p:pic>
        <p:nvPicPr>
          <p:cNvPr id="54" name="Image 0" descr="preencoded.png"/>
          <p:cNvPicPr>
            <a:picLocks noChangeAspect="1"/>
          </p:cNvPicPr>
          <p:nvPr/>
        </p:nvPicPr>
        <p:blipFill>
          <a:blip r:embed="rId3"/>
          <a:stretch>
            <a:fillRect/>
          </a:stretch>
        </p:blipFill>
        <p:spPr>
          <a:xfrm>
            <a:off x="804672" y="5422392"/>
            <a:ext cx="219456" cy="219456"/>
          </a:xfrm>
          <a:prstGeom prst="rect">
            <a:avLst/>
          </a:prstGeom>
        </p:spPr>
      </p:pic>
      <p:sp>
        <p:nvSpPr>
          <p:cNvPr id="55" name="Text 51"/>
          <p:cNvSpPr txBox="1"/>
          <p:nvPr/>
        </p:nvSpPr>
        <p:spPr>
          <a:xfrm>
            <a:off x="1115568" y="5385816"/>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56" name="Text 52"/>
          <p:cNvSpPr txBox="1"/>
          <p:nvPr/>
        </p:nvSpPr>
        <p:spPr>
          <a:xfrm>
            <a:off x="804672" y="5751576"/>
            <a:ext cx="3283610" cy="448056"/>
          </a:xfrm>
          <a:prstGeom prst="rect">
            <a:avLst/>
          </a:prstGeom>
          <a:noFill/>
          <a:ln/>
        </p:spPr>
        <p:txBody>
          <a:bodyPr wrap="square" lIns="0" tIns="0" rIns="0" bIns="0" rtlCol="0" anchor="t"/>
          <a:lstStyle/>
          <a:p>
            <a:pPr marL="0" indent="0">
              <a:buNone/>
            </a:pPr>
            <a:r>
              <a:rPr lang="en-US" sz="1400" b="1" dirty="0">
                <a:solidFill>
                  <a:srgbClr val="16202C"/>
                </a:solidFill>
              </a:rPr>
              <a:t>Stored</a:t>
            </a:r>
            <a:r>
              <a:rPr lang="en-US" sz="1400" dirty="0">
                <a:solidFill>
                  <a:srgbClr val="4A5563"/>
                </a:solidFill>
              </a:rPr>
              <a:t>: one DynamoDB record per trading day; the chart stores nothing.</a:t>
            </a:r>
            <a:endParaRPr lang="en-US" sz="1400" dirty="0"/>
          </a:p>
        </p:txBody>
      </p:sp>
      <p:sp>
        <p:nvSpPr>
          <p:cNvPr id="57" name="Text 53"/>
          <p:cNvSpPr txBox="1"/>
          <p:nvPr/>
        </p:nvSpPr>
        <p:spPr>
          <a:xfrm>
            <a:off x="4454042" y="5751576"/>
            <a:ext cx="3283610" cy="448056"/>
          </a:xfrm>
          <a:prstGeom prst="rect">
            <a:avLst/>
          </a:prstGeom>
          <a:noFill/>
          <a:ln/>
        </p:spPr>
        <p:txBody>
          <a:bodyPr wrap="square" lIns="0" tIns="0" rIns="0" bIns="0" rtlCol="0" anchor="t"/>
          <a:lstStyle/>
          <a:p>
            <a:pPr marL="0" indent="0">
              <a:buNone/>
            </a:pPr>
            <a:r>
              <a:rPr lang="en-US" sz="1400" b="1" dirty="0">
                <a:solidFill>
                  <a:srgbClr val="16202C"/>
                </a:solidFill>
              </a:rPr>
              <a:t>Drawn</a:t>
            </a:r>
            <a:r>
              <a:rPr lang="en-US" sz="1400" dirty="0">
                <a:solidFill>
                  <a:srgbClr val="4A5563"/>
                </a:solidFill>
              </a:rPr>
              <a:t>: by TradingView’s open‑source Lightweight Charts, on an HTML canvas.</a:t>
            </a:r>
            <a:endParaRPr lang="en-US" sz="1400" dirty="0"/>
          </a:p>
        </p:txBody>
      </p:sp>
      <p:sp>
        <p:nvSpPr>
          <p:cNvPr id="58" name="Text 54"/>
          <p:cNvSpPr txBox="1"/>
          <p:nvPr/>
        </p:nvSpPr>
        <p:spPr>
          <a:xfrm>
            <a:off x="8103413" y="5751576"/>
            <a:ext cx="3283610" cy="448056"/>
          </a:xfrm>
          <a:prstGeom prst="rect">
            <a:avLst/>
          </a:prstGeom>
          <a:noFill/>
          <a:ln/>
        </p:spPr>
        <p:txBody>
          <a:bodyPr wrap="square" lIns="0" tIns="0" rIns="0" bIns="0" rtlCol="0" anchor="t"/>
          <a:lstStyle/>
          <a:p>
            <a:pPr marL="0" indent="0">
              <a:buNone/>
            </a:pPr>
            <a:r>
              <a:rPr lang="en-US" sz="1400" b="1" dirty="0">
                <a:solidFill>
                  <a:srgbClr val="16202C"/>
                </a:solidFill>
              </a:rPr>
              <a:t>Redrawn</a:t>
            </a:r>
            <a:r>
              <a:rPr lang="en-US" sz="1400" dirty="0">
                <a:solidFill>
                  <a:srgbClr val="4A5563"/>
                </a:solidFill>
              </a:rPr>
              <a:t>: on every zoom or hover; date → left‑right, price → height.</a:t>
            </a:r>
            <a:endParaRPr lang="en-US" sz="1400" dirty="0"/>
          </a:p>
        </p:txBody>
      </p:sp>
      <p:sp>
        <p:nvSpPr>
          <p:cNvPr id="59"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ag"/>
          <p:cNvSpPr/>
          <p:nvPr/>
        </p:nvSpPr>
        <p:spPr>
          <a:xfrm>
            <a:off x="548640" y="329184"/>
            <a:ext cx="1561795" cy="274320"/>
          </a:xfrm>
          <a:prstGeom prst="roundRect">
            <a:avLst>
              <a:gd name="adj" fmla="val 50000"/>
            </a:avLst>
          </a:prstGeom>
          <a:solidFill>
            <a:srgbClr val="FCE4D8"/>
          </a:solidFill>
          <a:ln/>
        </p:spPr>
        <p:txBody>
          <a:bodyPr wrap="square" lIns="0" tIns="0" rIns="0" bIns="0" rtlCol="0" anchor="ctr"/>
          <a:lstStyle/>
          <a:p>
            <a:pPr marL="0" indent="0" algn="ctr">
              <a:buNone/>
            </a:pPr>
            <a:r>
              <a:rPr lang="en-US" sz="1050" b="1" kern="0" spc="150" dirty="0">
                <a:solidFill>
                  <a:srgbClr val="A2421A"/>
                </a:solidFill>
              </a:rPr>
              <a:t>YOUR QUESTIONS</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Open‑weight vs closed‑weight models</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Weights are the billions of numbers a model learned in training. The difference is whether you can download them.</a:t>
            </a:r>
            <a:endParaRPr lang="en-US" sz="1800" dirty="0"/>
          </a:p>
        </p:txBody>
      </p:sp>
      <p:sp>
        <p:nvSpPr>
          <p:cNvPr id="5" name="Shape 3"/>
          <p:cNvSpPr/>
          <p:nvPr/>
        </p:nvSpPr>
        <p:spPr>
          <a:xfrm>
            <a:off x="548640" y="2103120"/>
            <a:ext cx="6995160" cy="914400"/>
          </a:xfrm>
          <a:prstGeom prst="roundRect">
            <a:avLst>
              <a:gd name="adj" fmla="val 10000"/>
            </a:avLst>
          </a:prstGeom>
          <a:solidFill>
            <a:srgbClr val="FFF8F4"/>
          </a:solidFill>
          <a:ln w="12700">
            <a:solidFill>
              <a:srgbClr val="F6D3C2"/>
            </a:solidFill>
            <a:prstDash val="solid"/>
          </a:ln>
        </p:spPr>
        <p:txBody>
          <a:bodyPr/>
          <a:lstStyle/>
          <a:p>
            <a:endParaRPr lang="en-US"/>
          </a:p>
        </p:txBody>
      </p:sp>
      <p:sp>
        <p:nvSpPr>
          <p:cNvPr id="6" name="Shape 4"/>
          <p:cNvSpPr/>
          <p:nvPr/>
        </p:nvSpPr>
        <p:spPr>
          <a:xfrm>
            <a:off x="731520" y="2286000"/>
            <a:ext cx="548640" cy="548640"/>
          </a:xfrm>
          <a:prstGeom prst="ellipse">
            <a:avLst/>
          </a:prstGeom>
          <a:solidFill>
            <a:srgbClr val="FCE4D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57707" y="2412187"/>
            <a:ext cx="296266" cy="296266"/>
          </a:xfrm>
          <a:prstGeom prst="rect">
            <a:avLst/>
          </a:prstGeom>
        </p:spPr>
      </p:pic>
      <p:sp>
        <p:nvSpPr>
          <p:cNvPr id="8" name="Text 5"/>
          <p:cNvSpPr txBox="1"/>
          <p:nvPr/>
        </p:nvSpPr>
        <p:spPr>
          <a:xfrm>
            <a:off x="1444752" y="2212848"/>
            <a:ext cx="3657600" cy="694944"/>
          </a:xfrm>
          <a:prstGeom prst="rect">
            <a:avLst/>
          </a:prstGeom>
          <a:noFill/>
          <a:ln/>
        </p:spPr>
        <p:txBody>
          <a:bodyPr wrap="square" lIns="0" tIns="0" rIns="0" bIns="0" rtlCol="0" anchor="ctr"/>
          <a:lstStyle/>
          <a:p>
            <a:pPr marL="0" indent="0">
              <a:buNone/>
            </a:pPr>
            <a:r>
              <a:rPr lang="en-US" sz="1400" dirty="0">
                <a:solidFill>
                  <a:srgbClr val="4A5563"/>
                </a:solidFill>
              </a:rPr>
              <a:t>A model is a giant file of numbers (“weights”), set during training. Using the model means doing arithmetic with them.</a:t>
            </a:r>
            <a:endParaRPr lang="en-US" sz="1400" dirty="0"/>
          </a:p>
        </p:txBody>
      </p:sp>
      <p:sp>
        <p:nvSpPr>
          <p:cNvPr id="9" name="Text 6"/>
          <p:cNvSpPr txBox="1"/>
          <p:nvPr/>
        </p:nvSpPr>
        <p:spPr>
          <a:xfrm>
            <a:off x="5257800" y="2194560"/>
            <a:ext cx="2148840" cy="731520"/>
          </a:xfrm>
          <a:prstGeom prst="rect">
            <a:avLst/>
          </a:prstGeom>
          <a:noFill/>
          <a:ln/>
        </p:spPr>
        <p:txBody>
          <a:bodyPr wrap="square" lIns="0" tIns="0" rIns="0" bIns="0" rtlCol="0" anchor="ctr"/>
          <a:lstStyle/>
          <a:p>
            <a:pPr marL="0" indent="0" algn="r">
              <a:buNone/>
            </a:pPr>
            <a:r>
              <a:rPr lang="en-US" sz="1800" b="1" dirty="0">
                <a:solidFill>
                  <a:srgbClr val="A2421A"/>
                </a:solidFill>
                <a:latin typeface="Cambria" pitchFamily="34" charset="0"/>
                <a:ea typeface="Cambria" pitchFamily="34" charset="-122"/>
                <a:cs typeface="Cambria" pitchFamily="34" charset="-120"/>
              </a:rPr>
              <a:t>70 billion numbers</a:t>
            </a:r>
            <a:endParaRPr lang="en-US" sz="1800" dirty="0"/>
          </a:p>
          <a:p>
            <a:pPr marL="0" indent="0" algn="r">
              <a:buNone/>
            </a:pPr>
            <a:r>
              <a:rPr lang="en-US" sz="1800" b="1" dirty="0">
                <a:solidFill>
                  <a:srgbClr val="A2421A"/>
                </a:solidFill>
                <a:latin typeface="Cambria" pitchFamily="34" charset="0"/>
                <a:ea typeface="Cambria" pitchFamily="34" charset="-122"/>
                <a:cs typeface="Cambria" pitchFamily="34" charset="-120"/>
              </a:rPr>
              <a:t>≈ 140 GB file</a:t>
            </a:r>
            <a:endParaRPr lang="en-US" sz="1800" dirty="0"/>
          </a:p>
        </p:txBody>
      </p:sp>
      <p:sp>
        <p:nvSpPr>
          <p:cNvPr id="10" name="Shape 7"/>
          <p:cNvSpPr/>
          <p:nvPr/>
        </p:nvSpPr>
        <p:spPr>
          <a:xfrm>
            <a:off x="548640" y="3218688"/>
            <a:ext cx="3360420" cy="3044952"/>
          </a:xfrm>
          <a:prstGeom prst="roundRect">
            <a:avLst>
              <a:gd name="adj" fmla="val 3003"/>
            </a:avLst>
          </a:prstGeom>
          <a:solidFill>
            <a:srgbClr val="FFFFFF"/>
          </a:solidFill>
          <a:ln w="12700">
            <a:solidFill>
              <a:srgbClr val="E5E7EB"/>
            </a:solidFill>
            <a:prstDash val="solid"/>
          </a:ln>
        </p:spPr>
        <p:txBody>
          <a:bodyPr/>
          <a:lstStyle/>
          <a:p>
            <a:endParaRPr lang="en-US"/>
          </a:p>
        </p:txBody>
      </p:sp>
      <p:sp>
        <p:nvSpPr>
          <p:cNvPr id="11" name="Shape 8"/>
          <p:cNvSpPr/>
          <p:nvPr/>
        </p:nvSpPr>
        <p:spPr>
          <a:xfrm>
            <a:off x="731520" y="3401568"/>
            <a:ext cx="475488" cy="475488"/>
          </a:xfrm>
          <a:prstGeom prst="ellipse">
            <a:avLst/>
          </a:prstGeom>
          <a:solidFill>
            <a:srgbClr val="FCE4D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840882" y="3510930"/>
            <a:ext cx="256764" cy="256764"/>
          </a:xfrm>
          <a:prstGeom prst="rect">
            <a:avLst/>
          </a:prstGeom>
        </p:spPr>
      </p:pic>
      <p:sp>
        <p:nvSpPr>
          <p:cNvPr id="13" name="Text 9"/>
          <p:cNvSpPr txBox="1"/>
          <p:nvPr/>
        </p:nvSpPr>
        <p:spPr>
          <a:xfrm>
            <a:off x="1335024" y="3401568"/>
            <a:ext cx="2446020" cy="475488"/>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Closed‑weight</a:t>
            </a:r>
            <a:endParaRPr lang="en-US" sz="2000" dirty="0"/>
          </a:p>
        </p:txBody>
      </p:sp>
      <p:sp>
        <p:nvSpPr>
          <p:cNvPr id="14" name="Text 10"/>
          <p:cNvSpPr txBox="1"/>
          <p:nvPr/>
        </p:nvSpPr>
        <p:spPr>
          <a:xfrm>
            <a:off x="731520" y="3968496"/>
            <a:ext cx="2994660" cy="457200"/>
          </a:xfrm>
          <a:prstGeom prst="rect">
            <a:avLst/>
          </a:prstGeom>
          <a:noFill/>
          <a:ln/>
        </p:spPr>
        <p:txBody>
          <a:bodyPr wrap="square" lIns="0" tIns="0" rIns="0" bIns="0" rtlCol="0" anchor="t"/>
          <a:lstStyle/>
          <a:p>
            <a:pPr marL="0" indent="0">
              <a:buNone/>
            </a:pPr>
            <a:r>
              <a:rPr lang="en-US" sz="1400" i="1" dirty="0">
                <a:solidFill>
                  <a:srgbClr val="16202C"/>
                </a:solidFill>
              </a:rPr>
              <a:t>e.g. Claude, GPT, Gemini</a:t>
            </a:r>
            <a:endParaRPr lang="en-US" sz="1400" dirty="0"/>
          </a:p>
        </p:txBody>
      </p:sp>
      <p:sp>
        <p:nvSpPr>
          <p:cNvPr id="15" name="Text 11"/>
          <p:cNvSpPr txBox="1"/>
          <p:nvPr/>
        </p:nvSpPr>
        <p:spPr>
          <a:xfrm>
            <a:off x="731520" y="4462272"/>
            <a:ext cx="2994660" cy="1709928"/>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4A5563"/>
                </a:solidFill>
              </a:rPr>
              <a:t>Used as a service: send text, get an answer back (API)</a:t>
            </a:r>
            <a:endParaRPr lang="en-US" sz="1400" dirty="0"/>
          </a:p>
          <a:p>
            <a:pPr marL="203200" indent="-203200">
              <a:spcAft>
                <a:spcPts val="600"/>
              </a:spcAft>
              <a:buSzPct val="100000"/>
              <a:buChar char="•"/>
            </a:pPr>
            <a:r>
              <a:rPr lang="en-US" sz="1400" dirty="0">
                <a:solidFill>
                  <a:srgbClr val="4A5563"/>
                </a:solidFill>
              </a:rPr>
              <a:t>The company keeps the weights and runs the hardware</a:t>
            </a:r>
            <a:endParaRPr lang="en-US" sz="1400" dirty="0"/>
          </a:p>
          <a:p>
            <a:pPr marL="203200" indent="-203200">
              <a:spcAft>
                <a:spcPts val="600"/>
              </a:spcAft>
              <a:buSzPct val="100000"/>
              <a:buChar char="•"/>
            </a:pPr>
            <a:r>
              <a:rPr lang="en-US" sz="1400" dirty="0">
                <a:solidFill>
                  <a:srgbClr val="4A5563"/>
                </a:solidFill>
              </a:rPr>
              <a:t>Pay per use; nothing to maintain</a:t>
            </a:r>
            <a:endParaRPr lang="en-US" sz="1400" dirty="0"/>
          </a:p>
          <a:p>
            <a:pPr marL="203200" indent="-203200">
              <a:spcAft>
                <a:spcPts val="600"/>
              </a:spcAft>
              <a:buSzPct val="100000"/>
              <a:buChar char="•"/>
            </a:pPr>
            <a:r>
              <a:rPr lang="en-US" sz="1400" dirty="0">
                <a:solidFill>
                  <a:srgbClr val="4A5563"/>
                </a:solidFill>
              </a:rPr>
              <a:t>Usually the most capable models</a:t>
            </a:r>
            <a:endParaRPr lang="en-US" sz="1400" dirty="0"/>
          </a:p>
        </p:txBody>
      </p:sp>
      <p:sp>
        <p:nvSpPr>
          <p:cNvPr id="16" name="Shape 12"/>
          <p:cNvSpPr/>
          <p:nvPr/>
        </p:nvSpPr>
        <p:spPr>
          <a:xfrm>
            <a:off x="4183380" y="3218688"/>
            <a:ext cx="3360420" cy="3044952"/>
          </a:xfrm>
          <a:prstGeom prst="roundRect">
            <a:avLst>
              <a:gd name="adj" fmla="val 3003"/>
            </a:avLst>
          </a:prstGeom>
          <a:solidFill>
            <a:srgbClr val="FFFFFF"/>
          </a:solidFill>
          <a:ln w="12700">
            <a:solidFill>
              <a:srgbClr val="E5E7EB"/>
            </a:solidFill>
            <a:prstDash val="solid"/>
          </a:ln>
        </p:spPr>
        <p:txBody>
          <a:bodyPr/>
          <a:lstStyle/>
          <a:p>
            <a:endParaRPr lang="en-US"/>
          </a:p>
        </p:txBody>
      </p:sp>
      <p:sp>
        <p:nvSpPr>
          <p:cNvPr id="17" name="Shape 13"/>
          <p:cNvSpPr/>
          <p:nvPr/>
        </p:nvSpPr>
        <p:spPr>
          <a:xfrm>
            <a:off x="4366260" y="3401568"/>
            <a:ext cx="475488" cy="475488"/>
          </a:xfrm>
          <a:prstGeom prst="ellipse">
            <a:avLst/>
          </a:prstGeom>
          <a:solidFill>
            <a:srgbClr val="FCE4D8"/>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4475622" y="3510930"/>
            <a:ext cx="256764" cy="256764"/>
          </a:xfrm>
          <a:prstGeom prst="rect">
            <a:avLst/>
          </a:prstGeom>
        </p:spPr>
      </p:pic>
      <p:sp>
        <p:nvSpPr>
          <p:cNvPr id="19" name="Text 14"/>
          <p:cNvSpPr txBox="1"/>
          <p:nvPr/>
        </p:nvSpPr>
        <p:spPr>
          <a:xfrm>
            <a:off x="4969764" y="3401568"/>
            <a:ext cx="2446020" cy="475488"/>
          </a:xfrm>
          <a:prstGeom prst="rect">
            <a:avLst/>
          </a:prstGeom>
          <a:noFill/>
          <a:ln/>
        </p:spPr>
        <p:txBody>
          <a:bodyPr wrap="square" lIns="0" tIns="0" rIns="0" bIns="0" rtlCol="0" anchor="ctr"/>
          <a:lstStyle/>
          <a:p>
            <a:pPr marL="0" indent="0">
              <a:buNone/>
            </a:pPr>
            <a:r>
              <a:rPr lang="en-US" sz="2000" b="1" dirty="0">
                <a:solidFill>
                  <a:srgbClr val="16202C"/>
                </a:solidFill>
                <a:latin typeface="Cambria" pitchFamily="34" charset="0"/>
                <a:ea typeface="Cambria" pitchFamily="34" charset="-122"/>
                <a:cs typeface="Cambria" pitchFamily="34" charset="-120"/>
              </a:rPr>
              <a:t>Open‑weight</a:t>
            </a:r>
            <a:endParaRPr lang="en-US" sz="2000" dirty="0"/>
          </a:p>
        </p:txBody>
      </p:sp>
      <p:sp>
        <p:nvSpPr>
          <p:cNvPr id="20" name="Text 15"/>
          <p:cNvSpPr txBox="1"/>
          <p:nvPr/>
        </p:nvSpPr>
        <p:spPr>
          <a:xfrm>
            <a:off x="4366260" y="3968496"/>
            <a:ext cx="2994660" cy="457200"/>
          </a:xfrm>
          <a:prstGeom prst="rect">
            <a:avLst/>
          </a:prstGeom>
          <a:noFill/>
          <a:ln/>
        </p:spPr>
        <p:txBody>
          <a:bodyPr wrap="square" lIns="0" tIns="0" rIns="0" bIns="0" rtlCol="0" anchor="t"/>
          <a:lstStyle/>
          <a:p>
            <a:pPr marL="0" indent="0">
              <a:buNone/>
            </a:pPr>
            <a:r>
              <a:rPr lang="en-US" sz="1400" i="1" dirty="0">
                <a:solidFill>
                  <a:srgbClr val="16202C"/>
                </a:solidFill>
              </a:rPr>
              <a:t>e.g. Llama, Qwen, DeepSeek, Mistral, Gemma, gpt‑oss</a:t>
            </a:r>
            <a:endParaRPr lang="en-US" sz="1400" dirty="0"/>
          </a:p>
        </p:txBody>
      </p:sp>
      <p:sp>
        <p:nvSpPr>
          <p:cNvPr id="21" name="Text 16"/>
          <p:cNvSpPr txBox="1"/>
          <p:nvPr/>
        </p:nvSpPr>
        <p:spPr>
          <a:xfrm>
            <a:off x="4366260" y="4462272"/>
            <a:ext cx="2994660" cy="1709928"/>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4A5563"/>
                </a:solidFill>
              </a:rPr>
              <a:t>Download the weights and run them on your own servers or cloud</a:t>
            </a:r>
            <a:endParaRPr lang="en-US" sz="1400" dirty="0"/>
          </a:p>
          <a:p>
            <a:pPr marL="203200" indent="-203200">
              <a:spcAft>
                <a:spcPts val="600"/>
              </a:spcAft>
              <a:buSzPct val="100000"/>
              <a:buChar char="•"/>
            </a:pPr>
            <a:r>
              <a:rPr lang="en-US" sz="1400" dirty="0">
                <a:solidFill>
                  <a:srgbClr val="4A5563"/>
                </a:solidFill>
              </a:rPr>
              <a:t>Can be fine‑tuned on your own data, which stays in‑house</a:t>
            </a:r>
            <a:endParaRPr lang="en-US" sz="1400" dirty="0"/>
          </a:p>
          <a:p>
            <a:pPr marL="203200" indent="-203200">
              <a:spcAft>
                <a:spcPts val="600"/>
              </a:spcAft>
              <a:buSzPct val="100000"/>
              <a:buChar char="•"/>
            </a:pPr>
            <a:r>
              <a:rPr lang="en-US" sz="1400" dirty="0">
                <a:solidFill>
                  <a:srgbClr val="4A5563"/>
                </a:solidFill>
              </a:rPr>
              <a:t>You pay for GPUs and upkeep instead</a:t>
            </a:r>
            <a:endParaRPr lang="en-US" sz="1400" dirty="0"/>
          </a:p>
          <a:p>
            <a:pPr marL="203200" indent="-203200">
              <a:spcAft>
                <a:spcPts val="600"/>
              </a:spcAft>
              <a:buSzPct val="100000"/>
              <a:buChar char="•"/>
            </a:pPr>
            <a:r>
              <a:rPr lang="en-US" sz="1400" dirty="0">
                <a:solidFill>
                  <a:srgbClr val="4A5563"/>
                </a:solidFill>
              </a:rPr>
              <a:t>Each model has its own license</a:t>
            </a:r>
            <a:endParaRPr lang="en-US" sz="1400" dirty="0"/>
          </a:p>
        </p:txBody>
      </p:sp>
      <p:sp>
        <p:nvSpPr>
          <p:cNvPr id="22"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8074152" y="2322576"/>
            <a:ext cx="219456" cy="219456"/>
          </a:xfrm>
          <a:prstGeom prst="rect">
            <a:avLst/>
          </a:prstGeom>
        </p:spPr>
      </p:pic>
      <p:sp>
        <p:nvSpPr>
          <p:cNvPr id="24" name="Text 18"/>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25" name="Text 19"/>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Open‑weight ≠ open source</a:t>
            </a:r>
            <a:r>
              <a:rPr lang="en-US" sz="1400" dirty="0">
                <a:solidFill>
                  <a:srgbClr val="4A5563"/>
                </a:solidFill>
              </a:rPr>
              <a:t>: usually only the weights are published, not the training data or code. A few are fully open, e.g. AI2’s OLMo.</a:t>
            </a:r>
            <a:endParaRPr lang="en-US" sz="1400" dirty="0"/>
          </a:p>
          <a:p>
            <a:pPr marL="0" indent="0">
              <a:spcAft>
                <a:spcPts val="800"/>
              </a:spcAft>
              <a:buNone/>
            </a:pPr>
            <a:r>
              <a:rPr lang="en-US" sz="1400" b="1" dirty="0">
                <a:solidFill>
                  <a:srgbClr val="16202C"/>
                </a:solidFill>
              </a:rPr>
              <a:t>In News Desk</a:t>
            </a:r>
            <a:r>
              <a:rPr lang="en-US" sz="1400" dirty="0">
                <a:solidFill>
                  <a:srgbClr val="4A5563"/>
                </a:solidFill>
              </a:rPr>
              <a:t>: defaults are closed Claude models; any task can switch to an open‑weight model through OpenRouter, e.g. openrouter:deepseek/deepseek-chat.</a:t>
            </a:r>
            <a:endParaRPr lang="en-US" sz="1400" dirty="0"/>
          </a:p>
          <a:p>
            <a:pPr marL="0" indent="0">
              <a:spcAft>
                <a:spcPts val="800"/>
              </a:spcAft>
              <a:buNone/>
            </a:pPr>
            <a:r>
              <a:rPr lang="en-US" sz="1400" b="1" dirty="0">
                <a:solidFill>
                  <a:srgbClr val="16202C"/>
                </a:solidFill>
              </a:rPr>
              <a:t>Self‑hosting</a:t>
            </a:r>
            <a:r>
              <a:rPr lang="en-US" sz="1400" dirty="0">
                <a:solidFill>
                  <a:srgbClr val="4A5563"/>
                </a:solidFill>
              </a:rPr>
              <a:t>: possible on AWS (SageMaker or Bedrock); it swaps per‑use fees for GPU costs and upkeep.</a:t>
            </a:r>
            <a:endParaRPr lang="en-US" sz="1400" dirty="0"/>
          </a:p>
          <a:p>
            <a:pPr marL="0" indent="0">
              <a:spcAft>
                <a:spcPts val="800"/>
              </a:spcAft>
              <a:buNone/>
            </a:pPr>
            <a:r>
              <a:rPr lang="en-US" sz="1400" b="1" dirty="0">
                <a:solidFill>
                  <a:srgbClr val="16202C"/>
                </a:solidFill>
              </a:rPr>
              <a:t>The math</a:t>
            </a:r>
            <a:r>
              <a:rPr lang="en-US" sz="1400" dirty="0">
                <a:solidFill>
                  <a:srgbClr val="4A5563"/>
                </a:solidFill>
              </a:rPr>
              <a:t>: at 16‑bit precision each number takes 2 bytes: 70 billion × 2 bytes ≈ 140 GB.</a:t>
            </a:r>
            <a:endParaRPr lang="en-US" sz="1400" dirty="0"/>
          </a:p>
        </p:txBody>
      </p:sp>
      <p:sp>
        <p:nvSpPr>
          <p:cNvPr id="26"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ag"/>
          <p:cNvSpPr/>
          <p:nvPr/>
        </p:nvSpPr>
        <p:spPr>
          <a:xfrm>
            <a:off x="548640" y="329184"/>
            <a:ext cx="1561795" cy="274320"/>
          </a:xfrm>
          <a:prstGeom prst="roundRect">
            <a:avLst>
              <a:gd name="adj" fmla="val 50000"/>
            </a:avLst>
          </a:prstGeom>
          <a:solidFill>
            <a:srgbClr val="FCE4D8"/>
          </a:solidFill>
          <a:ln/>
        </p:spPr>
        <p:txBody>
          <a:bodyPr wrap="square" lIns="0" tIns="0" rIns="0" bIns="0" rtlCol="0" anchor="ctr"/>
          <a:lstStyle/>
          <a:p>
            <a:pPr marL="0" indent="0" algn="ctr">
              <a:buNone/>
            </a:pPr>
            <a:r>
              <a:rPr lang="en-US" sz="1050" b="1" kern="0" spc="150" dirty="0">
                <a:solidFill>
                  <a:srgbClr val="A2421A"/>
                </a:solidFill>
              </a:rPr>
              <a:t>YOUR QUESTIONS</a:t>
            </a:r>
            <a:endParaRPr lang="en-US" sz="1050" dirty="0"/>
          </a:p>
        </p:txBody>
      </p:sp>
      <p:sp>
        <p:nvSpPr>
          <p:cNvPr id="3" name="Text 0"/>
          <p:cNvSpPr>
            <a:spLocks noGrp="1"/>
          </p:cNvSpPr>
          <p:nvPr>
            <p:ph type="title" idx="100" hasCustomPrompt="1"/>
          </p:nvPr>
        </p:nvSpPr>
        <p:spPr>
          <a:xfrm>
            <a:off x="548640" y="694944"/>
            <a:ext cx="11094415" cy="676656"/>
          </a:xfrm>
          <a:prstGeom prst="rect">
            <a:avLst/>
          </a:prstGeom>
          <a:noFill/>
          <a:ln/>
        </p:spPr>
        <p:txBody>
          <a:bodyPr wrap="square" lIns="0" tIns="0" rIns="0" bIns="0" rtlCol="0" anchor="ctr"/>
          <a:lstStyle/>
          <a:p>
            <a:pPr marL="0" indent="0" algn="l">
              <a:buNone/>
            </a:pPr>
            <a:r>
              <a:rPr lang="en-US" sz="3400" b="1" dirty="0">
                <a:solidFill>
                  <a:srgbClr val="16202C"/>
                </a:solidFill>
              </a:rPr>
              <a:t>Building our own model with open‑source tools</a:t>
            </a:r>
            <a:endParaRPr lang="en-US" sz="3400" dirty="0"/>
          </a:p>
        </p:txBody>
      </p:sp>
      <p:sp>
        <p:nvSpPr>
          <p:cNvPr id="4" name="Text 0"/>
          <p:cNvSpPr>
            <a:spLocks noGrp="1"/>
          </p:cNvSpPr>
          <p:nvPr>
            <p:ph type="body" idx="101" hasCustomPrompt="1"/>
          </p:nvPr>
        </p:nvSpPr>
        <p:spPr>
          <a:xfrm>
            <a:off x="548640" y="1371600"/>
            <a:ext cx="11094415" cy="621792"/>
          </a:xfrm>
          <a:prstGeom prst="rect">
            <a:avLst/>
          </a:prstGeom>
          <a:noFill/>
          <a:ln/>
        </p:spPr>
        <p:txBody>
          <a:bodyPr wrap="square" lIns="0" tIns="0" rIns="0" bIns="0" rtlCol="0" anchor="t"/>
          <a:lstStyle/>
          <a:p>
            <a:pPr marL="0" indent="0">
              <a:buNone/>
            </a:pPr>
            <a:r>
              <a:rPr lang="en-US" sz="1800" dirty="0">
                <a:solidFill>
                  <a:srgbClr val="4A5563"/>
                </a:solidFill>
              </a:rPr>
              <a:t>Nobody starts from scratch: you take an open‑weight model and teach it your task with your own examples, which the app already collects.</a:t>
            </a:r>
            <a:endParaRPr lang="en-US" sz="1800" dirty="0"/>
          </a:p>
        </p:txBody>
      </p:sp>
      <p:sp>
        <p:nvSpPr>
          <p:cNvPr id="5" name="Text 3"/>
          <p:cNvSpPr txBox="1"/>
          <p:nvPr/>
        </p:nvSpPr>
        <p:spPr>
          <a:xfrm>
            <a:off x="548640" y="2103120"/>
            <a:ext cx="3840480" cy="274320"/>
          </a:xfrm>
          <a:prstGeom prst="rect">
            <a:avLst/>
          </a:prstGeom>
          <a:noFill/>
          <a:ln/>
        </p:spPr>
        <p:txBody>
          <a:bodyPr wrap="square" lIns="0" tIns="0" rIns="0" bIns="0" rtlCol="0" anchor="t"/>
          <a:lstStyle/>
          <a:p>
            <a:pPr marL="0" indent="0">
              <a:buNone/>
            </a:pPr>
            <a:r>
              <a:rPr lang="en-US" sz="1200" dirty="0">
                <a:solidFill>
                  <a:srgbClr val="6B7280"/>
                </a:solidFill>
              </a:rPr>
              <a:t>Four options; effort and cost rise to the right →</a:t>
            </a:r>
            <a:endParaRPr lang="en-US" sz="1200" dirty="0"/>
          </a:p>
        </p:txBody>
      </p:sp>
      <p:sp>
        <p:nvSpPr>
          <p:cNvPr id="6" name="Shape 4"/>
          <p:cNvSpPr/>
          <p:nvPr/>
        </p:nvSpPr>
        <p:spPr>
          <a:xfrm>
            <a:off x="548640" y="3172968"/>
            <a:ext cx="1645920" cy="1783080"/>
          </a:xfrm>
          <a:prstGeom prst="roundRect">
            <a:avLst>
              <a:gd name="adj" fmla="val 5556"/>
            </a:avLst>
          </a:prstGeom>
          <a:solidFill>
            <a:srgbClr val="FDEEE6"/>
          </a:solidFill>
          <a:ln/>
        </p:spPr>
        <p:txBody>
          <a:bodyPr/>
          <a:lstStyle/>
          <a:p>
            <a:endParaRPr lang="en-US"/>
          </a:p>
        </p:txBody>
      </p:sp>
      <p:sp>
        <p:nvSpPr>
          <p:cNvPr id="7" name="Text 5"/>
          <p:cNvSpPr txBox="1"/>
          <p:nvPr/>
        </p:nvSpPr>
        <p:spPr>
          <a:xfrm>
            <a:off x="676656" y="3282696"/>
            <a:ext cx="1408176" cy="475488"/>
          </a:xfrm>
          <a:prstGeom prst="rect">
            <a:avLst/>
          </a:prstGeom>
          <a:noFill/>
          <a:ln/>
        </p:spPr>
        <p:txBody>
          <a:bodyPr wrap="square" lIns="0" tIns="0" rIns="0" bIns="0" rtlCol="0" anchor="t"/>
          <a:lstStyle/>
          <a:p>
            <a:pPr marL="0" indent="0">
              <a:buNone/>
            </a:pPr>
            <a:r>
              <a:rPr lang="en-US" sz="1400" b="1" dirty="0">
                <a:solidFill>
                  <a:srgbClr val="A2421A"/>
                </a:solidFill>
              </a:rPr>
              <a:t>1  </a:t>
            </a:r>
            <a:r>
              <a:rPr lang="en-US" sz="1400" b="1" dirty="0">
                <a:solidFill>
                  <a:srgbClr val="16202C"/>
                </a:solidFill>
              </a:rPr>
              <a:t>Examples in the prompt</a:t>
            </a:r>
            <a:endParaRPr lang="en-US" sz="1400" dirty="0"/>
          </a:p>
        </p:txBody>
      </p:sp>
      <p:sp>
        <p:nvSpPr>
          <p:cNvPr id="8" name="Text 6"/>
          <p:cNvSpPr txBox="1"/>
          <p:nvPr/>
        </p:nvSpPr>
        <p:spPr>
          <a:xfrm>
            <a:off x="676656" y="3794760"/>
            <a:ext cx="1408176" cy="777240"/>
          </a:xfrm>
          <a:prstGeom prst="rect">
            <a:avLst/>
          </a:prstGeom>
          <a:noFill/>
          <a:ln/>
        </p:spPr>
        <p:txBody>
          <a:bodyPr wrap="square" lIns="0" tIns="0" rIns="0" bIns="0" rtlCol="0" anchor="t"/>
          <a:lstStyle/>
          <a:p>
            <a:pPr marL="0" indent="0">
              <a:buNone/>
            </a:pPr>
            <a:r>
              <a:rPr lang="en-US" sz="1300" dirty="0">
                <a:solidFill>
                  <a:srgbClr val="16202C"/>
                </a:solidFill>
              </a:rPr>
              <a:t>Today: the AI sees your recent corrections. No training.</a:t>
            </a:r>
            <a:endParaRPr lang="en-US" sz="1300" dirty="0"/>
          </a:p>
        </p:txBody>
      </p:sp>
      <p:sp>
        <p:nvSpPr>
          <p:cNvPr id="9" name="Text 7"/>
          <p:cNvSpPr txBox="1"/>
          <p:nvPr/>
        </p:nvSpPr>
        <p:spPr>
          <a:xfrm>
            <a:off x="676656" y="4553712"/>
            <a:ext cx="1408176" cy="329184"/>
          </a:xfrm>
          <a:prstGeom prst="rect">
            <a:avLst/>
          </a:prstGeom>
          <a:noFill/>
          <a:ln/>
        </p:spPr>
        <p:txBody>
          <a:bodyPr wrap="square" lIns="0" tIns="0" rIns="0" bIns="0" rtlCol="0" anchor="b"/>
          <a:lstStyle/>
          <a:p>
            <a:pPr marL="0" indent="0">
              <a:buNone/>
            </a:pPr>
            <a:r>
              <a:rPr lang="en-US" sz="1100" b="1" dirty="0">
                <a:solidFill>
                  <a:srgbClr val="A2421A"/>
                </a:solidFill>
              </a:rPr>
              <a:t>Cost: ~$0 extra</a:t>
            </a:r>
            <a:endParaRPr lang="en-US" sz="1100" dirty="0"/>
          </a:p>
        </p:txBody>
      </p:sp>
      <p:sp>
        <p:nvSpPr>
          <p:cNvPr id="10" name="Shape 8"/>
          <p:cNvSpPr/>
          <p:nvPr/>
        </p:nvSpPr>
        <p:spPr>
          <a:xfrm>
            <a:off x="2331720" y="2761488"/>
            <a:ext cx="1645920" cy="2194560"/>
          </a:xfrm>
          <a:prstGeom prst="roundRect">
            <a:avLst>
              <a:gd name="adj" fmla="val 5556"/>
            </a:avLst>
          </a:prstGeom>
          <a:solidFill>
            <a:srgbClr val="FBDDCC"/>
          </a:solidFill>
          <a:ln/>
        </p:spPr>
        <p:txBody>
          <a:bodyPr/>
          <a:lstStyle/>
          <a:p>
            <a:endParaRPr lang="en-US"/>
          </a:p>
        </p:txBody>
      </p:sp>
      <p:sp>
        <p:nvSpPr>
          <p:cNvPr id="11" name="Text 9"/>
          <p:cNvSpPr txBox="1"/>
          <p:nvPr/>
        </p:nvSpPr>
        <p:spPr>
          <a:xfrm>
            <a:off x="2459736" y="2871216"/>
            <a:ext cx="1408176" cy="475488"/>
          </a:xfrm>
          <a:prstGeom prst="rect">
            <a:avLst/>
          </a:prstGeom>
          <a:noFill/>
          <a:ln/>
        </p:spPr>
        <p:txBody>
          <a:bodyPr wrap="square" lIns="0" tIns="0" rIns="0" bIns="0" rtlCol="0" anchor="t"/>
          <a:lstStyle/>
          <a:p>
            <a:pPr marL="0" indent="0">
              <a:buNone/>
            </a:pPr>
            <a:r>
              <a:rPr lang="en-US" sz="1400" b="1" dirty="0">
                <a:solidFill>
                  <a:srgbClr val="A2421A"/>
                </a:solidFill>
              </a:rPr>
              <a:t>2  </a:t>
            </a:r>
            <a:r>
              <a:rPr lang="en-US" sz="1400" b="1" dirty="0">
                <a:solidFill>
                  <a:srgbClr val="16202C"/>
                </a:solidFill>
              </a:rPr>
              <a:t>Small classifier</a:t>
            </a:r>
            <a:endParaRPr lang="en-US" sz="1400" dirty="0"/>
          </a:p>
        </p:txBody>
      </p:sp>
      <p:sp>
        <p:nvSpPr>
          <p:cNvPr id="12" name="Text 10"/>
          <p:cNvSpPr txBox="1"/>
          <p:nvPr/>
        </p:nvSpPr>
        <p:spPr>
          <a:xfrm>
            <a:off x="2459736" y="3383280"/>
            <a:ext cx="1408176" cy="1188720"/>
          </a:xfrm>
          <a:prstGeom prst="rect">
            <a:avLst/>
          </a:prstGeom>
          <a:noFill/>
          <a:ln/>
        </p:spPr>
        <p:txBody>
          <a:bodyPr wrap="square" lIns="0" tIns="0" rIns="0" bIns="0" rtlCol="0" anchor="t"/>
          <a:lstStyle/>
          <a:p>
            <a:pPr marL="0" indent="0">
              <a:buNone/>
            </a:pPr>
            <a:r>
              <a:rPr lang="en-US" sz="1300" dirty="0">
                <a:solidFill>
                  <a:srgbClr val="16202C"/>
                </a:solidFill>
              </a:rPr>
              <a:t>Turn articles into numbers and train a simple model on your decisions.</a:t>
            </a:r>
            <a:endParaRPr lang="en-US" sz="1300" dirty="0"/>
          </a:p>
        </p:txBody>
      </p:sp>
      <p:sp>
        <p:nvSpPr>
          <p:cNvPr id="13" name="Text 11"/>
          <p:cNvSpPr txBox="1"/>
          <p:nvPr/>
        </p:nvSpPr>
        <p:spPr>
          <a:xfrm>
            <a:off x="2459736" y="4553712"/>
            <a:ext cx="1408176" cy="329184"/>
          </a:xfrm>
          <a:prstGeom prst="rect">
            <a:avLst/>
          </a:prstGeom>
          <a:noFill/>
          <a:ln/>
        </p:spPr>
        <p:txBody>
          <a:bodyPr wrap="square" lIns="0" tIns="0" rIns="0" bIns="0" rtlCol="0" anchor="b"/>
          <a:lstStyle/>
          <a:p>
            <a:pPr marL="0" indent="0">
              <a:buNone/>
            </a:pPr>
            <a:r>
              <a:rPr lang="en-US" sz="1100" b="1" dirty="0">
                <a:solidFill>
                  <a:srgbClr val="A2421A"/>
                </a:solidFill>
              </a:rPr>
              <a:t>Cost: low</a:t>
            </a:r>
            <a:endParaRPr lang="en-US" sz="1100" dirty="0"/>
          </a:p>
        </p:txBody>
      </p:sp>
      <p:sp>
        <p:nvSpPr>
          <p:cNvPr id="14" name="Shape 12"/>
          <p:cNvSpPr/>
          <p:nvPr/>
        </p:nvSpPr>
        <p:spPr>
          <a:xfrm>
            <a:off x="4114800" y="2350008"/>
            <a:ext cx="1645920" cy="2606040"/>
          </a:xfrm>
          <a:prstGeom prst="roundRect">
            <a:avLst>
              <a:gd name="adj" fmla="val 5556"/>
            </a:avLst>
          </a:prstGeom>
          <a:solidFill>
            <a:srgbClr val="F8CBB4"/>
          </a:solidFill>
          <a:ln/>
        </p:spPr>
        <p:txBody>
          <a:bodyPr/>
          <a:lstStyle/>
          <a:p>
            <a:endParaRPr lang="en-US"/>
          </a:p>
        </p:txBody>
      </p:sp>
      <p:sp>
        <p:nvSpPr>
          <p:cNvPr id="15" name="Text 13"/>
          <p:cNvSpPr txBox="1"/>
          <p:nvPr/>
        </p:nvSpPr>
        <p:spPr>
          <a:xfrm>
            <a:off x="4242816" y="2459736"/>
            <a:ext cx="1408176" cy="475488"/>
          </a:xfrm>
          <a:prstGeom prst="rect">
            <a:avLst/>
          </a:prstGeom>
          <a:noFill/>
          <a:ln/>
        </p:spPr>
        <p:txBody>
          <a:bodyPr wrap="square" lIns="0" tIns="0" rIns="0" bIns="0" rtlCol="0" anchor="t"/>
          <a:lstStyle/>
          <a:p>
            <a:pPr marL="0" indent="0">
              <a:buNone/>
            </a:pPr>
            <a:r>
              <a:rPr lang="en-US" sz="1400" b="1" dirty="0">
                <a:solidFill>
                  <a:srgbClr val="A2421A"/>
                </a:solidFill>
              </a:rPr>
              <a:t>3  </a:t>
            </a:r>
            <a:r>
              <a:rPr lang="en-US" sz="1400" b="1" dirty="0">
                <a:solidFill>
                  <a:srgbClr val="16202C"/>
                </a:solidFill>
              </a:rPr>
              <a:t>Fine‑tune an open model</a:t>
            </a:r>
            <a:endParaRPr lang="en-US" sz="1400" dirty="0"/>
          </a:p>
        </p:txBody>
      </p:sp>
      <p:sp>
        <p:nvSpPr>
          <p:cNvPr id="16" name="Text 14"/>
          <p:cNvSpPr txBox="1"/>
          <p:nvPr/>
        </p:nvSpPr>
        <p:spPr>
          <a:xfrm>
            <a:off x="4242816" y="2971800"/>
            <a:ext cx="1408176" cy="1600200"/>
          </a:xfrm>
          <a:prstGeom prst="rect">
            <a:avLst/>
          </a:prstGeom>
          <a:noFill/>
          <a:ln/>
        </p:spPr>
        <p:txBody>
          <a:bodyPr wrap="square" lIns="0" tIns="0" rIns="0" bIns="0" rtlCol="0" anchor="t"/>
          <a:lstStyle/>
          <a:p>
            <a:pPr marL="0" indent="0">
              <a:buNone/>
            </a:pPr>
            <a:r>
              <a:rPr lang="en-US" sz="1300" dirty="0">
                <a:solidFill>
                  <a:srgbClr val="16202C"/>
                </a:solidFill>
              </a:rPr>
              <a:t>Teach a small Llama or Qwen with LoRA on a rented GPU for a few hours, then host it.</a:t>
            </a:r>
            <a:endParaRPr lang="en-US" sz="1300" dirty="0"/>
          </a:p>
        </p:txBody>
      </p:sp>
      <p:sp>
        <p:nvSpPr>
          <p:cNvPr id="17" name="Text 15"/>
          <p:cNvSpPr txBox="1"/>
          <p:nvPr/>
        </p:nvSpPr>
        <p:spPr>
          <a:xfrm>
            <a:off x="4242816" y="4553712"/>
            <a:ext cx="1408176" cy="329184"/>
          </a:xfrm>
          <a:prstGeom prst="rect">
            <a:avLst/>
          </a:prstGeom>
          <a:noFill/>
          <a:ln/>
        </p:spPr>
        <p:txBody>
          <a:bodyPr wrap="square" lIns="0" tIns="0" rIns="0" bIns="0" rtlCol="0" anchor="b"/>
          <a:lstStyle/>
          <a:p>
            <a:pPr marL="0" indent="0">
              <a:buNone/>
            </a:pPr>
            <a:r>
              <a:rPr lang="en-US" sz="1100" b="1" dirty="0">
                <a:solidFill>
                  <a:srgbClr val="A2421A"/>
                </a:solidFill>
              </a:rPr>
              <a:t>Hosting a GPU: hundreds of $/month</a:t>
            </a:r>
            <a:endParaRPr lang="en-US" sz="1100" dirty="0"/>
          </a:p>
        </p:txBody>
      </p:sp>
      <p:sp>
        <p:nvSpPr>
          <p:cNvPr id="18" name="Shape 16"/>
          <p:cNvSpPr/>
          <p:nvPr/>
        </p:nvSpPr>
        <p:spPr>
          <a:xfrm>
            <a:off x="5897880" y="2212848"/>
            <a:ext cx="1645920" cy="2743200"/>
          </a:xfrm>
          <a:prstGeom prst="roundRect">
            <a:avLst>
              <a:gd name="adj" fmla="val 5556"/>
            </a:avLst>
          </a:prstGeom>
          <a:solidFill>
            <a:srgbClr val="F4B89B"/>
          </a:solidFill>
          <a:ln/>
        </p:spPr>
        <p:txBody>
          <a:bodyPr/>
          <a:lstStyle/>
          <a:p>
            <a:endParaRPr lang="en-US"/>
          </a:p>
        </p:txBody>
      </p:sp>
      <p:sp>
        <p:nvSpPr>
          <p:cNvPr id="19" name="Text 17"/>
          <p:cNvSpPr txBox="1"/>
          <p:nvPr/>
        </p:nvSpPr>
        <p:spPr>
          <a:xfrm>
            <a:off x="6025896" y="2322576"/>
            <a:ext cx="1408176" cy="475488"/>
          </a:xfrm>
          <a:prstGeom prst="rect">
            <a:avLst/>
          </a:prstGeom>
          <a:noFill/>
          <a:ln/>
        </p:spPr>
        <p:txBody>
          <a:bodyPr wrap="square" lIns="0" tIns="0" rIns="0" bIns="0" rtlCol="0" anchor="t"/>
          <a:lstStyle/>
          <a:p>
            <a:pPr marL="0" indent="0">
              <a:buNone/>
            </a:pPr>
            <a:r>
              <a:rPr lang="en-US" sz="1400" b="1" dirty="0">
                <a:solidFill>
                  <a:srgbClr val="A2421A"/>
                </a:solidFill>
              </a:rPr>
              <a:t>4  </a:t>
            </a:r>
            <a:r>
              <a:rPr lang="en-US" sz="1400" b="1" dirty="0">
                <a:solidFill>
                  <a:srgbClr val="16202C"/>
                </a:solidFill>
              </a:rPr>
              <a:t>Train from scratch</a:t>
            </a:r>
            <a:endParaRPr lang="en-US" sz="1400" dirty="0"/>
          </a:p>
        </p:txBody>
      </p:sp>
      <p:sp>
        <p:nvSpPr>
          <p:cNvPr id="20" name="Text 18"/>
          <p:cNvSpPr txBox="1"/>
          <p:nvPr/>
        </p:nvSpPr>
        <p:spPr>
          <a:xfrm>
            <a:off x="6025896" y="2834640"/>
            <a:ext cx="1408176" cy="1737360"/>
          </a:xfrm>
          <a:prstGeom prst="rect">
            <a:avLst/>
          </a:prstGeom>
          <a:noFill/>
          <a:ln/>
        </p:spPr>
        <p:txBody>
          <a:bodyPr wrap="square" lIns="0" tIns="0" rIns="0" bIns="0" rtlCol="0" anchor="t"/>
          <a:lstStyle/>
          <a:p>
            <a:pPr marL="0" indent="0">
              <a:buNone/>
            </a:pPr>
            <a:r>
              <a:rPr lang="en-US" sz="1300" dirty="0">
                <a:solidFill>
                  <a:srgbClr val="16202C"/>
                </a:solidFill>
              </a:rPr>
              <a:t>Trillions of words and millions of dollars. Not sensible for us.</a:t>
            </a:r>
            <a:endParaRPr lang="en-US" sz="1300" dirty="0"/>
          </a:p>
        </p:txBody>
      </p:sp>
      <p:sp>
        <p:nvSpPr>
          <p:cNvPr id="21" name="Text 19"/>
          <p:cNvSpPr txBox="1"/>
          <p:nvPr/>
        </p:nvSpPr>
        <p:spPr>
          <a:xfrm>
            <a:off x="6025896" y="4553712"/>
            <a:ext cx="1408176" cy="329184"/>
          </a:xfrm>
          <a:prstGeom prst="rect">
            <a:avLst/>
          </a:prstGeom>
          <a:noFill/>
          <a:ln/>
        </p:spPr>
        <p:txBody>
          <a:bodyPr wrap="square" lIns="0" tIns="0" rIns="0" bIns="0" rtlCol="0" anchor="b"/>
          <a:lstStyle/>
          <a:p>
            <a:pPr marL="0" indent="0">
              <a:buNone/>
            </a:pPr>
            <a:r>
              <a:rPr lang="en-US" sz="1100" b="1" dirty="0">
                <a:solidFill>
                  <a:srgbClr val="A2421A"/>
                </a:solidFill>
              </a:rPr>
              <a:t>Cost: millions</a:t>
            </a:r>
            <a:endParaRPr lang="en-US" sz="1100" dirty="0"/>
          </a:p>
        </p:txBody>
      </p:sp>
      <p:sp>
        <p:nvSpPr>
          <p:cNvPr id="22" name="Text 20"/>
          <p:cNvSpPr txBox="1"/>
          <p:nvPr/>
        </p:nvSpPr>
        <p:spPr>
          <a:xfrm>
            <a:off x="548640" y="5084064"/>
            <a:ext cx="3657600" cy="237744"/>
          </a:xfrm>
          <a:prstGeom prst="rect">
            <a:avLst/>
          </a:prstGeom>
          <a:noFill/>
          <a:ln/>
        </p:spPr>
        <p:txBody>
          <a:bodyPr wrap="square" lIns="0" tIns="0" rIns="0" bIns="0" rtlCol="0" anchor="t"/>
          <a:lstStyle/>
          <a:p>
            <a:pPr marL="0" indent="0">
              <a:buNone/>
            </a:pPr>
            <a:r>
              <a:rPr lang="en-US" sz="1200" b="1" dirty="0">
                <a:solidFill>
                  <a:srgbClr val="16202C"/>
                </a:solidFill>
              </a:rPr>
              <a:t>How a project would run</a:t>
            </a:r>
            <a:endParaRPr lang="en-US" sz="1200" dirty="0"/>
          </a:p>
        </p:txBody>
      </p:sp>
      <p:sp>
        <p:nvSpPr>
          <p:cNvPr id="23" name="Text 21"/>
          <p:cNvSpPr/>
          <p:nvPr/>
        </p:nvSpPr>
        <p:spPr>
          <a:xfrm>
            <a:off x="548640" y="5413248"/>
            <a:ext cx="1211580" cy="457200"/>
          </a:xfrm>
          <a:prstGeom prst="homePlate">
            <a:avLst/>
          </a:prstGeom>
          <a:solidFill>
            <a:srgbClr val="F9D3BF"/>
          </a:solidFill>
          <a:ln/>
        </p:spPr>
        <p:txBody>
          <a:bodyPr wrap="square" lIns="0" tIns="0" rIns="0" bIns="0" rtlCol="0" anchor="ctr"/>
          <a:lstStyle/>
          <a:p>
            <a:pPr marL="0" indent="0" algn="ctr">
              <a:buNone/>
            </a:pPr>
            <a:r>
              <a:rPr lang="en-US" sz="1100" b="1" dirty="0">
                <a:solidFill>
                  <a:srgbClr val="16202C"/>
                </a:solidFill>
              </a:rPr>
              <a:t>Collect</a:t>
            </a:r>
            <a:endParaRPr lang="en-US" sz="1100" dirty="0"/>
          </a:p>
        </p:txBody>
      </p:sp>
      <p:sp>
        <p:nvSpPr>
          <p:cNvPr id="24" name="Text 22"/>
          <p:cNvSpPr/>
          <p:nvPr/>
        </p:nvSpPr>
        <p:spPr>
          <a:xfrm>
            <a:off x="1705356" y="5413248"/>
            <a:ext cx="1211580" cy="457200"/>
          </a:xfrm>
          <a:prstGeom prst="chevron">
            <a:avLst/>
          </a:prstGeom>
          <a:solidFill>
            <a:srgbClr val="FCE4D8"/>
          </a:solidFill>
          <a:ln/>
        </p:spPr>
        <p:txBody>
          <a:bodyPr wrap="square" lIns="0" tIns="0" rIns="0" bIns="0" rtlCol="0" anchor="ctr"/>
          <a:lstStyle/>
          <a:p>
            <a:pPr marL="0" indent="0" algn="ctr">
              <a:buNone/>
            </a:pPr>
            <a:r>
              <a:rPr lang="en-US" sz="1100" b="1" dirty="0">
                <a:solidFill>
                  <a:srgbClr val="16202C"/>
                </a:solidFill>
              </a:rPr>
              <a:t>Clean &amp; split</a:t>
            </a:r>
            <a:endParaRPr lang="en-US" sz="1100" dirty="0"/>
          </a:p>
        </p:txBody>
      </p:sp>
      <p:sp>
        <p:nvSpPr>
          <p:cNvPr id="25" name="Text 23"/>
          <p:cNvSpPr/>
          <p:nvPr/>
        </p:nvSpPr>
        <p:spPr>
          <a:xfrm>
            <a:off x="2862072" y="5413248"/>
            <a:ext cx="1211580" cy="457200"/>
          </a:xfrm>
          <a:prstGeom prst="chevron">
            <a:avLst/>
          </a:prstGeom>
          <a:solidFill>
            <a:srgbClr val="F9D3BF"/>
          </a:solidFill>
          <a:ln/>
        </p:spPr>
        <p:txBody>
          <a:bodyPr wrap="square" lIns="0" tIns="0" rIns="0" bIns="0" rtlCol="0" anchor="ctr"/>
          <a:lstStyle/>
          <a:p>
            <a:pPr marL="0" indent="0" algn="ctr">
              <a:buNone/>
            </a:pPr>
            <a:r>
              <a:rPr lang="en-US" sz="1100" b="1" dirty="0">
                <a:solidFill>
                  <a:srgbClr val="16202C"/>
                </a:solidFill>
              </a:rPr>
              <a:t>Train</a:t>
            </a:r>
            <a:endParaRPr lang="en-US" sz="1100" dirty="0"/>
          </a:p>
        </p:txBody>
      </p:sp>
      <p:sp>
        <p:nvSpPr>
          <p:cNvPr id="26" name="Text 24"/>
          <p:cNvSpPr/>
          <p:nvPr/>
        </p:nvSpPr>
        <p:spPr>
          <a:xfrm>
            <a:off x="4018788" y="5413248"/>
            <a:ext cx="1211580" cy="457200"/>
          </a:xfrm>
          <a:prstGeom prst="chevron">
            <a:avLst/>
          </a:prstGeom>
          <a:solidFill>
            <a:srgbClr val="FCE4D8"/>
          </a:solidFill>
          <a:ln/>
        </p:spPr>
        <p:txBody>
          <a:bodyPr wrap="square" lIns="0" tIns="0" rIns="0" bIns="0" rtlCol="0" anchor="ctr"/>
          <a:lstStyle/>
          <a:p>
            <a:pPr marL="0" indent="0" algn="ctr">
              <a:buNone/>
            </a:pPr>
            <a:r>
              <a:rPr lang="en-US" sz="1100" b="1" dirty="0">
                <a:solidFill>
                  <a:srgbClr val="16202C"/>
                </a:solidFill>
              </a:rPr>
              <a:t>Test vs. you</a:t>
            </a:r>
            <a:endParaRPr lang="en-US" sz="1100" dirty="0"/>
          </a:p>
        </p:txBody>
      </p:sp>
      <p:sp>
        <p:nvSpPr>
          <p:cNvPr id="27" name="Text 25"/>
          <p:cNvSpPr/>
          <p:nvPr/>
        </p:nvSpPr>
        <p:spPr>
          <a:xfrm>
            <a:off x="5175504" y="5413248"/>
            <a:ext cx="1211580" cy="457200"/>
          </a:xfrm>
          <a:prstGeom prst="chevron">
            <a:avLst/>
          </a:prstGeom>
          <a:solidFill>
            <a:srgbClr val="F9D3BF"/>
          </a:solidFill>
          <a:ln/>
        </p:spPr>
        <p:txBody>
          <a:bodyPr wrap="square" lIns="0" tIns="0" rIns="0" bIns="0" rtlCol="0" anchor="ctr"/>
          <a:lstStyle/>
          <a:p>
            <a:pPr marL="0" indent="0" algn="ctr">
              <a:buNone/>
            </a:pPr>
            <a:r>
              <a:rPr lang="en-US" sz="1100" b="1" dirty="0">
                <a:solidFill>
                  <a:srgbClr val="16202C"/>
                </a:solidFill>
              </a:rPr>
              <a:t>Plug in</a:t>
            </a:r>
            <a:endParaRPr lang="en-US" sz="1100" dirty="0"/>
          </a:p>
        </p:txBody>
      </p:sp>
      <p:sp>
        <p:nvSpPr>
          <p:cNvPr id="28" name="Text 26"/>
          <p:cNvSpPr/>
          <p:nvPr/>
        </p:nvSpPr>
        <p:spPr>
          <a:xfrm>
            <a:off x="6332220" y="5413248"/>
            <a:ext cx="1211580" cy="457200"/>
          </a:xfrm>
          <a:prstGeom prst="chevron">
            <a:avLst/>
          </a:prstGeom>
          <a:solidFill>
            <a:srgbClr val="FCE4D8"/>
          </a:solidFill>
          <a:ln/>
        </p:spPr>
        <p:txBody>
          <a:bodyPr wrap="square" lIns="0" tIns="0" rIns="0" bIns="0" rtlCol="0" anchor="ctr"/>
          <a:lstStyle/>
          <a:p>
            <a:pPr marL="0" indent="0" algn="ctr">
              <a:buNone/>
            </a:pPr>
            <a:r>
              <a:rPr lang="en-US" sz="1100" b="1" dirty="0">
                <a:solidFill>
                  <a:srgbClr val="16202C"/>
                </a:solidFill>
              </a:rPr>
              <a:t>Monitor</a:t>
            </a:r>
            <a:endParaRPr lang="en-US" sz="1100" dirty="0"/>
          </a:p>
        </p:txBody>
      </p:sp>
      <p:sp>
        <p:nvSpPr>
          <p:cNvPr id="29" name="Under the hood"/>
          <p:cNvSpPr/>
          <p:nvPr/>
        </p:nvSpPr>
        <p:spPr>
          <a:xfrm>
            <a:off x="7818120" y="2103120"/>
            <a:ext cx="3824935" cy="4160520"/>
          </a:xfrm>
          <a:prstGeom prst="roundRect">
            <a:avLst>
              <a:gd name="adj" fmla="val 2391"/>
            </a:avLst>
          </a:prstGeom>
          <a:solidFill>
            <a:srgbClr val="F3F4F6"/>
          </a:solidFill>
          <a:ln/>
        </p:spPr>
        <p:txBody>
          <a:bodyPr/>
          <a:lstStyle/>
          <a:p>
            <a:endParaRPr lang="en-US"/>
          </a:p>
        </p:txBody>
      </p:sp>
      <p:pic>
        <p:nvPicPr>
          <p:cNvPr id="30" name="Image 0" descr="preencoded.png"/>
          <p:cNvPicPr>
            <a:picLocks noChangeAspect="1"/>
          </p:cNvPicPr>
          <p:nvPr/>
        </p:nvPicPr>
        <p:blipFill>
          <a:blip r:embed="rId3"/>
          <a:stretch>
            <a:fillRect/>
          </a:stretch>
        </p:blipFill>
        <p:spPr>
          <a:xfrm>
            <a:off x="8074152" y="2322576"/>
            <a:ext cx="219456" cy="219456"/>
          </a:xfrm>
          <a:prstGeom prst="rect">
            <a:avLst/>
          </a:prstGeom>
        </p:spPr>
      </p:pic>
      <p:sp>
        <p:nvSpPr>
          <p:cNvPr id="31" name="Text 28"/>
          <p:cNvSpPr txBox="1"/>
          <p:nvPr/>
        </p:nvSpPr>
        <p:spPr>
          <a:xfrm>
            <a:off x="8385048" y="2286000"/>
            <a:ext cx="2743200" cy="292608"/>
          </a:xfrm>
          <a:prstGeom prst="rect">
            <a:avLst/>
          </a:prstGeom>
          <a:noFill/>
          <a:ln/>
        </p:spPr>
        <p:txBody>
          <a:bodyPr wrap="square" lIns="0" tIns="0" rIns="0" bIns="0" rtlCol="0" anchor="ctr"/>
          <a:lstStyle/>
          <a:p>
            <a:pPr marL="0" indent="0">
              <a:buNone/>
            </a:pPr>
            <a:r>
              <a:rPr lang="en-US" sz="1100" b="1" kern="0" spc="120" dirty="0">
                <a:solidFill>
                  <a:srgbClr val="4B5563"/>
                </a:solidFill>
              </a:rPr>
              <a:t>UNDER THE HOOD</a:t>
            </a:r>
            <a:endParaRPr lang="en-US" sz="1100" dirty="0"/>
          </a:p>
        </p:txBody>
      </p:sp>
      <p:sp>
        <p:nvSpPr>
          <p:cNvPr id="32" name="Text 29"/>
          <p:cNvSpPr txBox="1"/>
          <p:nvPr/>
        </p:nvSpPr>
        <p:spPr>
          <a:xfrm>
            <a:off x="8074152" y="2724912"/>
            <a:ext cx="3312871" cy="3374136"/>
          </a:xfrm>
          <a:prstGeom prst="rect">
            <a:avLst/>
          </a:prstGeom>
          <a:noFill/>
          <a:ln/>
        </p:spPr>
        <p:txBody>
          <a:bodyPr wrap="square" lIns="0" tIns="0" rIns="0" bIns="0" rtlCol="0" anchor="t"/>
          <a:lstStyle/>
          <a:p>
            <a:pPr marL="0" indent="0">
              <a:spcAft>
                <a:spcPts val="800"/>
              </a:spcAft>
              <a:buNone/>
            </a:pPr>
            <a:r>
              <a:rPr lang="en-US" sz="1400" b="1" dirty="0">
                <a:solidFill>
                  <a:srgbClr val="16202C"/>
                </a:solidFill>
              </a:rPr>
              <a:t>Tools</a:t>
            </a:r>
            <a:r>
              <a:rPr lang="en-US" sz="1400" dirty="0">
                <a:solidFill>
                  <a:srgbClr val="4A5563"/>
                </a:solidFill>
              </a:rPr>
              <a:t>: Hugging Face Transformers, PEFT (LoRA) and TRL; Unsloth or Axolotl to fine‑tune faster; scikit‑learn for a classic classifier.</a:t>
            </a:r>
            <a:endParaRPr lang="en-US" sz="1400" dirty="0"/>
          </a:p>
          <a:p>
            <a:pPr marL="0" indent="0">
              <a:spcAft>
                <a:spcPts val="800"/>
              </a:spcAft>
              <a:buNone/>
            </a:pPr>
            <a:r>
              <a:rPr lang="en-US" sz="1400" b="1" dirty="0">
                <a:solidFill>
                  <a:srgbClr val="16202C"/>
                </a:solidFill>
              </a:rPr>
              <a:t>Our data</a:t>
            </a:r>
            <a:r>
              <a:rPr lang="en-US" sz="1400" dirty="0">
                <a:solidFill>
                  <a:srgbClr val="4A5563"/>
                </a:solidFill>
              </a:rPr>
              <a:t>: every Save, Skip and edit is stored with the AI’s suggestion; npm run export:feedback exports it.</a:t>
            </a:r>
            <a:endParaRPr lang="en-US" sz="1400" dirty="0"/>
          </a:p>
          <a:p>
            <a:pPr marL="0" indent="0">
              <a:spcAft>
                <a:spcPts val="800"/>
              </a:spcAft>
              <a:buNone/>
            </a:pPr>
            <a:r>
              <a:rPr lang="en-US" sz="1400" b="1" dirty="0">
                <a:solidFill>
                  <a:srgbClr val="16202C"/>
                </a:solidFill>
              </a:rPr>
              <a:t>Yardstick</a:t>
            </a:r>
            <a:r>
              <a:rPr lang="en-US" sz="1400" dirty="0">
                <a:solidFill>
                  <a:srgbClr val="4A5563"/>
                </a:solidFill>
              </a:rPr>
              <a:t>: eval:tagging scores any model, including a home‑grown one, against your past decisions.</a:t>
            </a:r>
            <a:endParaRPr lang="en-US" sz="1400" dirty="0"/>
          </a:p>
          <a:p>
            <a:pPr marL="0" indent="0">
              <a:spcAft>
                <a:spcPts val="800"/>
              </a:spcAft>
              <a:buNone/>
            </a:pPr>
            <a:r>
              <a:rPr lang="en-US" sz="1400" b="1" dirty="0">
                <a:solidFill>
                  <a:srgbClr val="16202C"/>
                </a:solidFill>
              </a:rPr>
              <a:t>When</a:t>
            </a:r>
            <a:r>
              <a:rPr lang="en-US" sz="1400" dirty="0">
                <a:solidFill>
                  <a:srgbClr val="4A5563"/>
                </a:solidFill>
              </a:rPr>
              <a:t>: once a few hundred to a few thousand articles are reviewed, and a cheaper model with examples is not accurate enough.</a:t>
            </a:r>
            <a:endParaRPr lang="en-US" sz="1400" dirty="0"/>
          </a:p>
        </p:txBody>
      </p:sp>
      <p:sp>
        <p:nvSpPr>
          <p:cNvPr id="33" name="Slide Number Placeholder 0"/>
          <p:cNvSpPr>
            <a:spLocks noGrp="1"/>
          </p:cNvSpPr>
          <p:nvPr>
            <p:ph type="sldNum" sz="quarter" idx="4294967295"/>
          </p:nvPr>
        </p:nvSpPr>
        <p:spPr>
          <a:xfrm>
            <a:off x="11094415" y="6428232"/>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6B7280"/>
                </a:solidFill>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News Desk">
  <a:themeElements>
    <a:clrScheme name="News Desk">
      <a:dk1>
        <a:srgbClr val="16202C"/>
      </a:dk1>
      <a:lt1>
        <a:srgbClr val="FFFFFF"/>
      </a:lt1>
      <a:dk2>
        <a:srgbClr val="4A5563"/>
      </a:dk2>
      <a:lt2>
        <a:srgbClr val="F3F4F6"/>
      </a:lt2>
      <a:accent1>
        <a:srgbClr val="2A78D6"/>
      </a:accent1>
      <a:accent2>
        <a:srgbClr val="6250D6"/>
      </a:accent2>
      <a:accent3>
        <a:srgbClr val="EB6834"/>
      </a:accent3>
      <a:accent4>
        <a:srgbClr val="0CA30C"/>
      </a:accent4>
      <a:accent5>
        <a:srgbClr val="D03B3B"/>
      </a:accent5>
      <a:accent6>
        <a:srgbClr val="FAB219"/>
      </a:accent6>
      <a:hlink>
        <a:srgbClr val="2A78D6"/>
      </a:hlink>
      <a:folHlink>
        <a:srgbClr val="6250D6"/>
      </a:folHlink>
    </a:clrScheme>
    <a:fontScheme name="News De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6881</Words>
  <Application>Microsoft Office PowerPoint</Application>
  <PresentationFormat>Widescreen</PresentationFormat>
  <Paragraphs>568</Paragraphs>
  <Slides>21</Slides>
  <Notes>21</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Consolas</vt:lpstr>
      <vt:lpstr>News Desk</vt:lpstr>
      <vt:lpstr>Prodia News Desk</vt:lpstr>
      <vt:lpstr>What the News Desk does</vt:lpstr>
      <vt:lpstr>A day with the News Desk</vt:lpstr>
      <vt:lpstr>The big picture</vt:lpstr>
      <vt:lpstr>Frontend and backend</vt:lpstr>
      <vt:lpstr>The screen, piece by piece</vt:lpstr>
      <vt:lpstr>How the screen gets its data</vt:lpstr>
      <vt:lpstr>Reviewing news</vt:lpstr>
      <vt:lpstr>Serverless: no servers to look after</vt:lpstr>
      <vt:lpstr>The daily news run</vt:lpstr>
      <vt:lpstr>How the AI tags an article</vt:lpstr>
      <vt:lpstr>Where the data lives</vt:lpstr>
      <vt:lpstr>The chat assistant</vt:lpstr>
      <vt:lpstr>Stock prices and unusual volume</vt:lpstr>
      <vt:lpstr>Choosing AI models</vt:lpstr>
      <vt:lpstr>Security and privacy</vt:lpstr>
      <vt:lpstr>What it costs and what could break</vt:lpstr>
      <vt:lpstr>Where we are and what’s next</vt:lpstr>
      <vt:lpstr>How the chart turns numbers into a picture</vt:lpstr>
      <vt:lpstr>Open‑weight vs closed‑weight models</vt:lpstr>
      <vt:lpstr>Building our own model with open‑source tools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Prodia News Desk: how it works</dc:title>
  <dc:subject>How the News Desk works, frontend and backend, explained for executives</dc:subject>
  <dc:creator>Juan Frederick</dc:creator>
  <cp:lastModifiedBy>Juan Frederick</cp:lastModifiedBy>
  <cp:revision>3</cp:revision>
  <dcterms:created xsi:type="dcterms:W3CDTF">2026-10-15T08:26:25Z</dcterms:created>
  <dcterms:modified xsi:type="dcterms:W3CDTF">2026-10-15T13:54:34Z</dcterms:modified>
</cp:coreProperties>
</file>